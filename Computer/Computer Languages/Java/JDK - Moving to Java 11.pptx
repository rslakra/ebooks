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aleway"/>
      <p:regular r:id="rId43"/>
      <p:bold r:id="rId44"/>
      <p:italic r:id="rId45"/>
      <p:boldItalic r:id="rId46"/>
    </p:embeddedFont>
    <p:embeddedFont>
      <p:font typeface="Roboto"/>
      <p:regular r:id="rId47"/>
      <p:bold r:id="rId48"/>
      <p:italic r:id="rId49"/>
      <p:boldItalic r:id="rId50"/>
    </p:embeddedFont>
    <p:embeddedFont>
      <p:font typeface="Lato"/>
      <p:regular r:id="rId51"/>
      <p:bold r:id="rId52"/>
      <p:italic r:id="rId53"/>
      <p:boldItalic r:id="rId54"/>
    </p:embeddedFont>
    <p:embeddedFont>
      <p:font typeface="Verizon NHG TX"/>
      <p:regular r:id="rId55"/>
      <p:bold r:id="rId56"/>
      <p:italic r:id="rId57"/>
      <p:boldItalic r:id="rId58"/>
    </p:embeddedFont>
    <p:embeddedFont>
      <p:font typeface="Roboto Mono"/>
      <p:regular r:id="rId59"/>
      <p:bold r:id="rId60"/>
      <p:italic r:id="rId61"/>
      <p:boldItalic r:id="rId62"/>
    </p:embeddedFont>
    <p:embeddedFont>
      <p:font typeface="Verizon NHG DS"/>
      <p:regular r:id="rId63"/>
      <p:bold r:id="rId64"/>
      <p:italic r:id="rId65"/>
      <p:boldItalic r:id="rId6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aleway-bold.fntdata"/><Relationship Id="rId43" Type="http://schemas.openxmlformats.org/officeDocument/2006/relationships/font" Target="fonts/Raleway-regular.fntdata"/><Relationship Id="rId46" Type="http://schemas.openxmlformats.org/officeDocument/2006/relationships/font" Target="fonts/Raleway-boldItalic.fntdata"/><Relationship Id="rId45"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fntdata"/><Relationship Id="rId47" Type="http://schemas.openxmlformats.org/officeDocument/2006/relationships/font" Target="fonts/Roboto-regular.fntdata"/><Relationship Id="rId49"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5.xml"/><Relationship Id="rId64" Type="http://schemas.openxmlformats.org/officeDocument/2006/relationships/font" Target="fonts/VerizonNHGDS-bold.fntdata"/><Relationship Id="rId63" Type="http://schemas.openxmlformats.org/officeDocument/2006/relationships/font" Target="fonts/VerizonNHGDS-regular.fntdata"/><Relationship Id="rId22" Type="http://schemas.openxmlformats.org/officeDocument/2006/relationships/slide" Target="slides/slide17.xml"/><Relationship Id="rId66" Type="http://schemas.openxmlformats.org/officeDocument/2006/relationships/font" Target="fonts/VerizonNHGDS-boldItalic.fntdata"/><Relationship Id="rId21" Type="http://schemas.openxmlformats.org/officeDocument/2006/relationships/slide" Target="slides/slide16.xml"/><Relationship Id="rId65" Type="http://schemas.openxmlformats.org/officeDocument/2006/relationships/font" Target="fonts/VerizonNHGDS-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oboto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Lato-regular.fntdata"/><Relationship Id="rId50" Type="http://schemas.openxmlformats.org/officeDocument/2006/relationships/font" Target="fonts/Roboto-boldItalic.fntdata"/><Relationship Id="rId53" Type="http://schemas.openxmlformats.org/officeDocument/2006/relationships/font" Target="fonts/Lato-italic.fntdata"/><Relationship Id="rId52" Type="http://schemas.openxmlformats.org/officeDocument/2006/relationships/font" Target="fonts/Lato-bold.fntdata"/><Relationship Id="rId11" Type="http://schemas.openxmlformats.org/officeDocument/2006/relationships/slide" Target="slides/slide6.xml"/><Relationship Id="rId55" Type="http://schemas.openxmlformats.org/officeDocument/2006/relationships/font" Target="fonts/VerizonNHGTX-regular.fntdata"/><Relationship Id="rId10" Type="http://schemas.openxmlformats.org/officeDocument/2006/relationships/slide" Target="slides/slide5.xml"/><Relationship Id="rId54" Type="http://schemas.openxmlformats.org/officeDocument/2006/relationships/font" Target="fonts/Lato-boldItalic.fntdata"/><Relationship Id="rId13" Type="http://schemas.openxmlformats.org/officeDocument/2006/relationships/slide" Target="slides/slide8.xml"/><Relationship Id="rId57" Type="http://schemas.openxmlformats.org/officeDocument/2006/relationships/font" Target="fonts/VerizonNHGTX-italic.fntdata"/><Relationship Id="rId12" Type="http://schemas.openxmlformats.org/officeDocument/2006/relationships/slide" Target="slides/slide7.xml"/><Relationship Id="rId56" Type="http://schemas.openxmlformats.org/officeDocument/2006/relationships/font" Target="fonts/VerizonNHGTX-bold.fntdata"/><Relationship Id="rId15" Type="http://schemas.openxmlformats.org/officeDocument/2006/relationships/slide" Target="slides/slide10.xml"/><Relationship Id="rId59" Type="http://schemas.openxmlformats.org/officeDocument/2006/relationships/font" Target="fonts/RobotoMono-regular.fntdata"/><Relationship Id="rId14" Type="http://schemas.openxmlformats.org/officeDocument/2006/relationships/slide" Target="slides/slide9.xml"/><Relationship Id="rId58" Type="http://schemas.openxmlformats.org/officeDocument/2006/relationships/font" Target="fonts/VerizonNHGTX-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 Id="rId3" Type="http://schemas.openxmlformats.org/officeDocument/2006/relationships/hyperlink" Target="https://gerrit.comms.corp.yahoo.com/#/q/upgrade+jdk+status:merged"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 Id="rId3" Type="http://schemas.openxmlformats.org/officeDocument/2006/relationships/hyperlink" Target="https://gerrit.comms.corp.yahoo.com/#/q/upgrade+jdk+status:merged"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gerrit.comms.corp.yahoo.com/#/q/owner:+sundarms+status:+merged+jdk11"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c36a39ecc3_1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c36a39ecc3_1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t>Short notes:</a:t>
            </a:r>
            <a:endParaRPr u="sng"/>
          </a:p>
          <a:p>
            <a:pPr indent="-298450" lvl="0" marL="457200" rtl="0" algn="l">
              <a:spcBef>
                <a:spcPts val="0"/>
              </a:spcBef>
              <a:spcAft>
                <a:spcPts val="0"/>
              </a:spcAft>
              <a:buSzPts val="1100"/>
              <a:buChar char="●"/>
            </a:pPr>
            <a:r>
              <a:rPr lang="en"/>
              <a:t>Proof that it’s possible to catalyze positive change in the company</a:t>
            </a:r>
            <a:endParaRPr/>
          </a:p>
          <a:p>
            <a:pPr indent="-298450" lvl="0" marL="457200" rtl="0" algn="l">
              <a:spcBef>
                <a:spcPts val="0"/>
              </a:spcBef>
              <a:spcAft>
                <a:spcPts val="0"/>
              </a:spcAft>
              <a:buSzPts val="1100"/>
              <a:buChar char="●"/>
            </a:pPr>
            <a:r>
              <a:rPr lang="en"/>
              <a:t>Up to us - up to “all of us” to look for opportunities where we can find and join or form groups to help strengthen our developer community.</a:t>
            </a:r>
            <a:endParaRPr/>
          </a:p>
          <a:p>
            <a:pPr indent="-298450" lvl="0" marL="457200" rtl="0" algn="l">
              <a:spcBef>
                <a:spcPts val="0"/>
              </a:spcBef>
              <a:spcAft>
                <a:spcPts val="0"/>
              </a:spcAft>
              <a:buSzPts val="1100"/>
              <a:buChar char="●"/>
            </a:pPr>
            <a:r>
              <a:rPr lang="en"/>
              <a:t>Some ways these groups have shown positive influence:</a:t>
            </a:r>
            <a:endParaRPr/>
          </a:p>
          <a:p>
            <a:pPr indent="-298450" lvl="1" marL="914400" rtl="0" algn="l">
              <a:spcBef>
                <a:spcPts val="0"/>
              </a:spcBef>
              <a:spcAft>
                <a:spcPts val="0"/>
              </a:spcAft>
              <a:buSzPts val="1100"/>
              <a:buChar char="○"/>
            </a:pPr>
            <a:r>
              <a:rPr lang="en"/>
              <a:t>Informing</a:t>
            </a:r>
            <a:endParaRPr/>
          </a:p>
          <a:p>
            <a:pPr indent="-298450" lvl="1" marL="914400" rtl="0" algn="l">
              <a:spcBef>
                <a:spcPts val="0"/>
              </a:spcBef>
              <a:spcAft>
                <a:spcPts val="0"/>
              </a:spcAft>
              <a:buSzPts val="1100"/>
              <a:buChar char="○"/>
            </a:pPr>
            <a:r>
              <a:rPr lang="en"/>
              <a:t>Motivating</a:t>
            </a:r>
            <a:endParaRPr/>
          </a:p>
          <a:p>
            <a:pPr indent="-298450" lvl="1" marL="914400" rtl="0" algn="l">
              <a:spcBef>
                <a:spcPts val="0"/>
              </a:spcBef>
              <a:spcAft>
                <a:spcPts val="0"/>
              </a:spcAft>
              <a:buSzPts val="1100"/>
              <a:buChar char="○"/>
            </a:pPr>
            <a:r>
              <a:rPr lang="en"/>
              <a:t>Inspiring</a:t>
            </a:r>
            <a:endParaRPr/>
          </a:p>
          <a:p>
            <a:pPr indent="-298450" lvl="1" marL="914400" rtl="0" algn="l">
              <a:spcBef>
                <a:spcPts val="0"/>
              </a:spcBef>
              <a:spcAft>
                <a:spcPts val="0"/>
              </a:spcAft>
              <a:buSzPts val="1100"/>
              <a:buChar char="○"/>
            </a:pPr>
            <a:r>
              <a:rPr lang="en"/>
              <a:t>Helping or supporting</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solidFill>
                  <a:schemeClr val="dk1"/>
                </a:solidFill>
              </a:rPr>
              <a:t>--- now on to the Tech Talk 😀</a:t>
            </a:r>
            <a:endParaRPr>
              <a:solidFill>
                <a:schemeClr val="dk1"/>
              </a:solidFill>
            </a:endParaRPr>
          </a:p>
          <a:p>
            <a:pPr indent="0" lvl="0" marL="0" rtl="0" algn="l">
              <a:spcBef>
                <a:spcPts val="0"/>
              </a:spcBef>
              <a:spcAft>
                <a:spcPts val="0"/>
              </a:spcAft>
              <a:buNone/>
            </a:pPr>
            <a:r>
              <a:t/>
            </a:r>
            <a:endParaRPr u="sng"/>
          </a:p>
          <a:p>
            <a:pPr indent="0" lvl="0" marL="0" rtl="0" algn="l">
              <a:spcBef>
                <a:spcPts val="0"/>
              </a:spcBef>
              <a:spcAft>
                <a:spcPts val="0"/>
              </a:spcAft>
              <a:buNone/>
            </a:pPr>
            <a:r>
              <a:rPr lang="en" u="sng"/>
              <a:t>Long version</a:t>
            </a:r>
            <a:endParaRPr u="sng"/>
          </a:p>
          <a:p>
            <a:pPr indent="0" lvl="0" marL="0" rtl="0" algn="l">
              <a:spcBef>
                <a:spcPts val="0"/>
              </a:spcBef>
              <a:spcAft>
                <a:spcPts val="0"/>
              </a:spcAft>
              <a:buNone/>
            </a:pPr>
            <a:r>
              <a:rPr lang="en"/>
              <a:t>Sheridan: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so excited to be a part of this. Not just for the talk we’ll be giving, but because we were inspired and motivated to form this java interest group.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What’s thrilling to me is that the groups, which I’m calling out here - Architecture Guild, and Developer Productivity working group have shown to me and others here an example of making positive change for the organization.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These groups have </a:t>
            </a:r>
            <a:r>
              <a:rPr lang="en"/>
              <a:t>highlighted</a:t>
            </a:r>
            <a:r>
              <a:rPr lang="en"/>
              <a:t> that not only is positive change possible, but is up to us. It is up to all of</a:t>
            </a:r>
            <a:r>
              <a:rPr lang="en"/>
              <a:t> us to find and join communities and to help drive positive change ourselves and to both pay it back and pay it forward.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newly formed Java Interest Group hopes to do this by doing the same things that got us excited about forming the group itself:</a:t>
            </a:r>
            <a:endParaRPr/>
          </a:p>
          <a:p>
            <a:pPr indent="-298450" lvl="0" marL="457200" rtl="0" algn="l">
              <a:spcBef>
                <a:spcPts val="0"/>
              </a:spcBef>
              <a:spcAft>
                <a:spcPts val="0"/>
              </a:spcAft>
              <a:buSzPts val="1100"/>
              <a:buAutoNum type="arabicPeriod"/>
            </a:pPr>
            <a:r>
              <a:rPr lang="en"/>
              <a:t>Informing</a:t>
            </a:r>
            <a:endParaRPr/>
          </a:p>
          <a:p>
            <a:pPr indent="-298450" lvl="0" marL="457200" rtl="0" algn="l">
              <a:spcBef>
                <a:spcPts val="0"/>
              </a:spcBef>
              <a:spcAft>
                <a:spcPts val="0"/>
              </a:spcAft>
              <a:buSzPts val="1100"/>
              <a:buAutoNum type="arabicPeriod"/>
            </a:pPr>
            <a:r>
              <a:rPr lang="en"/>
              <a:t>Motivating</a:t>
            </a:r>
            <a:endParaRPr/>
          </a:p>
          <a:p>
            <a:pPr indent="-298450" lvl="0" marL="457200" rtl="0" algn="l">
              <a:spcBef>
                <a:spcPts val="0"/>
              </a:spcBef>
              <a:spcAft>
                <a:spcPts val="0"/>
              </a:spcAft>
              <a:buSzPts val="1100"/>
              <a:buAutoNum type="arabicPeriod"/>
            </a:pPr>
            <a:r>
              <a:rPr lang="en"/>
              <a:t>Inspiring</a:t>
            </a:r>
            <a:endParaRPr/>
          </a:p>
          <a:p>
            <a:pPr indent="-298450" lvl="0" marL="457200" rtl="0" algn="l">
              <a:spcBef>
                <a:spcPts val="0"/>
              </a:spcBef>
              <a:spcAft>
                <a:spcPts val="0"/>
              </a:spcAft>
              <a:buSzPts val="1100"/>
              <a:buAutoNum type="arabicPeriod"/>
            </a:pPr>
            <a:r>
              <a:rPr lang="en"/>
              <a:t>Helping / supporting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big thanks / callouts to these groups and announcing our Java Interest Group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now on to the Tech Talk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36a39ecc3_1_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36a39ecc3_1_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c36a39ecc3_2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c36a39ecc3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Ask from internal STC meeting regarding "yjava" and its supporting packages. What is the future on premise and aws for Java? Are yjava packages going to be revved for RHEL 7, etc. Do we recommend yjetty or should everyone just use undertow, etc. Are there RPM's for yjava?</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c5d4f2492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c5d4f2492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79f968cda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79f968cda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79f968cdaf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79f968cda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ca199817d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ca199817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ca199817d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ca199817d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ca199817d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ca199817d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79f968cda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79f968cda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c36a39ecc3_1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c36a39ecc3_1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Compiling with 11 for 8 will require adding deps on JavaEE things, which is ok when running on 8 JVMs.</a:t>
            </a:r>
            <a:endParaRPr/>
          </a:p>
          <a:p>
            <a:pPr indent="-298450" lvl="0" marL="457200" rtl="0" algn="l">
              <a:spcBef>
                <a:spcPts val="0"/>
              </a:spcBef>
              <a:spcAft>
                <a:spcPts val="0"/>
              </a:spcAft>
              <a:buSzPts val="1100"/>
              <a:buChar char="●"/>
            </a:pPr>
            <a:r>
              <a:rPr lang="en"/>
              <a:t>Compiling with 11 for 11 is only when you </a:t>
            </a:r>
            <a:r>
              <a:rPr lang="en"/>
              <a:t>know all your deployments can support 11 (i.e. not running on ygrid - Spark/storm)</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c5d4f24920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c5d4f24920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Dependencies not considered “part of it” because they are good practice anyway; if up-to-date with jdk8, this is No-op</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ca4edb126d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ca4edb126d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608eccc1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608eccc1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rPr lang="en" u="sng">
                <a:solidFill>
                  <a:schemeClr val="hlink"/>
                </a:solidFill>
                <a:hlinkClick r:id="rId3"/>
              </a:rPr>
              <a:t>https://gerrit.comms.corp.yahoo.com/#/q/upgrade+jdk+status:merged</a:t>
            </a:r>
            <a:r>
              <a:rPr lang="en"/>
              <a:t> - more PR for jdk 11-15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ca4edb126d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ca4edb126d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rPr lang="en" u="sng">
                <a:solidFill>
                  <a:schemeClr val="hlink"/>
                </a:solidFill>
                <a:hlinkClick r:id="rId3"/>
              </a:rPr>
              <a:t>https://gerrit.comms.corp.yahoo.com/#/q/upgrade+jdk+status:merged</a:t>
            </a:r>
            <a:r>
              <a:rPr lang="en"/>
              <a:t> - more PR for jdk 11-15</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ca4edb126d_7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ca4edb126d_7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Compiling with 11 for 8 will require adding deps on JavaEE things, which is ok when running on 8 JVMs.</a:t>
            </a:r>
            <a:endParaRPr/>
          </a:p>
          <a:p>
            <a:pPr indent="-298450" lvl="0" marL="457200" rtl="0" algn="l">
              <a:spcBef>
                <a:spcPts val="0"/>
              </a:spcBef>
              <a:spcAft>
                <a:spcPts val="0"/>
              </a:spcAft>
              <a:buSzPts val="1100"/>
              <a:buChar char="●"/>
            </a:pPr>
            <a:r>
              <a:rPr lang="en"/>
              <a:t>Compiling with 11 for 11 is only when you know all your deployments can support 11 (i.e. not running on ygrid - Spark/storm)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ca4edb126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ca4edb12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ca4edb126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ca4edb126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c3e368606a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c3e368606a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c3e368606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c3e368606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Replace ScanClassPath with ClassGraph(compatible with JDK8 and JDK11),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c3e368606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c3e368606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t>
            </a:r>
            <a:r>
              <a:rPr lang="en"/>
              <a:t>ools .jar is not available is private, these are new jdk 9 apis.</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c3e368606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c3e368606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c3e368606a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c3e368606a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c3e368606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c3e368606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c3e368606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c3e368606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c3e368606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c3e368606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c3e368606a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c3e368606a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https://gerrit.comms.corp.yahoo.com/#/q/owner:+sundarms+status:+merged+jdk11</a:t>
            </a:r>
            <a:r>
              <a:rPr lang="en"/>
              <a:t> - PR for JDK 11</a:t>
            </a:r>
            <a:endParaRPr/>
          </a:p>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ca4edb126d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ca4edb126d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briefly, some more callouts…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c36a39ecc3_1_2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c36a39ecc3_1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c36a39ecc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c36a39ecc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Since this is such a common pattern, and we want to make OS upgrades easier in the future, Shashi and I updated the Omega pipeline automation to include these features in a more native way.  The first new feature is call the 'variant' feature.  The idea is, instead of being forced to branch the application code into multiple branches, applications can have a single branch and Screwdriver project, but have a variant pipeline within it.  At the top, you see the original default pipeline.  Then below that, any number of variant pipelines that be defined.</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c36a39ecc3_1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c36a39ecc3_1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c36a39ecc3_1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c36a39ecc3_1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c36a39ecc3_1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c36a39ecc3_1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c36a39ecc3_1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c36a39ecc3_1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This example shows the Traffic distribution based on HTTP Headers between different deployments.</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rPr lang="en" sz="1400">
                <a:solidFill>
                  <a:schemeClr val="dk1"/>
                </a:solidFill>
                <a:highlight>
                  <a:srgbClr val="FFFFFF"/>
                </a:highlight>
                <a:latin typeface="Roboto"/>
                <a:ea typeface="Roboto"/>
                <a:cs typeface="Roboto"/>
                <a:sym typeface="Roboto"/>
              </a:rPr>
              <a:t>You can use Evaluate+ to set up test buckets with headers.</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400">
              <a:solidFill>
                <a:schemeClr val="dk1"/>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400">
              <a:solidFill>
                <a:schemeClr val="dk1"/>
              </a:solidFill>
              <a:highlight>
                <a:srgbClr val="FFFFFF"/>
              </a:highlight>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c36a39ecc3_1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c36a39ecc3_1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This example shows </a:t>
            </a:r>
            <a:r>
              <a:rPr lang="en" sz="1400">
                <a:solidFill>
                  <a:schemeClr val="dk1"/>
                </a:solidFill>
                <a:highlight>
                  <a:srgbClr val="FFFFFF"/>
                </a:highlight>
                <a:latin typeface="Roboto"/>
                <a:ea typeface="Roboto"/>
                <a:cs typeface="Roboto"/>
                <a:sym typeface="Roboto"/>
              </a:rPr>
              <a:t>Traffic distribution based on weight between deployments. Example shed </a:t>
            </a:r>
            <a:r>
              <a:rPr b="1" lang="en" sz="1400">
                <a:solidFill>
                  <a:schemeClr val="dk1"/>
                </a:solidFill>
                <a:highlight>
                  <a:srgbClr val="FFFFFF"/>
                </a:highlight>
                <a:latin typeface="Roboto"/>
                <a:ea typeface="Roboto"/>
                <a:cs typeface="Roboto"/>
                <a:sym typeface="Roboto"/>
              </a:rPr>
              <a:t>5%</a:t>
            </a:r>
            <a:r>
              <a:rPr lang="en" sz="1400">
                <a:solidFill>
                  <a:schemeClr val="dk1"/>
                </a:solidFill>
                <a:highlight>
                  <a:srgbClr val="FFFFFF"/>
                </a:highlight>
                <a:latin typeface="Roboto"/>
                <a:ea typeface="Roboto"/>
                <a:cs typeface="Roboto"/>
                <a:sym typeface="Roboto"/>
              </a:rPr>
              <a:t> traffic to </a:t>
            </a:r>
            <a:r>
              <a:rPr lang="en" sz="1400">
                <a:solidFill>
                  <a:schemeClr val="dk1"/>
                </a:solidFill>
                <a:highlight>
                  <a:srgbClr val="FFFFFF"/>
                </a:highlight>
                <a:latin typeface="Roboto Mono"/>
                <a:ea typeface="Roboto Mono"/>
                <a:cs typeface="Roboto Mono"/>
                <a:sym typeface="Roboto Mono"/>
              </a:rPr>
              <a:t>canary</a:t>
            </a:r>
            <a:r>
              <a:rPr lang="en" sz="1400">
                <a:solidFill>
                  <a:schemeClr val="dk1"/>
                </a:solidFill>
                <a:highlight>
                  <a:srgbClr val="FFFFFF"/>
                </a:highlight>
                <a:latin typeface="Roboto"/>
                <a:ea typeface="Roboto"/>
                <a:cs typeface="Roboto"/>
                <a:sym typeface="Roboto"/>
              </a:rPr>
              <a:t> and </a:t>
            </a:r>
            <a:r>
              <a:rPr b="1" lang="en" sz="1400">
                <a:solidFill>
                  <a:schemeClr val="dk1"/>
                </a:solidFill>
                <a:highlight>
                  <a:srgbClr val="FFFFFF"/>
                </a:highlight>
                <a:latin typeface="Roboto"/>
                <a:ea typeface="Roboto"/>
                <a:cs typeface="Roboto"/>
                <a:sym typeface="Roboto"/>
              </a:rPr>
              <a:t>95%</a:t>
            </a:r>
            <a:r>
              <a:rPr lang="en" sz="1400">
                <a:solidFill>
                  <a:schemeClr val="dk1"/>
                </a:solidFill>
                <a:highlight>
                  <a:srgbClr val="FFFFFF"/>
                </a:highlight>
                <a:latin typeface="Roboto"/>
                <a:ea typeface="Roboto"/>
                <a:cs typeface="Roboto"/>
                <a:sym typeface="Roboto"/>
              </a:rPr>
              <a:t> to </a:t>
            </a:r>
            <a:r>
              <a:rPr lang="en" sz="1400">
                <a:solidFill>
                  <a:schemeClr val="dk1"/>
                </a:solidFill>
                <a:highlight>
                  <a:srgbClr val="FFFFFF"/>
                </a:highlight>
                <a:latin typeface="Roboto Mono"/>
                <a:ea typeface="Roboto Mono"/>
                <a:cs typeface="Roboto Mono"/>
                <a:sym typeface="Roboto Mono"/>
              </a:rPr>
              <a:t>production</a:t>
            </a:r>
            <a:r>
              <a:rPr lang="en" sz="1400">
                <a:solidFill>
                  <a:schemeClr val="dk1"/>
                </a:solidFill>
                <a:highlight>
                  <a:srgbClr val="FFFFFF"/>
                </a:highlight>
                <a:latin typeface="Roboto"/>
                <a:ea typeface="Roboto"/>
                <a:cs typeface="Roboto"/>
                <a:sym typeface="Roboto"/>
              </a:rPr>
              <a:t>.</a:t>
            </a:r>
            <a:endParaRPr sz="14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ca4edb126d_18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ca4edb126d_18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Application Names, working on reducing, but that’s somewhat unrelated to jdk11 unless your subdomain takes you “over the edge”.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1" Type="http://schemas.openxmlformats.org/officeDocument/2006/relationships/image" Target="../media/image21.png"/><Relationship Id="rId10" Type="http://schemas.openxmlformats.org/officeDocument/2006/relationships/image" Target="../media/image28.png"/><Relationship Id="rId13" Type="http://schemas.openxmlformats.org/officeDocument/2006/relationships/image" Target="../media/image3.png"/><Relationship Id="rId12" Type="http://schemas.openxmlformats.org/officeDocument/2006/relationships/image" Target="../media/image12.png"/><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image" Target="../media/image18.png"/><Relationship Id="rId9"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34.png"/><Relationship Id="rId7" Type="http://schemas.openxmlformats.org/officeDocument/2006/relationships/image" Target="../media/image9.png"/><Relationship Id="rId8"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over slide">
    <p:spTree>
      <p:nvGrpSpPr>
        <p:cNvPr id="68" name="Shape 68"/>
        <p:cNvGrpSpPr/>
        <p:nvPr/>
      </p:nvGrpSpPr>
      <p:grpSpPr>
        <a:xfrm>
          <a:off x="0" y="0"/>
          <a:ext cx="0" cy="0"/>
          <a:chOff x="0" y="0"/>
          <a:chExt cx="0" cy="0"/>
        </a:xfrm>
      </p:grpSpPr>
      <p:sp>
        <p:nvSpPr>
          <p:cNvPr id="69" name="Google Shape;69;p13"/>
          <p:cNvSpPr txBox="1"/>
          <p:nvPr>
            <p:ph type="ctrTitle"/>
          </p:nvPr>
        </p:nvSpPr>
        <p:spPr>
          <a:xfrm>
            <a:off x="457200" y="865690"/>
            <a:ext cx="6271800" cy="17373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6000"/>
              <a:buFont typeface="Verizon NHG DS"/>
              <a:buNone/>
              <a:defRPr b="1" i="0" sz="6000">
                <a:latin typeface="Verizon NHG DS"/>
                <a:ea typeface="Verizon NHG DS"/>
                <a:cs typeface="Verizon NHG DS"/>
                <a:sym typeface="Verizon NHG DS"/>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70" name="Google Shape;70;p13"/>
          <p:cNvSpPr txBox="1"/>
          <p:nvPr>
            <p:ph idx="1" type="subTitle"/>
          </p:nvPr>
        </p:nvSpPr>
        <p:spPr>
          <a:xfrm>
            <a:off x="457200" y="2694490"/>
            <a:ext cx="4114800" cy="1371600"/>
          </a:xfrm>
          <a:prstGeom prst="rect">
            <a:avLst/>
          </a:prstGeom>
          <a:noFill/>
          <a:ln>
            <a:noFill/>
          </a:ln>
        </p:spPr>
        <p:txBody>
          <a:bodyPr anchorCtr="0" anchor="t" bIns="0" lIns="0" spcFirstLastPara="1" rIns="0" wrap="square" tIns="0">
            <a:normAutofit/>
          </a:bodyPr>
          <a:lstStyle>
            <a:lvl1pPr lvl="0" rtl="0" algn="l">
              <a:lnSpc>
                <a:spcPct val="80000"/>
              </a:lnSpc>
              <a:spcBef>
                <a:spcPts val="900"/>
              </a:spcBef>
              <a:spcAft>
                <a:spcPts val="0"/>
              </a:spcAft>
              <a:buClr>
                <a:schemeClr val="dk1"/>
              </a:buClr>
              <a:buSzPts val="2000"/>
              <a:buFont typeface="Verizon NHG TX"/>
              <a:buNone/>
              <a:defRPr b="0" i="0" sz="2000">
                <a:solidFill>
                  <a:schemeClr val="dk1"/>
                </a:solidFill>
                <a:latin typeface="Verizon NHG TX"/>
                <a:ea typeface="Verizon NHG TX"/>
                <a:cs typeface="Verizon NHG TX"/>
                <a:sym typeface="Verizon NHG TX"/>
              </a:defRPr>
            </a:lvl1pPr>
            <a:lvl2pPr lvl="1" rtl="0" algn="l">
              <a:lnSpc>
                <a:spcPct val="80000"/>
              </a:lnSpc>
              <a:spcBef>
                <a:spcPts val="1200"/>
              </a:spcBef>
              <a:spcAft>
                <a:spcPts val="0"/>
              </a:spcAft>
              <a:buClr>
                <a:schemeClr val="dk1"/>
              </a:buClr>
              <a:buSzPts val="2000"/>
              <a:buFont typeface="Verizon NHG TX"/>
              <a:buNone/>
              <a:defRPr b="1" sz="2000">
                <a:solidFill>
                  <a:schemeClr val="dk1"/>
                </a:solidFill>
              </a:defRPr>
            </a:lvl2pPr>
            <a:lvl3pPr lvl="2" rtl="0" algn="l">
              <a:lnSpc>
                <a:spcPct val="80000"/>
              </a:lnSpc>
              <a:spcBef>
                <a:spcPts val="1200"/>
              </a:spcBef>
              <a:spcAft>
                <a:spcPts val="0"/>
              </a:spcAft>
              <a:buClr>
                <a:schemeClr val="dk1"/>
              </a:buClr>
              <a:buSzPts val="2000"/>
              <a:buNone/>
              <a:defRPr b="1" sz="2000">
                <a:solidFill>
                  <a:schemeClr val="dk1"/>
                </a:solidFill>
              </a:defRPr>
            </a:lvl3pPr>
            <a:lvl4pPr lvl="3" rtl="0" algn="l">
              <a:lnSpc>
                <a:spcPct val="80000"/>
              </a:lnSpc>
              <a:spcBef>
                <a:spcPts val="1200"/>
              </a:spcBef>
              <a:spcAft>
                <a:spcPts val="0"/>
              </a:spcAft>
              <a:buClr>
                <a:schemeClr val="dk1"/>
              </a:buClr>
              <a:buSzPts val="2000"/>
              <a:buNone/>
              <a:defRPr b="1" sz="2000">
                <a:solidFill>
                  <a:schemeClr val="dk1"/>
                </a:solidFill>
              </a:defRPr>
            </a:lvl4pPr>
            <a:lvl5pPr lvl="4" rtl="0" algn="l">
              <a:lnSpc>
                <a:spcPct val="80000"/>
              </a:lnSpc>
              <a:spcBef>
                <a:spcPts val="1200"/>
              </a:spcBef>
              <a:spcAft>
                <a:spcPts val="0"/>
              </a:spcAft>
              <a:buClr>
                <a:schemeClr val="dk1"/>
              </a:buClr>
              <a:buSzPts val="2000"/>
              <a:buNone/>
              <a:defRPr b="1" sz="2000">
                <a:solidFill>
                  <a:schemeClr val="dk1"/>
                </a:solidFill>
              </a:defRPr>
            </a:lvl5pPr>
            <a:lvl6pPr lvl="5" rtl="0" algn="l">
              <a:lnSpc>
                <a:spcPct val="80000"/>
              </a:lnSpc>
              <a:spcBef>
                <a:spcPts val="1200"/>
              </a:spcBef>
              <a:spcAft>
                <a:spcPts val="0"/>
              </a:spcAft>
              <a:buClr>
                <a:schemeClr val="dk1"/>
              </a:buClr>
              <a:buSzPts val="2000"/>
              <a:buNone/>
              <a:defRPr b="1" sz="2000">
                <a:solidFill>
                  <a:schemeClr val="dk1"/>
                </a:solidFill>
              </a:defRPr>
            </a:lvl6pPr>
            <a:lvl7pPr lvl="6" rtl="0" algn="l">
              <a:lnSpc>
                <a:spcPct val="80000"/>
              </a:lnSpc>
              <a:spcBef>
                <a:spcPts val="1200"/>
              </a:spcBef>
              <a:spcAft>
                <a:spcPts val="0"/>
              </a:spcAft>
              <a:buClr>
                <a:schemeClr val="dk1"/>
              </a:buClr>
              <a:buSzPts val="2000"/>
              <a:buNone/>
              <a:defRPr b="1" sz="2000">
                <a:solidFill>
                  <a:schemeClr val="dk1"/>
                </a:solidFill>
              </a:defRPr>
            </a:lvl7pPr>
            <a:lvl8pPr lvl="7" rtl="0" algn="l">
              <a:lnSpc>
                <a:spcPct val="80000"/>
              </a:lnSpc>
              <a:spcBef>
                <a:spcPts val="1200"/>
              </a:spcBef>
              <a:spcAft>
                <a:spcPts val="0"/>
              </a:spcAft>
              <a:buClr>
                <a:schemeClr val="dk1"/>
              </a:buClr>
              <a:buSzPts val="2000"/>
              <a:buNone/>
              <a:defRPr b="1" sz="2000">
                <a:solidFill>
                  <a:schemeClr val="dk1"/>
                </a:solidFill>
              </a:defRPr>
            </a:lvl8pPr>
            <a:lvl9pPr lvl="8" rtl="0" algn="l">
              <a:lnSpc>
                <a:spcPct val="80000"/>
              </a:lnSpc>
              <a:spcBef>
                <a:spcPts val="1200"/>
              </a:spcBef>
              <a:spcAft>
                <a:spcPts val="1200"/>
              </a:spcAft>
              <a:buClr>
                <a:schemeClr val="dk1"/>
              </a:buClr>
              <a:buSzPts val="2000"/>
              <a:buNone/>
              <a:defRPr b="1" sz="2000">
                <a:solidFill>
                  <a:schemeClr val="dk1"/>
                </a:solidFill>
              </a:defRPr>
            </a:lvl9pPr>
          </a:lstStyle>
          <a:p/>
        </p:txBody>
      </p:sp>
      <p:pic>
        <p:nvPicPr>
          <p:cNvPr id="71" name="Google Shape;71;p13"/>
          <p:cNvPicPr preferRelativeResize="0"/>
          <p:nvPr/>
        </p:nvPicPr>
        <p:blipFill rotWithShape="1">
          <a:blip r:embed="rId2">
            <a:alphaModFix/>
          </a:blip>
          <a:srcRect b="0" l="0" r="0" t="0"/>
          <a:stretch/>
        </p:blipFill>
        <p:spPr>
          <a:xfrm>
            <a:off x="457200" y="396333"/>
            <a:ext cx="310444" cy="103052"/>
          </a:xfrm>
          <a:prstGeom prst="rect">
            <a:avLst/>
          </a:prstGeom>
          <a:noFill/>
          <a:ln>
            <a:noFill/>
          </a:ln>
        </p:spPr>
      </p:pic>
      <p:pic>
        <p:nvPicPr>
          <p:cNvPr id="72" name="Google Shape;72;p13"/>
          <p:cNvPicPr preferRelativeResize="0"/>
          <p:nvPr/>
        </p:nvPicPr>
        <p:blipFill rotWithShape="1">
          <a:blip r:embed="rId3">
            <a:alphaModFix/>
          </a:blip>
          <a:srcRect b="0" l="0" r="0" t="0"/>
          <a:stretch/>
        </p:blipFill>
        <p:spPr>
          <a:xfrm>
            <a:off x="1163039" y="413456"/>
            <a:ext cx="438525" cy="68806"/>
          </a:xfrm>
          <a:prstGeom prst="rect">
            <a:avLst/>
          </a:prstGeom>
          <a:noFill/>
          <a:ln>
            <a:noFill/>
          </a:ln>
        </p:spPr>
      </p:pic>
      <p:pic>
        <p:nvPicPr>
          <p:cNvPr id="73" name="Google Shape;73;p13"/>
          <p:cNvPicPr preferRelativeResize="0"/>
          <p:nvPr/>
        </p:nvPicPr>
        <p:blipFill rotWithShape="1">
          <a:blip r:embed="rId4">
            <a:alphaModFix/>
          </a:blip>
          <a:srcRect b="0" l="0" r="0" t="0"/>
          <a:stretch/>
        </p:blipFill>
        <p:spPr>
          <a:xfrm>
            <a:off x="1996961" y="397148"/>
            <a:ext cx="306305" cy="101422"/>
          </a:xfrm>
          <a:prstGeom prst="rect">
            <a:avLst/>
          </a:prstGeom>
          <a:noFill/>
          <a:ln>
            <a:noFill/>
          </a:ln>
        </p:spPr>
      </p:pic>
      <p:pic>
        <p:nvPicPr>
          <p:cNvPr id="74" name="Google Shape;74;p13"/>
          <p:cNvPicPr preferRelativeResize="0"/>
          <p:nvPr/>
        </p:nvPicPr>
        <p:blipFill rotWithShape="1">
          <a:blip r:embed="rId5">
            <a:alphaModFix/>
          </a:blip>
          <a:srcRect b="0" l="0" r="0" t="0"/>
          <a:stretch/>
        </p:blipFill>
        <p:spPr>
          <a:xfrm>
            <a:off x="2698662" y="420199"/>
            <a:ext cx="447839" cy="55321"/>
          </a:xfrm>
          <a:prstGeom prst="rect">
            <a:avLst/>
          </a:prstGeom>
          <a:noFill/>
          <a:ln>
            <a:noFill/>
          </a:ln>
        </p:spPr>
      </p:pic>
      <p:pic>
        <p:nvPicPr>
          <p:cNvPr id="75" name="Google Shape;75;p13"/>
          <p:cNvPicPr preferRelativeResize="0"/>
          <p:nvPr/>
        </p:nvPicPr>
        <p:blipFill rotWithShape="1">
          <a:blip r:embed="rId6">
            <a:alphaModFix/>
          </a:blip>
          <a:srcRect b="0" l="0" r="0" t="0"/>
          <a:stretch/>
        </p:blipFill>
        <p:spPr>
          <a:xfrm>
            <a:off x="3541895" y="407625"/>
            <a:ext cx="319093" cy="80467"/>
          </a:xfrm>
          <a:prstGeom prst="rect">
            <a:avLst/>
          </a:prstGeom>
          <a:noFill/>
          <a:ln>
            <a:noFill/>
          </a:ln>
        </p:spPr>
      </p:pic>
      <p:pic>
        <p:nvPicPr>
          <p:cNvPr id="76" name="Google Shape;76;p13"/>
          <p:cNvPicPr preferRelativeResize="0"/>
          <p:nvPr/>
        </p:nvPicPr>
        <p:blipFill rotWithShape="1">
          <a:blip r:embed="rId7">
            <a:alphaModFix/>
          </a:blip>
          <a:srcRect b="33000" l="0" r="0" t="33000"/>
          <a:stretch/>
        </p:blipFill>
        <p:spPr>
          <a:xfrm>
            <a:off x="4256385" y="395952"/>
            <a:ext cx="305335" cy="103814"/>
          </a:xfrm>
          <a:prstGeom prst="rect">
            <a:avLst/>
          </a:prstGeom>
          <a:noFill/>
          <a:ln>
            <a:noFill/>
          </a:ln>
        </p:spPr>
      </p:pic>
      <p:pic>
        <p:nvPicPr>
          <p:cNvPr id="77" name="Google Shape;77;p13"/>
          <p:cNvPicPr preferRelativeResize="0"/>
          <p:nvPr/>
        </p:nvPicPr>
        <p:blipFill rotWithShape="1">
          <a:blip r:embed="rId8">
            <a:alphaModFix/>
          </a:blip>
          <a:srcRect b="0" l="0" r="0" t="0"/>
          <a:stretch/>
        </p:blipFill>
        <p:spPr>
          <a:xfrm>
            <a:off x="4957115" y="404820"/>
            <a:ext cx="405228" cy="86078"/>
          </a:xfrm>
          <a:prstGeom prst="rect">
            <a:avLst/>
          </a:prstGeom>
          <a:noFill/>
          <a:ln>
            <a:noFill/>
          </a:ln>
        </p:spPr>
      </p:pic>
      <p:pic>
        <p:nvPicPr>
          <p:cNvPr id="78" name="Google Shape;78;p13"/>
          <p:cNvPicPr preferRelativeResize="0"/>
          <p:nvPr/>
        </p:nvPicPr>
        <p:blipFill rotWithShape="1">
          <a:blip r:embed="rId9">
            <a:alphaModFix/>
          </a:blip>
          <a:srcRect b="31789" l="0" r="0" t="31789"/>
          <a:stretch/>
        </p:blipFill>
        <p:spPr>
          <a:xfrm>
            <a:off x="5757738" y="395847"/>
            <a:ext cx="285611" cy="104025"/>
          </a:xfrm>
          <a:prstGeom prst="rect">
            <a:avLst/>
          </a:prstGeom>
          <a:noFill/>
          <a:ln>
            <a:noFill/>
          </a:ln>
        </p:spPr>
      </p:pic>
      <p:pic>
        <p:nvPicPr>
          <p:cNvPr id="79" name="Google Shape;79;p13"/>
          <p:cNvPicPr preferRelativeResize="0"/>
          <p:nvPr/>
        </p:nvPicPr>
        <p:blipFill rotWithShape="1">
          <a:blip r:embed="rId10">
            <a:alphaModFix/>
          </a:blip>
          <a:srcRect b="0" l="0" r="0" t="0"/>
          <a:stretch/>
        </p:blipFill>
        <p:spPr>
          <a:xfrm>
            <a:off x="6438744" y="401677"/>
            <a:ext cx="277092" cy="92364"/>
          </a:xfrm>
          <a:prstGeom prst="rect">
            <a:avLst/>
          </a:prstGeom>
          <a:noFill/>
          <a:ln>
            <a:noFill/>
          </a:ln>
        </p:spPr>
      </p:pic>
      <p:pic>
        <p:nvPicPr>
          <p:cNvPr id="80" name="Google Shape;80;p13"/>
          <p:cNvPicPr preferRelativeResize="0"/>
          <p:nvPr/>
        </p:nvPicPr>
        <p:blipFill rotWithShape="1">
          <a:blip r:embed="rId11">
            <a:alphaModFix/>
          </a:blip>
          <a:srcRect b="24055" l="0" r="0" t="24055"/>
          <a:stretch/>
        </p:blipFill>
        <p:spPr>
          <a:xfrm>
            <a:off x="7111230" y="401036"/>
            <a:ext cx="233559" cy="93647"/>
          </a:xfrm>
          <a:prstGeom prst="rect">
            <a:avLst/>
          </a:prstGeom>
          <a:noFill/>
          <a:ln>
            <a:noFill/>
          </a:ln>
        </p:spPr>
      </p:pic>
      <p:pic>
        <p:nvPicPr>
          <p:cNvPr id="81" name="Google Shape;81;p13"/>
          <p:cNvPicPr preferRelativeResize="0"/>
          <p:nvPr/>
        </p:nvPicPr>
        <p:blipFill rotWithShape="1">
          <a:blip r:embed="rId12">
            <a:alphaModFix/>
          </a:blip>
          <a:srcRect b="13389" l="7352" r="7352" t="15238"/>
          <a:stretch/>
        </p:blipFill>
        <p:spPr>
          <a:xfrm>
            <a:off x="7740184" y="376598"/>
            <a:ext cx="234198" cy="142523"/>
          </a:xfrm>
          <a:prstGeom prst="rect">
            <a:avLst/>
          </a:prstGeom>
          <a:noFill/>
          <a:ln>
            <a:noFill/>
          </a:ln>
        </p:spPr>
      </p:pic>
      <p:pic>
        <p:nvPicPr>
          <p:cNvPr id="82" name="Google Shape;82;p13"/>
          <p:cNvPicPr preferRelativeResize="0"/>
          <p:nvPr/>
        </p:nvPicPr>
        <p:blipFill rotWithShape="1">
          <a:blip r:embed="rId13">
            <a:alphaModFix/>
          </a:blip>
          <a:srcRect b="0" l="0" r="0" t="0"/>
          <a:stretch/>
        </p:blipFill>
        <p:spPr>
          <a:xfrm>
            <a:off x="8369782" y="404820"/>
            <a:ext cx="322793" cy="8607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_1">
  <p:cSld name="TITLE_AND_BODY_1">
    <p:spTree>
      <p:nvGrpSpPr>
        <p:cNvPr id="83" name="Shape 83"/>
        <p:cNvGrpSpPr/>
        <p:nvPr/>
      </p:nvGrpSpPr>
      <p:grpSpPr>
        <a:xfrm>
          <a:off x="0" y="0"/>
          <a:ext cx="0" cy="0"/>
          <a:chOff x="0" y="0"/>
          <a:chExt cx="0" cy="0"/>
        </a:xfrm>
      </p:grpSpPr>
      <p:sp>
        <p:nvSpPr>
          <p:cNvPr id="84" name="Google Shape;84;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 name="Google Shape;85;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87" name="Shape 87"/>
        <p:cNvGrpSpPr/>
        <p:nvPr/>
      </p:nvGrpSpPr>
      <p:grpSpPr>
        <a:xfrm>
          <a:off x="0" y="0"/>
          <a:ext cx="0" cy="0"/>
          <a:chOff x="0" y="0"/>
          <a:chExt cx="0" cy="0"/>
        </a:xfrm>
      </p:grpSpPr>
      <p:sp>
        <p:nvSpPr>
          <p:cNvPr id="88" name="Google Shape;88;p15"/>
          <p:cNvSpPr txBox="1"/>
          <p:nvPr>
            <p:ph idx="1" type="body"/>
          </p:nvPr>
        </p:nvSpPr>
        <p:spPr>
          <a:xfrm>
            <a:off x="457200" y="1459580"/>
            <a:ext cx="7086600" cy="29790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vl1pPr>
            <a:lvl2pPr indent="-342900" lvl="1" marL="914400" rtl="0" algn="l">
              <a:lnSpc>
                <a:spcPct val="100000"/>
              </a:lnSpc>
              <a:spcBef>
                <a:spcPts val="1200"/>
              </a:spcBef>
              <a:spcAft>
                <a:spcPts val="0"/>
              </a:spcAft>
              <a:buClr>
                <a:schemeClr val="dk1"/>
              </a:buClr>
              <a:buSzPts val="1800"/>
              <a:buChar char="○"/>
              <a:defRPr/>
            </a:lvl2pPr>
            <a:lvl3pPr indent="-342900" lvl="2" marL="1371600" rtl="0" algn="l">
              <a:lnSpc>
                <a:spcPct val="100000"/>
              </a:lnSpc>
              <a:spcBef>
                <a:spcPts val="1200"/>
              </a:spcBef>
              <a:spcAft>
                <a:spcPts val="0"/>
              </a:spcAft>
              <a:buClr>
                <a:schemeClr val="dk1"/>
              </a:buClr>
              <a:buSzPts val="1800"/>
              <a:buChar char="■"/>
              <a:defRPr/>
            </a:lvl3pPr>
            <a:lvl4pPr indent="-342900" lvl="3" marL="1828800" rtl="0" algn="l">
              <a:lnSpc>
                <a:spcPct val="100000"/>
              </a:lnSpc>
              <a:spcBef>
                <a:spcPts val="1200"/>
              </a:spcBef>
              <a:spcAft>
                <a:spcPts val="0"/>
              </a:spcAft>
              <a:buClr>
                <a:schemeClr val="dk1"/>
              </a:buClr>
              <a:buSzPts val="1800"/>
              <a:buChar char="●"/>
              <a:defRPr/>
            </a:lvl4pPr>
            <a:lvl5pPr indent="-342900" lvl="4" marL="2286000" rtl="0" algn="l">
              <a:lnSpc>
                <a:spcPct val="100000"/>
              </a:lnSpc>
              <a:spcBef>
                <a:spcPts val="1200"/>
              </a:spcBef>
              <a:spcAft>
                <a:spcPts val="0"/>
              </a:spcAft>
              <a:buClr>
                <a:schemeClr val="dk1"/>
              </a:buClr>
              <a:buSzPts val="1800"/>
              <a:buChar char="○"/>
              <a:defRPr/>
            </a:lvl5pPr>
            <a:lvl6pPr indent="-342900" lvl="5" marL="2743200" rtl="0" algn="l">
              <a:lnSpc>
                <a:spcPct val="100000"/>
              </a:lnSpc>
              <a:spcBef>
                <a:spcPts val="1200"/>
              </a:spcBef>
              <a:spcAft>
                <a:spcPts val="0"/>
              </a:spcAft>
              <a:buClr>
                <a:schemeClr val="dk1"/>
              </a:buClr>
              <a:buSzPts val="1800"/>
              <a:buChar char="■"/>
              <a:defRPr/>
            </a:lvl6pPr>
            <a:lvl7pPr indent="-342900" lvl="6" marL="3200400" rtl="0" algn="l">
              <a:lnSpc>
                <a:spcPct val="100000"/>
              </a:lnSpc>
              <a:spcBef>
                <a:spcPts val="1200"/>
              </a:spcBef>
              <a:spcAft>
                <a:spcPts val="0"/>
              </a:spcAft>
              <a:buClr>
                <a:schemeClr val="dk1"/>
              </a:buClr>
              <a:buSzPts val="1800"/>
              <a:buChar char="●"/>
              <a:defRPr/>
            </a:lvl7pPr>
            <a:lvl8pPr indent="-342900" lvl="7" marL="3657600" rtl="0" algn="l">
              <a:lnSpc>
                <a:spcPct val="100000"/>
              </a:lnSpc>
              <a:spcBef>
                <a:spcPts val="1200"/>
              </a:spcBef>
              <a:spcAft>
                <a:spcPts val="0"/>
              </a:spcAft>
              <a:buClr>
                <a:schemeClr val="dk1"/>
              </a:buClr>
              <a:buSzPts val="1800"/>
              <a:buChar char="○"/>
              <a:defRPr/>
            </a:lvl8pPr>
            <a:lvl9pPr indent="-342900" lvl="8" marL="4114800" rtl="0" algn="l">
              <a:lnSpc>
                <a:spcPct val="100000"/>
              </a:lnSpc>
              <a:spcBef>
                <a:spcPts val="1200"/>
              </a:spcBef>
              <a:spcAft>
                <a:spcPts val="1200"/>
              </a:spcAft>
              <a:buClr>
                <a:schemeClr val="dk1"/>
              </a:buClr>
              <a:buSzPts val="1800"/>
              <a:buChar char="■"/>
              <a:defRPr/>
            </a:lvl9pPr>
          </a:lstStyle>
          <a:p/>
        </p:txBody>
      </p:sp>
      <p:sp>
        <p:nvSpPr>
          <p:cNvPr id="89" name="Google Shape;89;p15"/>
          <p:cNvSpPr txBox="1"/>
          <p:nvPr>
            <p:ph idx="12" type="sldNum"/>
          </p:nvPr>
        </p:nvSpPr>
        <p:spPr>
          <a:xfrm>
            <a:off x="8458200" y="4700016"/>
            <a:ext cx="228600" cy="228600"/>
          </a:xfrm>
          <a:prstGeom prst="rect">
            <a:avLst/>
          </a:prstGeom>
          <a:noFill/>
          <a:ln>
            <a:noFill/>
          </a:ln>
        </p:spPr>
        <p:txBody>
          <a:bodyPr anchorCtr="0" anchor="b" bIns="0" lIns="0" spcFirstLastPara="1" rIns="0" wrap="square" tIns="0">
            <a:normAutofit/>
          </a:bodyPr>
          <a:lstStyle>
            <a:lvl1pPr indent="0" lvl="0" marL="0" rtl="0" algn="r">
              <a:spcBef>
                <a:spcPts val="0"/>
              </a:spcBef>
              <a:buNone/>
              <a:defRPr b="1" i="0" sz="700" u="none" cap="none" strike="noStrike">
                <a:solidFill>
                  <a:schemeClr val="dk1"/>
                </a:solidFill>
                <a:latin typeface="Verizon NHG DS"/>
                <a:ea typeface="Verizon NHG DS"/>
                <a:cs typeface="Verizon NHG DS"/>
                <a:sym typeface="Verizon NHG DS"/>
              </a:defRPr>
            </a:lvl1pPr>
            <a:lvl2pPr indent="0" lvl="1" marL="0" rtl="0" algn="r">
              <a:spcBef>
                <a:spcPts val="0"/>
              </a:spcBef>
              <a:buNone/>
              <a:defRPr b="1" i="0" sz="700" u="none" cap="none" strike="noStrike">
                <a:solidFill>
                  <a:schemeClr val="dk1"/>
                </a:solidFill>
                <a:latin typeface="Verizon NHG DS"/>
                <a:ea typeface="Verizon NHG DS"/>
                <a:cs typeface="Verizon NHG DS"/>
                <a:sym typeface="Verizon NHG DS"/>
              </a:defRPr>
            </a:lvl2pPr>
            <a:lvl3pPr indent="0" lvl="2" marL="0" rtl="0" algn="r">
              <a:spcBef>
                <a:spcPts val="0"/>
              </a:spcBef>
              <a:buNone/>
              <a:defRPr b="1" i="0" sz="700" u="none" cap="none" strike="noStrike">
                <a:solidFill>
                  <a:schemeClr val="dk1"/>
                </a:solidFill>
                <a:latin typeface="Verizon NHG DS"/>
                <a:ea typeface="Verizon NHG DS"/>
                <a:cs typeface="Verizon NHG DS"/>
                <a:sym typeface="Verizon NHG DS"/>
              </a:defRPr>
            </a:lvl3pPr>
            <a:lvl4pPr indent="0" lvl="3" marL="0" rtl="0" algn="r">
              <a:spcBef>
                <a:spcPts val="0"/>
              </a:spcBef>
              <a:buNone/>
              <a:defRPr b="1" i="0" sz="700" u="none" cap="none" strike="noStrike">
                <a:solidFill>
                  <a:schemeClr val="dk1"/>
                </a:solidFill>
                <a:latin typeface="Verizon NHG DS"/>
                <a:ea typeface="Verizon NHG DS"/>
                <a:cs typeface="Verizon NHG DS"/>
                <a:sym typeface="Verizon NHG DS"/>
              </a:defRPr>
            </a:lvl4pPr>
            <a:lvl5pPr indent="0" lvl="4" marL="0" rtl="0" algn="r">
              <a:spcBef>
                <a:spcPts val="0"/>
              </a:spcBef>
              <a:buNone/>
              <a:defRPr b="1" i="0" sz="700" u="none" cap="none" strike="noStrike">
                <a:solidFill>
                  <a:schemeClr val="dk1"/>
                </a:solidFill>
                <a:latin typeface="Verizon NHG DS"/>
                <a:ea typeface="Verizon NHG DS"/>
                <a:cs typeface="Verizon NHG DS"/>
                <a:sym typeface="Verizon NHG DS"/>
              </a:defRPr>
            </a:lvl5pPr>
            <a:lvl6pPr indent="0" lvl="5" marL="0" rtl="0" algn="r">
              <a:spcBef>
                <a:spcPts val="0"/>
              </a:spcBef>
              <a:buNone/>
              <a:defRPr b="1" i="0" sz="700" u="none" cap="none" strike="noStrike">
                <a:solidFill>
                  <a:schemeClr val="dk1"/>
                </a:solidFill>
                <a:latin typeface="Verizon NHG DS"/>
                <a:ea typeface="Verizon NHG DS"/>
                <a:cs typeface="Verizon NHG DS"/>
                <a:sym typeface="Verizon NHG DS"/>
              </a:defRPr>
            </a:lvl6pPr>
            <a:lvl7pPr indent="0" lvl="6" marL="0" rtl="0" algn="r">
              <a:spcBef>
                <a:spcPts val="0"/>
              </a:spcBef>
              <a:buNone/>
              <a:defRPr b="1" i="0" sz="700" u="none" cap="none" strike="noStrike">
                <a:solidFill>
                  <a:schemeClr val="dk1"/>
                </a:solidFill>
                <a:latin typeface="Verizon NHG DS"/>
                <a:ea typeface="Verizon NHG DS"/>
                <a:cs typeface="Verizon NHG DS"/>
                <a:sym typeface="Verizon NHG DS"/>
              </a:defRPr>
            </a:lvl7pPr>
            <a:lvl8pPr indent="0" lvl="7" marL="0" rtl="0" algn="r">
              <a:spcBef>
                <a:spcPts val="0"/>
              </a:spcBef>
              <a:buNone/>
              <a:defRPr b="1" i="0" sz="700" u="none" cap="none" strike="noStrike">
                <a:solidFill>
                  <a:schemeClr val="dk1"/>
                </a:solidFill>
                <a:latin typeface="Verizon NHG DS"/>
                <a:ea typeface="Verizon NHG DS"/>
                <a:cs typeface="Verizon NHG DS"/>
                <a:sym typeface="Verizon NHG DS"/>
              </a:defRPr>
            </a:lvl8pPr>
            <a:lvl9pPr indent="0" lvl="8" marL="0" rtl="0" algn="r">
              <a:spcBef>
                <a:spcPts val="0"/>
              </a:spcBef>
              <a:buNone/>
              <a:defRPr b="1" i="0" sz="7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90" name="Google Shape;90;p15"/>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
        <p:nvSpPr>
          <p:cNvPr id="91" name="Google Shape;91;p15"/>
          <p:cNvSpPr txBox="1"/>
          <p:nvPr>
            <p:ph type="title"/>
          </p:nvPr>
        </p:nvSpPr>
        <p:spPr>
          <a:xfrm>
            <a:off x="457200" y="590550"/>
            <a:ext cx="7086600" cy="6858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1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92" name="Shape 92"/>
        <p:cNvGrpSpPr/>
        <p:nvPr/>
      </p:nvGrpSpPr>
      <p:grpSpPr>
        <a:xfrm>
          <a:off x="0" y="0"/>
          <a:ext cx="0" cy="0"/>
          <a:chOff x="0" y="0"/>
          <a:chExt cx="0" cy="0"/>
        </a:xfrm>
      </p:grpSpPr>
      <p:sp>
        <p:nvSpPr>
          <p:cNvPr id="93" name="Google Shape;93;p16"/>
          <p:cNvSpPr txBox="1"/>
          <p:nvPr>
            <p:ph type="title"/>
          </p:nvPr>
        </p:nvSpPr>
        <p:spPr>
          <a:xfrm>
            <a:off x="457200" y="594360"/>
            <a:ext cx="7086600" cy="6858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Font typeface="Verizon NHG DS"/>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4" name="Google Shape;94;p16"/>
          <p:cNvSpPr txBox="1"/>
          <p:nvPr>
            <p:ph idx="1" type="body"/>
          </p:nvPr>
        </p:nvSpPr>
        <p:spPr>
          <a:xfrm>
            <a:off x="457200" y="1459580"/>
            <a:ext cx="7086600" cy="2979000"/>
          </a:xfrm>
          <a:prstGeom prst="rect">
            <a:avLst/>
          </a:prstGeom>
          <a:noFill/>
          <a:ln>
            <a:noFill/>
          </a:ln>
        </p:spPr>
        <p:txBody>
          <a:bodyPr anchorCtr="0" anchor="t" bIns="0" lIns="0" spcFirstLastPara="1" rIns="0" wrap="square" tIns="0">
            <a:normAutofit/>
          </a:bodyPr>
          <a:lstStyle>
            <a:lvl1pPr indent="-330200" lvl="0" marL="457200" rtl="0" algn="l">
              <a:lnSpc>
                <a:spcPct val="100000"/>
              </a:lnSpc>
              <a:spcBef>
                <a:spcPts val="900"/>
              </a:spcBef>
              <a:spcAft>
                <a:spcPts val="0"/>
              </a:spcAft>
              <a:buClr>
                <a:schemeClr val="dk1"/>
              </a:buClr>
              <a:buSzPts val="1600"/>
              <a:buFont typeface="Verizon NHG DS"/>
              <a:buAutoNum type="arabicPeriod"/>
              <a:defRPr sz="1600"/>
            </a:lvl1pPr>
            <a:lvl2pPr indent="-342900" lvl="1" marL="914400" rtl="0" algn="l">
              <a:lnSpc>
                <a:spcPct val="100000"/>
              </a:lnSpc>
              <a:spcBef>
                <a:spcPts val="1200"/>
              </a:spcBef>
              <a:spcAft>
                <a:spcPts val="0"/>
              </a:spcAft>
              <a:buClr>
                <a:schemeClr val="dk1"/>
              </a:buClr>
              <a:buSzPts val="1800"/>
              <a:buChar char="○"/>
              <a:defRPr/>
            </a:lvl2pPr>
            <a:lvl3pPr indent="-342900" lvl="2" marL="1371600" rtl="0" algn="l">
              <a:lnSpc>
                <a:spcPct val="100000"/>
              </a:lnSpc>
              <a:spcBef>
                <a:spcPts val="1200"/>
              </a:spcBef>
              <a:spcAft>
                <a:spcPts val="0"/>
              </a:spcAft>
              <a:buClr>
                <a:schemeClr val="dk1"/>
              </a:buClr>
              <a:buSzPts val="1800"/>
              <a:buChar char="■"/>
              <a:defRPr/>
            </a:lvl3pPr>
            <a:lvl4pPr indent="-342900" lvl="3" marL="1828800" rtl="0" algn="l">
              <a:lnSpc>
                <a:spcPct val="100000"/>
              </a:lnSpc>
              <a:spcBef>
                <a:spcPts val="1200"/>
              </a:spcBef>
              <a:spcAft>
                <a:spcPts val="0"/>
              </a:spcAft>
              <a:buClr>
                <a:schemeClr val="dk1"/>
              </a:buClr>
              <a:buSzPts val="1800"/>
              <a:buChar char="●"/>
              <a:defRPr/>
            </a:lvl4pPr>
            <a:lvl5pPr indent="-342900" lvl="4" marL="2286000" rtl="0" algn="l">
              <a:lnSpc>
                <a:spcPct val="100000"/>
              </a:lnSpc>
              <a:spcBef>
                <a:spcPts val="1200"/>
              </a:spcBef>
              <a:spcAft>
                <a:spcPts val="0"/>
              </a:spcAft>
              <a:buClr>
                <a:schemeClr val="dk1"/>
              </a:buClr>
              <a:buSzPts val="1800"/>
              <a:buChar char="○"/>
              <a:defRPr/>
            </a:lvl5pPr>
            <a:lvl6pPr indent="-342900" lvl="5" marL="2743200" rtl="0" algn="l">
              <a:lnSpc>
                <a:spcPct val="100000"/>
              </a:lnSpc>
              <a:spcBef>
                <a:spcPts val="1200"/>
              </a:spcBef>
              <a:spcAft>
                <a:spcPts val="0"/>
              </a:spcAft>
              <a:buClr>
                <a:schemeClr val="dk1"/>
              </a:buClr>
              <a:buSzPts val="1800"/>
              <a:buChar char="■"/>
              <a:defRPr/>
            </a:lvl6pPr>
            <a:lvl7pPr indent="-342900" lvl="6" marL="3200400" rtl="0" algn="l">
              <a:lnSpc>
                <a:spcPct val="100000"/>
              </a:lnSpc>
              <a:spcBef>
                <a:spcPts val="1200"/>
              </a:spcBef>
              <a:spcAft>
                <a:spcPts val="0"/>
              </a:spcAft>
              <a:buClr>
                <a:schemeClr val="dk1"/>
              </a:buClr>
              <a:buSzPts val="1800"/>
              <a:buChar char="●"/>
              <a:defRPr/>
            </a:lvl7pPr>
            <a:lvl8pPr indent="-342900" lvl="7" marL="3657600" rtl="0" algn="l">
              <a:lnSpc>
                <a:spcPct val="100000"/>
              </a:lnSpc>
              <a:spcBef>
                <a:spcPts val="1200"/>
              </a:spcBef>
              <a:spcAft>
                <a:spcPts val="0"/>
              </a:spcAft>
              <a:buClr>
                <a:schemeClr val="dk1"/>
              </a:buClr>
              <a:buSzPts val="1800"/>
              <a:buChar char="○"/>
              <a:defRPr/>
            </a:lvl8pPr>
            <a:lvl9pPr indent="-304800" lvl="8" marL="4114800" rtl="0" algn="l">
              <a:lnSpc>
                <a:spcPct val="100000"/>
              </a:lnSpc>
              <a:spcBef>
                <a:spcPts val="1200"/>
              </a:spcBef>
              <a:spcAft>
                <a:spcPts val="1200"/>
              </a:spcAft>
              <a:buClr>
                <a:schemeClr val="dk1"/>
              </a:buClr>
              <a:buSzPts val="1200"/>
              <a:buChar char="■"/>
              <a:defRPr/>
            </a:lvl9pPr>
          </a:lstStyle>
          <a:p/>
        </p:txBody>
      </p:sp>
      <p:sp>
        <p:nvSpPr>
          <p:cNvPr id="95" name="Google Shape;95;p16"/>
          <p:cNvSpPr txBox="1"/>
          <p:nvPr>
            <p:ph idx="12" type="sldNum"/>
          </p:nvPr>
        </p:nvSpPr>
        <p:spPr>
          <a:xfrm>
            <a:off x="8458200" y="4700016"/>
            <a:ext cx="228600" cy="228600"/>
          </a:xfrm>
          <a:prstGeom prst="rect">
            <a:avLst/>
          </a:prstGeom>
          <a:noFill/>
          <a:ln>
            <a:noFill/>
          </a:ln>
        </p:spPr>
        <p:txBody>
          <a:bodyPr anchorCtr="0" anchor="b" bIns="0" lIns="0" spcFirstLastPara="1" rIns="0" wrap="square" tIns="0">
            <a:normAutofit/>
          </a:bodyPr>
          <a:lstStyle>
            <a:lvl1pPr indent="0" lvl="0" marL="0" rtl="0" algn="r">
              <a:spcBef>
                <a:spcPts val="0"/>
              </a:spcBef>
              <a:buNone/>
              <a:defRPr b="1" sz="700">
                <a:solidFill>
                  <a:schemeClr val="dk1"/>
                </a:solidFill>
                <a:latin typeface="Verizon NHG DS"/>
                <a:ea typeface="Verizon NHG DS"/>
                <a:cs typeface="Verizon NHG DS"/>
                <a:sym typeface="Verizon NHG DS"/>
              </a:defRPr>
            </a:lvl1pPr>
            <a:lvl2pPr indent="0" lvl="1" marL="0" rtl="0" algn="r">
              <a:spcBef>
                <a:spcPts val="0"/>
              </a:spcBef>
              <a:buNone/>
              <a:defRPr b="1" sz="700">
                <a:solidFill>
                  <a:schemeClr val="dk1"/>
                </a:solidFill>
                <a:latin typeface="Verizon NHG DS"/>
                <a:ea typeface="Verizon NHG DS"/>
                <a:cs typeface="Verizon NHG DS"/>
                <a:sym typeface="Verizon NHG DS"/>
              </a:defRPr>
            </a:lvl2pPr>
            <a:lvl3pPr indent="0" lvl="2" marL="0" rtl="0" algn="r">
              <a:spcBef>
                <a:spcPts val="0"/>
              </a:spcBef>
              <a:buNone/>
              <a:defRPr b="1" sz="700">
                <a:solidFill>
                  <a:schemeClr val="dk1"/>
                </a:solidFill>
                <a:latin typeface="Verizon NHG DS"/>
                <a:ea typeface="Verizon NHG DS"/>
                <a:cs typeface="Verizon NHG DS"/>
                <a:sym typeface="Verizon NHG DS"/>
              </a:defRPr>
            </a:lvl3pPr>
            <a:lvl4pPr indent="0" lvl="3" marL="0" rtl="0" algn="r">
              <a:spcBef>
                <a:spcPts val="0"/>
              </a:spcBef>
              <a:buNone/>
              <a:defRPr b="1" sz="700">
                <a:solidFill>
                  <a:schemeClr val="dk1"/>
                </a:solidFill>
                <a:latin typeface="Verizon NHG DS"/>
                <a:ea typeface="Verizon NHG DS"/>
                <a:cs typeface="Verizon NHG DS"/>
                <a:sym typeface="Verizon NHG DS"/>
              </a:defRPr>
            </a:lvl4pPr>
            <a:lvl5pPr indent="0" lvl="4" marL="0" rtl="0" algn="r">
              <a:spcBef>
                <a:spcPts val="0"/>
              </a:spcBef>
              <a:buNone/>
              <a:defRPr b="1" sz="700">
                <a:solidFill>
                  <a:schemeClr val="dk1"/>
                </a:solidFill>
                <a:latin typeface="Verizon NHG DS"/>
                <a:ea typeface="Verizon NHG DS"/>
                <a:cs typeface="Verizon NHG DS"/>
                <a:sym typeface="Verizon NHG DS"/>
              </a:defRPr>
            </a:lvl5pPr>
            <a:lvl6pPr indent="0" lvl="5" marL="0" rtl="0" algn="r">
              <a:spcBef>
                <a:spcPts val="0"/>
              </a:spcBef>
              <a:buNone/>
              <a:defRPr b="1" sz="700">
                <a:solidFill>
                  <a:schemeClr val="dk1"/>
                </a:solidFill>
                <a:latin typeface="Verizon NHG DS"/>
                <a:ea typeface="Verizon NHG DS"/>
                <a:cs typeface="Verizon NHG DS"/>
                <a:sym typeface="Verizon NHG DS"/>
              </a:defRPr>
            </a:lvl6pPr>
            <a:lvl7pPr indent="0" lvl="6" marL="0" rtl="0" algn="r">
              <a:spcBef>
                <a:spcPts val="0"/>
              </a:spcBef>
              <a:buNone/>
              <a:defRPr b="1" sz="700">
                <a:solidFill>
                  <a:schemeClr val="dk1"/>
                </a:solidFill>
                <a:latin typeface="Verizon NHG DS"/>
                <a:ea typeface="Verizon NHG DS"/>
                <a:cs typeface="Verizon NHG DS"/>
                <a:sym typeface="Verizon NHG DS"/>
              </a:defRPr>
            </a:lvl7pPr>
            <a:lvl8pPr indent="0" lvl="7" marL="0" rtl="0" algn="r">
              <a:spcBef>
                <a:spcPts val="0"/>
              </a:spcBef>
              <a:buNone/>
              <a:defRPr b="1" sz="700">
                <a:solidFill>
                  <a:schemeClr val="dk1"/>
                </a:solidFill>
                <a:latin typeface="Verizon NHG DS"/>
                <a:ea typeface="Verizon NHG DS"/>
                <a:cs typeface="Verizon NHG DS"/>
                <a:sym typeface="Verizon NHG DS"/>
              </a:defRPr>
            </a:lvl8pPr>
            <a:lvl9pPr indent="0" lvl="8" marL="0" rtl="0" algn="r">
              <a:spcBef>
                <a:spcPts val="0"/>
              </a:spcBef>
              <a:buNone/>
              <a:defRPr b="1" sz="700">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6"/>
          <p:cNvCxnSpPr/>
          <p:nvPr/>
        </p:nvCxnSpPr>
        <p:spPr>
          <a:xfrm>
            <a:off x="457200" y="457200"/>
            <a:ext cx="82296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yo/architecture-guild" TargetMode="External"/><Relationship Id="rId4" Type="http://schemas.openxmlformats.org/officeDocument/2006/relationships/hyperlink" Target="http://yo/eng-handbook" TargetMode="External"/><Relationship Id="rId5" Type="http://schemas.openxmlformats.org/officeDocument/2006/relationships/hyperlink" Target="http://yo/java" TargetMode="External"/><Relationship Id="rId6" Type="http://schemas.openxmlformats.org/officeDocument/2006/relationships/hyperlink" Target="http://yo/java-interest-group" TargetMode="External"/><Relationship Id="rId7"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3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hyperlink" Target="https://adoptopenjdk.net/support.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docs.google.com/presentation/d/1AUTUr63qEPqrxxL1Zb9BtAabG39MSolPCNH8Zoy17ak/edit#slide=id.g86be2b2232_0_0" TargetMode="External"/><Relationship Id="rId4" Type="http://schemas.openxmlformats.org/officeDocument/2006/relationships/hyperlink" Target="https://confluence.vzbuilders.com/pages/viewpage.action?pageId=335284330" TargetMode="External"/><Relationship Id="rId5" Type="http://schemas.openxmlformats.org/officeDocument/2006/relationships/hyperlink" Target="https://openjdk.java.net/jeps/158" TargetMode="External"/><Relationship Id="rId6" Type="http://schemas.openxmlformats.org/officeDocument/2006/relationships/hyperlink" Target="https://docs.oracle.com/en/java/javase/11/gctuning/available-collectors.html#GUID-F215A508-9E58-40B4-90A5-74E29BF3BD3C" TargetMode="External"/><Relationship Id="rId7" Type="http://schemas.openxmlformats.org/officeDocument/2006/relationships/hyperlink" Target="https://docs.oracle.com/en/java/javase/11/tools/java.html#GUID-3B1CE181-CD30-4178-9602-230B800D4FAE" TargetMode="External"/><Relationship Id="rId8" Type="http://schemas.openxmlformats.org/officeDocument/2006/relationships/image" Target="../media/image3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git.vzbuilders.com/membership-platforms/membership-cookie" TargetMode="External"/><Relationship Id="rId4" Type="http://schemas.openxmlformats.org/officeDocument/2006/relationships/hyperlink" Target="https://docs.google.com/presentation/d/187xNxjNHXPDqbz_vRKbrXBX1QNGESvwGoRbaU0QGQ8o/edit#slide=id.p" TargetMode="External"/><Relationship Id="rId5" Type="http://schemas.openxmlformats.org/officeDocument/2006/relationships/hyperlink" Target="https://docs.google.com/presentation/d/187xNxjNHXPDqbz_vRKbrXBX1QNGESvwGoRbaU0QGQ8o/edit#slide=id.p" TargetMode="External"/><Relationship Id="rId6"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20.png"/><Relationship Id="rId4" Type="http://schemas.openxmlformats.org/officeDocument/2006/relationships/image" Target="../media/image26.png"/><Relationship Id="rId5"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hyperlink" Target="https://pmd.github.io/pmd-6.21.0/pmd_rules_java_performance.html#stringinstantiation" TargetMode="External"/><Relationship Id="rId4" Type="http://schemas.openxmlformats.org/officeDocument/2006/relationships/hyperlink" Target="https://pmd.github.io/pmd-6.21.0/pmd_rules_java_performance.html#stringinstantiation" TargetMode="External"/><Relationship Id="rId5" Type="http://schemas.openxmlformats.org/officeDocument/2006/relationships/hyperlink" Target="https://pmd.github.io/pmd-6.21.0/pmd_rules_java_performance.html#stringinstantiation"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 Id="rId3" Type="http://schemas.openxmlformats.org/officeDocument/2006/relationships/image" Target="../media/image31.jpg"/><Relationship Id="rId4" Type="http://schemas.openxmlformats.org/officeDocument/2006/relationships/hyperlink" Target="https://docs.google.com/presentation/d/1nASJ_mx4kClxU3QCNiosc6i6PYh9SQofUS0PBmSk-T0/edit#slide=id.p"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hyperlink" Target="http://yo/evaluate" TargetMode="External"/><Relationship Id="rId4" Type="http://schemas.openxmlformats.org/officeDocument/2006/relationships/hyperlink" Target="https://docs.google.com/presentation/d/1nASJ_mx4kClxU3QCNiosc6i6PYh9SQofUS0PBmSk-T0/edit#slide=id.p"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hyperlink" Target="https://docs.google.com/presentation/d/1nASJ_mx4kClxU3QCNiosc6i6PYh9SQofUS0PBmSk-T0/edit#slide=id.p"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7"/>
          <p:cNvSpPr txBox="1"/>
          <p:nvPr>
            <p:ph type="ctrTitle"/>
          </p:nvPr>
        </p:nvSpPr>
        <p:spPr>
          <a:xfrm>
            <a:off x="457200" y="865700"/>
            <a:ext cx="6712800" cy="17373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Migrating to Java 11</a:t>
            </a:r>
            <a:endParaRPr/>
          </a:p>
        </p:txBody>
      </p:sp>
      <p:sp>
        <p:nvSpPr>
          <p:cNvPr id="102" name="Google Shape;102;p17"/>
          <p:cNvSpPr txBox="1"/>
          <p:nvPr>
            <p:ph idx="1" type="subTitle"/>
          </p:nvPr>
        </p:nvSpPr>
        <p:spPr>
          <a:xfrm>
            <a:off x="457200" y="2694500"/>
            <a:ext cx="5977200" cy="1371600"/>
          </a:xfrm>
          <a:prstGeom prst="rect">
            <a:avLst/>
          </a:prstGeom>
        </p:spPr>
        <p:txBody>
          <a:bodyPr anchorCtr="0" anchor="t" bIns="0" lIns="0" spcFirstLastPara="1" rIns="0" wrap="square" tIns="0">
            <a:normAutofit/>
          </a:bodyPr>
          <a:lstStyle/>
          <a:p>
            <a:pPr indent="0" lvl="0" marL="0" rtl="0" algn="l">
              <a:spcBef>
                <a:spcPts val="900"/>
              </a:spcBef>
              <a:spcAft>
                <a:spcPts val="1200"/>
              </a:spcAft>
              <a:buNone/>
            </a:pPr>
            <a:r>
              <a:rPr lang="en"/>
              <a:t>A Java Talk</a:t>
            </a:r>
            <a:endParaRPr/>
          </a:p>
        </p:txBody>
      </p:sp>
      <p:pic>
        <p:nvPicPr>
          <p:cNvPr id="103" name="Google Shape;103;p17"/>
          <p:cNvPicPr preferRelativeResize="0"/>
          <p:nvPr/>
        </p:nvPicPr>
        <p:blipFill>
          <a:blip r:embed="rId3">
            <a:alphaModFix/>
          </a:blip>
          <a:stretch>
            <a:fillRect/>
          </a:stretch>
        </p:blipFill>
        <p:spPr>
          <a:xfrm rot="-201989">
            <a:off x="3818875" y="1755291"/>
            <a:ext cx="4949328" cy="243754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Callouts</a:t>
            </a:r>
            <a:endParaRPr/>
          </a:p>
        </p:txBody>
      </p:sp>
      <p:sp>
        <p:nvSpPr>
          <p:cNvPr id="109" name="Google Shape;109;p18"/>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1350">
                <a:highlight>
                  <a:srgbClr val="FFFFFF"/>
                </a:highlight>
                <a:latin typeface="Arial"/>
                <a:ea typeface="Arial"/>
                <a:cs typeface="Arial"/>
                <a:sym typeface="Arial"/>
              </a:rPr>
              <a:t>A few quick mentions of some of the groups involved in motivating this tech talk</a:t>
            </a:r>
            <a:endParaRPr b="0" sz="1350">
              <a:highlight>
                <a:srgbClr val="FFFFFF"/>
              </a:highlight>
              <a:latin typeface="Arial"/>
              <a:ea typeface="Arial"/>
              <a:cs typeface="Arial"/>
              <a:sym typeface="Arial"/>
            </a:endParaRPr>
          </a:p>
          <a:p>
            <a:pPr indent="-314325" lvl="0" marL="457200" rtl="0" algn="l">
              <a:spcBef>
                <a:spcPts val="1200"/>
              </a:spcBef>
              <a:spcAft>
                <a:spcPts val="0"/>
              </a:spcAft>
              <a:buSzPts val="1350"/>
              <a:buFont typeface="Arial"/>
              <a:buChar char="●"/>
            </a:pPr>
            <a:r>
              <a:rPr b="0" lang="en" sz="1350">
                <a:highlight>
                  <a:srgbClr val="FFFFFF"/>
                </a:highlight>
                <a:latin typeface="Arial"/>
                <a:ea typeface="Arial"/>
                <a:cs typeface="Arial"/>
                <a:sym typeface="Arial"/>
              </a:rPr>
              <a:t>Architecture Guild (</a:t>
            </a:r>
            <a:r>
              <a:rPr b="0" lang="en" sz="1350" u="sng">
                <a:solidFill>
                  <a:schemeClr val="hlink"/>
                </a:solidFill>
                <a:highlight>
                  <a:srgbClr val="FFFFFF"/>
                </a:highlight>
                <a:latin typeface="Arial"/>
                <a:ea typeface="Arial"/>
                <a:cs typeface="Arial"/>
                <a:sym typeface="Arial"/>
                <a:hlinkClick r:id="rId3"/>
              </a:rPr>
              <a:t>yo/architecture-guild</a:t>
            </a:r>
            <a:r>
              <a:rPr b="0" lang="en" sz="1350">
                <a:highlight>
                  <a:srgbClr val="FFFFFF"/>
                </a:highlight>
                <a:latin typeface="Arial"/>
                <a:ea typeface="Arial"/>
                <a:cs typeface="Arial"/>
                <a:sym typeface="Arial"/>
              </a:rPr>
              <a:t>)</a:t>
            </a:r>
            <a:endParaRPr b="0" sz="1350">
              <a:highlight>
                <a:srgbClr val="FFFFFF"/>
              </a:highlight>
              <a:latin typeface="Arial"/>
              <a:ea typeface="Arial"/>
              <a:cs typeface="Arial"/>
              <a:sym typeface="Arial"/>
            </a:endParaRPr>
          </a:p>
          <a:p>
            <a:pPr indent="-314325" lvl="0" marL="457200" rtl="0" algn="l">
              <a:spcBef>
                <a:spcPts val="0"/>
              </a:spcBef>
              <a:spcAft>
                <a:spcPts val="0"/>
              </a:spcAft>
              <a:buSzPts val="1350"/>
              <a:buFont typeface="Arial"/>
              <a:buChar char="●"/>
            </a:pPr>
            <a:r>
              <a:rPr b="0" lang="en" sz="1350">
                <a:highlight>
                  <a:srgbClr val="FFFFFF"/>
                </a:highlight>
                <a:latin typeface="Arial"/>
                <a:ea typeface="Arial"/>
                <a:cs typeface="Arial"/>
                <a:sym typeface="Arial"/>
              </a:rPr>
              <a:t>Technical Excellence Developer Productivity Working Group (</a:t>
            </a:r>
            <a:r>
              <a:rPr b="0" lang="en" sz="1350" u="sng">
                <a:solidFill>
                  <a:schemeClr val="hlink"/>
                </a:solidFill>
                <a:highlight>
                  <a:srgbClr val="FFFFFF"/>
                </a:highlight>
                <a:latin typeface="Arial"/>
                <a:ea typeface="Arial"/>
                <a:cs typeface="Arial"/>
                <a:sym typeface="Arial"/>
                <a:hlinkClick r:id="rId4"/>
              </a:rPr>
              <a:t>yo/eng-handbook</a:t>
            </a:r>
            <a:r>
              <a:rPr b="0" lang="en" sz="1350">
                <a:highlight>
                  <a:srgbClr val="FFFFFF"/>
                </a:highlight>
                <a:latin typeface="Arial"/>
                <a:ea typeface="Arial"/>
                <a:cs typeface="Arial"/>
                <a:sym typeface="Arial"/>
              </a:rPr>
              <a:t>)</a:t>
            </a:r>
            <a:endParaRPr b="0" sz="1350">
              <a:highlight>
                <a:srgbClr val="FFFFFF"/>
              </a:highlight>
              <a:latin typeface="Arial"/>
              <a:ea typeface="Arial"/>
              <a:cs typeface="Arial"/>
              <a:sym typeface="Arial"/>
            </a:endParaRPr>
          </a:p>
          <a:p>
            <a:pPr indent="-314325" lvl="0" marL="457200" rtl="0" algn="l">
              <a:spcBef>
                <a:spcPts val="0"/>
              </a:spcBef>
              <a:spcAft>
                <a:spcPts val="0"/>
              </a:spcAft>
              <a:buSzPts val="1350"/>
              <a:buFont typeface="Arial"/>
              <a:buChar char="●"/>
            </a:pPr>
            <a:r>
              <a:rPr b="0" lang="en" sz="1350">
                <a:highlight>
                  <a:srgbClr val="FFFFFF"/>
                </a:highlight>
                <a:latin typeface="Arial"/>
                <a:ea typeface="Arial"/>
                <a:cs typeface="Arial"/>
                <a:sym typeface="Arial"/>
              </a:rPr>
              <a:t>Java Interest Group (</a:t>
            </a:r>
            <a:r>
              <a:rPr b="0" lang="en" sz="1350" u="sng">
                <a:solidFill>
                  <a:schemeClr val="hlink"/>
                </a:solidFill>
                <a:highlight>
                  <a:srgbClr val="FFFFFF"/>
                </a:highlight>
                <a:latin typeface="Arial"/>
                <a:ea typeface="Arial"/>
                <a:cs typeface="Arial"/>
                <a:sym typeface="Arial"/>
                <a:hlinkClick r:id="rId5"/>
              </a:rPr>
              <a:t>yo/java</a:t>
            </a:r>
            <a:r>
              <a:rPr b="0" lang="en" sz="1350">
                <a:highlight>
                  <a:srgbClr val="FFFFFF"/>
                </a:highlight>
                <a:latin typeface="Arial"/>
                <a:ea typeface="Arial"/>
                <a:cs typeface="Arial"/>
                <a:sym typeface="Arial"/>
              </a:rPr>
              <a:t> + </a:t>
            </a:r>
            <a:r>
              <a:rPr b="0" lang="en" sz="1350" u="sng">
                <a:solidFill>
                  <a:schemeClr val="hlink"/>
                </a:solidFill>
                <a:highlight>
                  <a:srgbClr val="FFFFFF"/>
                </a:highlight>
                <a:latin typeface="Arial"/>
                <a:ea typeface="Arial"/>
                <a:cs typeface="Arial"/>
                <a:sym typeface="Arial"/>
                <a:hlinkClick r:id="rId6"/>
              </a:rPr>
              <a:t>yo/java-interest-group</a:t>
            </a:r>
            <a:r>
              <a:rPr b="0" lang="en" sz="1350">
                <a:highlight>
                  <a:srgbClr val="FFFFFF"/>
                </a:highlight>
                <a:latin typeface="Arial"/>
                <a:ea typeface="Arial"/>
                <a:cs typeface="Arial"/>
                <a:sym typeface="Arial"/>
              </a:rPr>
              <a:t>)</a:t>
            </a:r>
            <a:endParaRPr b="0" sz="1350">
              <a:highlight>
                <a:srgbClr val="FFFFFF"/>
              </a:highlight>
              <a:latin typeface="Arial"/>
              <a:ea typeface="Arial"/>
              <a:cs typeface="Arial"/>
              <a:sym typeface="Arial"/>
            </a:endParaRPr>
          </a:p>
        </p:txBody>
      </p:sp>
      <p:pic>
        <p:nvPicPr>
          <p:cNvPr id="110" name="Google Shape;110;p18"/>
          <p:cNvPicPr preferRelativeResize="0"/>
          <p:nvPr/>
        </p:nvPicPr>
        <p:blipFill>
          <a:blip r:embed="rId7">
            <a:alphaModFix/>
          </a:blip>
          <a:stretch>
            <a:fillRect/>
          </a:stretch>
        </p:blipFill>
        <p:spPr>
          <a:xfrm>
            <a:off x="7000425" y="74325"/>
            <a:ext cx="2094075" cy="2094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PSA: Migration to AdoptOpenJDK </a:t>
            </a:r>
            <a:r>
              <a:rPr lang="en"/>
              <a:t>- What do I do?!?</a:t>
            </a:r>
            <a:endParaRPr/>
          </a:p>
        </p:txBody>
      </p:sp>
      <p:sp>
        <p:nvSpPr>
          <p:cNvPr id="116" name="Google Shape;116;p19"/>
          <p:cNvSpPr txBox="1"/>
          <p:nvPr>
            <p:ph idx="1" type="body"/>
          </p:nvPr>
        </p:nvSpPr>
        <p:spPr>
          <a:xfrm>
            <a:off x="311700" y="1076275"/>
            <a:ext cx="39999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91440" marR="91440" rtl="0" algn="l">
              <a:spcBef>
                <a:spcPts val="0"/>
              </a:spcBef>
              <a:spcAft>
                <a:spcPts val="0"/>
              </a:spcAft>
              <a:buNone/>
            </a:pPr>
            <a:r>
              <a:rPr b="0" i="1" lang="en" sz="1150" u="sng">
                <a:highlight>
                  <a:srgbClr val="FFFFFF"/>
                </a:highlight>
                <a:latin typeface="Arial"/>
                <a:ea typeface="Arial"/>
                <a:cs typeface="Arial"/>
                <a:sym typeface="Arial"/>
              </a:rPr>
              <a:t>I own a screwdriver or base image that includes java</a:t>
            </a:r>
            <a:endParaRPr b="0" i="1" sz="1150" u="sng">
              <a:highlight>
                <a:srgbClr val="FFFFFF"/>
              </a:highlight>
              <a:latin typeface="Arial"/>
              <a:ea typeface="Arial"/>
              <a:cs typeface="Arial"/>
              <a:sym typeface="Arial"/>
            </a:endParaRPr>
          </a:p>
          <a:p>
            <a:pPr indent="0" lvl="0" marL="91440" marR="91440" rtl="0" algn="l">
              <a:spcBef>
                <a:spcPts val="1200"/>
              </a:spcBef>
              <a:spcAft>
                <a:spcPts val="0"/>
              </a:spcAft>
              <a:buNone/>
            </a:pPr>
            <a:r>
              <a:rPr b="0" lang="en" sz="1150">
                <a:highlight>
                  <a:srgbClr val="FFFFFF"/>
                </a:highlight>
                <a:latin typeface="Arial"/>
                <a:ea typeface="Arial"/>
                <a:cs typeface="Arial"/>
                <a:sym typeface="Arial"/>
              </a:rPr>
              <a:t>Add more choices of your platform or base image</a:t>
            </a:r>
            <a:endParaRPr b="0" sz="1150">
              <a:highlight>
                <a:srgbClr val="FFFFFF"/>
              </a:highlight>
              <a:latin typeface="Arial"/>
              <a:ea typeface="Arial"/>
              <a:cs typeface="Arial"/>
              <a:sym typeface="Arial"/>
            </a:endParaRPr>
          </a:p>
          <a:p>
            <a:pPr indent="-301625" lvl="0" marL="457200" rtl="0" algn="l">
              <a:spcBef>
                <a:spcPts val="1200"/>
              </a:spcBef>
              <a:spcAft>
                <a:spcPts val="0"/>
              </a:spcAft>
              <a:buSzPts val="1150"/>
              <a:buFont typeface="Arial"/>
              <a:buChar char="●"/>
            </a:pPr>
            <a:r>
              <a:rPr lang="en" sz="1150">
                <a:highlight>
                  <a:srgbClr val="FFFFFF"/>
                </a:highlight>
                <a:latin typeface="Arial"/>
                <a:ea typeface="Arial"/>
                <a:cs typeface="Arial"/>
                <a:sym typeface="Arial"/>
              </a:rPr>
              <a:t>openjdk8 - AdoptOpenJDK 8</a:t>
            </a:r>
            <a:endParaRPr sz="1150">
              <a:highlight>
                <a:srgbClr val="FFFFFF"/>
              </a:highlight>
              <a:latin typeface="Arial"/>
              <a:ea typeface="Arial"/>
              <a:cs typeface="Arial"/>
              <a:sym typeface="Arial"/>
            </a:endParaRPr>
          </a:p>
          <a:p>
            <a:pPr indent="-301625" lvl="0" marL="457200" rtl="0" algn="l">
              <a:spcBef>
                <a:spcPts val="0"/>
              </a:spcBef>
              <a:spcAft>
                <a:spcPts val="0"/>
              </a:spcAft>
              <a:buSzPts val="1150"/>
              <a:buFont typeface="Arial"/>
              <a:buChar char="●"/>
            </a:pPr>
            <a:r>
              <a:rPr lang="en" sz="1150">
                <a:highlight>
                  <a:schemeClr val="lt1"/>
                </a:highlight>
                <a:latin typeface="Arial"/>
                <a:ea typeface="Arial"/>
                <a:cs typeface="Arial"/>
                <a:sym typeface="Arial"/>
              </a:rPr>
              <a:t>openjdk11 - AdoptOpenJDK 11</a:t>
            </a:r>
            <a:endParaRPr sz="1150">
              <a:highlight>
                <a:schemeClr val="lt1"/>
              </a:highlight>
              <a:latin typeface="Arial"/>
              <a:ea typeface="Arial"/>
              <a:cs typeface="Arial"/>
              <a:sym typeface="Arial"/>
            </a:endParaRPr>
          </a:p>
          <a:p>
            <a:pPr indent="-301625" lvl="0" marL="457200" rtl="0" algn="l">
              <a:spcBef>
                <a:spcPts val="0"/>
              </a:spcBef>
              <a:spcAft>
                <a:spcPts val="0"/>
              </a:spcAft>
              <a:buSzPts val="1150"/>
              <a:buFont typeface="Arial"/>
              <a:buChar char="●"/>
            </a:pPr>
            <a:r>
              <a:rPr lang="en" sz="1150">
                <a:highlight>
                  <a:schemeClr val="lt1"/>
                </a:highlight>
                <a:latin typeface="Arial"/>
                <a:ea typeface="Arial"/>
                <a:cs typeface="Arial"/>
                <a:sym typeface="Arial"/>
              </a:rPr>
              <a:t>openjdk</a:t>
            </a:r>
            <a:br>
              <a:rPr lang="en" sz="1150">
                <a:highlight>
                  <a:schemeClr val="lt1"/>
                </a:highlight>
                <a:latin typeface="Arial"/>
                <a:ea typeface="Arial"/>
                <a:cs typeface="Arial"/>
                <a:sym typeface="Arial"/>
              </a:rPr>
            </a:br>
            <a:r>
              <a:rPr lang="en" sz="1150">
                <a:highlight>
                  <a:schemeClr val="lt1"/>
                </a:highlight>
                <a:latin typeface="Arial"/>
                <a:ea typeface="Arial"/>
                <a:cs typeface="Arial"/>
                <a:sym typeface="Arial"/>
              </a:rPr>
              <a:t>(optionally - latest AdoptOpenJDK - 16 e.g.)</a:t>
            </a:r>
            <a:endParaRPr sz="1150">
              <a:highlight>
                <a:schemeClr val="lt1"/>
              </a:highlight>
              <a:latin typeface="Arial"/>
              <a:ea typeface="Arial"/>
              <a:cs typeface="Arial"/>
              <a:sym typeface="Arial"/>
            </a:endParaRPr>
          </a:p>
        </p:txBody>
      </p:sp>
      <p:sp>
        <p:nvSpPr>
          <p:cNvPr id="117" name="Google Shape;117;p19"/>
          <p:cNvSpPr txBox="1"/>
          <p:nvPr>
            <p:ph idx="2" type="body"/>
          </p:nvPr>
        </p:nvSpPr>
        <p:spPr>
          <a:xfrm>
            <a:off x="4832400" y="1076275"/>
            <a:ext cx="39999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91440" marR="91440" rtl="0" algn="l">
              <a:spcBef>
                <a:spcPts val="0"/>
              </a:spcBef>
              <a:spcAft>
                <a:spcPts val="0"/>
              </a:spcAft>
              <a:buClr>
                <a:schemeClr val="dk1"/>
              </a:buClr>
              <a:buSzPts val="1100"/>
              <a:buFont typeface="Arial"/>
              <a:buNone/>
            </a:pPr>
            <a:r>
              <a:rPr b="0" i="1" lang="en" sz="1150" u="sng">
                <a:highlight>
                  <a:schemeClr val="lt1"/>
                </a:highlight>
                <a:latin typeface="Arial"/>
                <a:ea typeface="Arial"/>
                <a:cs typeface="Arial"/>
                <a:sym typeface="Arial"/>
              </a:rPr>
              <a:t>I use a screwdriver or base image that includes Java</a:t>
            </a:r>
            <a:endParaRPr b="0" i="1" sz="1150" u="sng">
              <a:highlight>
                <a:schemeClr val="lt1"/>
              </a:highlight>
              <a:latin typeface="Arial"/>
              <a:ea typeface="Arial"/>
              <a:cs typeface="Arial"/>
              <a:sym typeface="Arial"/>
            </a:endParaRPr>
          </a:p>
          <a:p>
            <a:pPr indent="0" lvl="0" marL="91440" marR="91440" rtl="0" algn="l">
              <a:spcBef>
                <a:spcPts val="1200"/>
              </a:spcBef>
              <a:spcAft>
                <a:spcPts val="0"/>
              </a:spcAft>
              <a:buNone/>
            </a:pPr>
            <a:r>
              <a:rPr b="0" lang="en" sz="1150">
                <a:highlight>
                  <a:schemeClr val="lt1"/>
                </a:highlight>
                <a:latin typeface="Arial"/>
                <a:ea typeface="Arial"/>
                <a:cs typeface="Arial"/>
                <a:sym typeface="Arial"/>
              </a:rPr>
              <a:t>⇐ Switch to adopt image variant provided by owners</a:t>
            </a:r>
            <a:endParaRPr b="0" sz="1150">
              <a:highlight>
                <a:schemeClr val="lt1"/>
              </a:highlight>
              <a:latin typeface="Arial"/>
              <a:ea typeface="Arial"/>
              <a:cs typeface="Arial"/>
              <a:sym typeface="Arial"/>
            </a:endParaRPr>
          </a:p>
          <a:p>
            <a:pPr indent="0" lvl="0" marL="91440" marR="91440" rtl="0" algn="l">
              <a:spcBef>
                <a:spcPts val="1200"/>
              </a:spcBef>
              <a:spcAft>
                <a:spcPts val="1200"/>
              </a:spcAft>
              <a:buNone/>
            </a:pPr>
            <a:r>
              <a:rPr b="0" lang="en" sz="1150">
                <a:highlight>
                  <a:schemeClr val="lt1"/>
                </a:highlight>
                <a:latin typeface="Arial"/>
                <a:ea typeface="Arial"/>
                <a:cs typeface="Arial"/>
                <a:sym typeface="Arial"/>
              </a:rPr>
              <a:t>🔥If there are no variants or owners, start lighting fires to get one made!</a:t>
            </a:r>
            <a:endParaRPr b="0" sz="1150">
              <a:highlight>
                <a:schemeClr val="lt1"/>
              </a:highlight>
              <a:latin typeface="Arial"/>
              <a:ea typeface="Arial"/>
              <a:cs typeface="Arial"/>
              <a:sym typeface="Arial"/>
            </a:endParaRPr>
          </a:p>
        </p:txBody>
      </p:sp>
      <p:pic>
        <p:nvPicPr>
          <p:cNvPr id="118" name="Google Shape;118;p19"/>
          <p:cNvPicPr preferRelativeResize="0"/>
          <p:nvPr/>
        </p:nvPicPr>
        <p:blipFill>
          <a:blip r:embed="rId3">
            <a:alphaModFix/>
          </a:blip>
          <a:stretch>
            <a:fillRect/>
          </a:stretch>
        </p:blipFill>
        <p:spPr>
          <a:xfrm>
            <a:off x="6139288" y="2895775"/>
            <a:ext cx="1386125" cy="1348250"/>
          </a:xfrm>
          <a:prstGeom prst="rect">
            <a:avLst/>
          </a:prstGeom>
          <a:noFill/>
          <a:ln>
            <a:noFill/>
          </a:ln>
        </p:spPr>
      </p:pic>
      <p:pic>
        <p:nvPicPr>
          <p:cNvPr id="119" name="Google Shape;119;p19"/>
          <p:cNvPicPr preferRelativeResize="0"/>
          <p:nvPr/>
        </p:nvPicPr>
        <p:blipFill>
          <a:blip r:embed="rId4">
            <a:alphaModFix/>
          </a:blip>
          <a:stretch>
            <a:fillRect/>
          </a:stretch>
        </p:blipFill>
        <p:spPr>
          <a:xfrm>
            <a:off x="1086343" y="2615393"/>
            <a:ext cx="2450605" cy="18232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0"/>
          <p:cNvSpPr txBox="1"/>
          <p:nvPr/>
        </p:nvSpPr>
        <p:spPr>
          <a:xfrm>
            <a:off x="847725" y="294821"/>
            <a:ext cx="7368300" cy="692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None/>
            </a:pPr>
            <a:r>
              <a:rPr b="1" lang="en" sz="3000"/>
              <a:t>JDK Roadmap</a:t>
            </a:r>
            <a:endParaRPr sz="3000">
              <a:solidFill>
                <a:srgbClr val="006CB7"/>
              </a:solidFill>
            </a:endParaRPr>
          </a:p>
        </p:txBody>
      </p:sp>
      <p:grpSp>
        <p:nvGrpSpPr>
          <p:cNvPr id="125" name="Google Shape;125;p20"/>
          <p:cNvGrpSpPr/>
          <p:nvPr/>
        </p:nvGrpSpPr>
        <p:grpSpPr>
          <a:xfrm>
            <a:off x="2411270" y="2546858"/>
            <a:ext cx="1576598" cy="411825"/>
            <a:chOff x="2395183" y="3080258"/>
            <a:chExt cx="1576598" cy="411825"/>
          </a:xfrm>
        </p:grpSpPr>
        <p:sp>
          <p:nvSpPr>
            <p:cNvPr id="126" name="Google Shape;126;p20"/>
            <p:cNvSpPr/>
            <p:nvPr/>
          </p:nvSpPr>
          <p:spPr>
            <a:xfrm>
              <a:off x="2437281" y="3080265"/>
              <a:ext cx="1534500" cy="133500"/>
            </a:xfrm>
            <a:prstGeom prst="rect">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 name="Google Shape;127;p20"/>
            <p:cNvGrpSpPr/>
            <p:nvPr/>
          </p:nvGrpSpPr>
          <p:grpSpPr>
            <a:xfrm rot="10800000">
              <a:off x="2395183" y="3080258"/>
              <a:ext cx="92400" cy="411825"/>
              <a:chOff x="2070100" y="2563700"/>
              <a:chExt cx="92400" cy="411825"/>
            </a:xfrm>
          </p:grpSpPr>
          <p:cxnSp>
            <p:nvCxnSpPr>
              <p:cNvPr id="128" name="Google Shape;128;p20"/>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29" name="Google Shape;129;p20"/>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0" name="Google Shape;130;p20"/>
          <p:cNvGrpSpPr/>
          <p:nvPr/>
        </p:nvGrpSpPr>
        <p:grpSpPr>
          <a:xfrm>
            <a:off x="3924544" y="2267455"/>
            <a:ext cx="1581734" cy="412910"/>
            <a:chOff x="3924544" y="2800855"/>
            <a:chExt cx="1581734" cy="412910"/>
          </a:xfrm>
        </p:grpSpPr>
        <p:sp>
          <p:nvSpPr>
            <p:cNvPr id="131" name="Google Shape;131;p20"/>
            <p:cNvSpPr/>
            <p:nvPr/>
          </p:nvSpPr>
          <p:spPr>
            <a:xfrm>
              <a:off x="3971778" y="3080265"/>
              <a:ext cx="15345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2" name="Google Shape;132;p20"/>
            <p:cNvGrpSpPr/>
            <p:nvPr/>
          </p:nvGrpSpPr>
          <p:grpSpPr>
            <a:xfrm>
              <a:off x="3924544" y="2800855"/>
              <a:ext cx="92400" cy="411825"/>
              <a:chOff x="845575" y="2563700"/>
              <a:chExt cx="92400" cy="411825"/>
            </a:xfrm>
          </p:grpSpPr>
          <p:cxnSp>
            <p:nvCxnSpPr>
              <p:cNvPr id="133" name="Google Shape;133;p20"/>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34" name="Google Shape;134;p20"/>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5" name="Google Shape;135;p20"/>
          <p:cNvGrpSpPr/>
          <p:nvPr/>
        </p:nvGrpSpPr>
        <p:grpSpPr>
          <a:xfrm>
            <a:off x="6994658" y="2267455"/>
            <a:ext cx="2151825" cy="412910"/>
            <a:chOff x="6994658" y="2800855"/>
            <a:chExt cx="2151825" cy="412910"/>
          </a:xfrm>
        </p:grpSpPr>
        <p:sp>
          <p:nvSpPr>
            <p:cNvPr id="136" name="Google Shape;136;p20"/>
            <p:cNvSpPr/>
            <p:nvPr/>
          </p:nvSpPr>
          <p:spPr>
            <a:xfrm>
              <a:off x="7040783" y="3080265"/>
              <a:ext cx="21057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7" name="Google Shape;137;p20"/>
            <p:cNvGrpSpPr/>
            <p:nvPr/>
          </p:nvGrpSpPr>
          <p:grpSpPr>
            <a:xfrm>
              <a:off x="6994658" y="2800855"/>
              <a:ext cx="92400" cy="411825"/>
              <a:chOff x="845575" y="2563700"/>
              <a:chExt cx="92400" cy="411825"/>
            </a:xfrm>
          </p:grpSpPr>
          <p:cxnSp>
            <p:nvCxnSpPr>
              <p:cNvPr id="138" name="Google Shape;138;p20"/>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39" name="Google Shape;139;p20"/>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0" name="Google Shape;140;p20"/>
          <p:cNvSpPr/>
          <p:nvPr/>
        </p:nvSpPr>
        <p:spPr>
          <a:xfrm>
            <a:off x="902775" y="2546875"/>
            <a:ext cx="15393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0"/>
          <p:cNvSpPr txBox="1"/>
          <p:nvPr/>
        </p:nvSpPr>
        <p:spPr>
          <a:xfrm>
            <a:off x="1998473" y="2021629"/>
            <a:ext cx="871200" cy="3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May 2021</a:t>
            </a:r>
            <a:endParaRPr b="1"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grpSp>
        <p:nvGrpSpPr>
          <p:cNvPr id="142" name="Google Shape;142;p20"/>
          <p:cNvGrpSpPr/>
          <p:nvPr/>
        </p:nvGrpSpPr>
        <p:grpSpPr>
          <a:xfrm>
            <a:off x="6994658" y="2267455"/>
            <a:ext cx="2151825" cy="412910"/>
            <a:chOff x="6994658" y="2800855"/>
            <a:chExt cx="2151825" cy="412910"/>
          </a:xfrm>
        </p:grpSpPr>
        <p:sp>
          <p:nvSpPr>
            <p:cNvPr id="143" name="Google Shape;143;p20"/>
            <p:cNvSpPr/>
            <p:nvPr/>
          </p:nvSpPr>
          <p:spPr>
            <a:xfrm>
              <a:off x="7040783" y="3080265"/>
              <a:ext cx="2105700" cy="133500"/>
            </a:xfrm>
            <a:prstGeom prst="rect">
              <a:avLst/>
            </a:prstGeom>
            <a:solidFill>
              <a:srgbClr val="0E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 name="Google Shape;144;p20"/>
            <p:cNvGrpSpPr/>
            <p:nvPr/>
          </p:nvGrpSpPr>
          <p:grpSpPr>
            <a:xfrm>
              <a:off x="6994658" y="2800855"/>
              <a:ext cx="92400" cy="411825"/>
              <a:chOff x="845575" y="2563700"/>
              <a:chExt cx="92400" cy="411825"/>
            </a:xfrm>
          </p:grpSpPr>
          <p:cxnSp>
            <p:nvCxnSpPr>
              <p:cNvPr id="145" name="Google Shape;145;p20"/>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46" name="Google Shape;146;p20"/>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7" name="Google Shape;147;p20"/>
          <p:cNvGrpSpPr/>
          <p:nvPr/>
        </p:nvGrpSpPr>
        <p:grpSpPr>
          <a:xfrm>
            <a:off x="5455515" y="2546858"/>
            <a:ext cx="1585261" cy="411825"/>
            <a:chOff x="5455515" y="3080258"/>
            <a:chExt cx="1585261" cy="411825"/>
          </a:xfrm>
        </p:grpSpPr>
        <p:sp>
          <p:nvSpPr>
            <p:cNvPr id="148" name="Google Shape;148;p20"/>
            <p:cNvSpPr/>
            <p:nvPr/>
          </p:nvSpPr>
          <p:spPr>
            <a:xfrm>
              <a:off x="5506276" y="3080265"/>
              <a:ext cx="1534500" cy="133500"/>
            </a:xfrm>
            <a:prstGeom prst="rect">
              <a:avLst/>
            </a:prstGeom>
            <a:solidFill>
              <a:srgbClr val="08563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20"/>
            <p:cNvGrpSpPr/>
            <p:nvPr/>
          </p:nvGrpSpPr>
          <p:grpSpPr>
            <a:xfrm rot="10800000">
              <a:off x="5455515" y="3080258"/>
              <a:ext cx="92400" cy="411825"/>
              <a:chOff x="2070100" y="2563700"/>
              <a:chExt cx="92400" cy="411825"/>
            </a:xfrm>
          </p:grpSpPr>
          <p:cxnSp>
            <p:nvCxnSpPr>
              <p:cNvPr id="150" name="Google Shape;150;p20"/>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151" name="Google Shape;151;p20"/>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52" name="Google Shape;152;p20"/>
          <p:cNvSpPr txBox="1"/>
          <p:nvPr/>
        </p:nvSpPr>
        <p:spPr>
          <a:xfrm>
            <a:off x="1632088" y="3012911"/>
            <a:ext cx="1585200" cy="532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latin typeface="Verizon NHG TX"/>
                <a:ea typeface="Verizon NHG TX"/>
                <a:cs typeface="Verizon NHG TX"/>
                <a:sym typeface="Verizon NHG TX"/>
              </a:rPr>
              <a:t>Oracle JDK 8 EOL</a:t>
            </a:r>
            <a:endParaRPr sz="1000">
              <a:latin typeface="Verizon NHG TX"/>
              <a:ea typeface="Verizon NHG TX"/>
              <a:cs typeface="Verizon NHG TX"/>
              <a:sym typeface="Verizon NHG TX"/>
            </a:endParaRPr>
          </a:p>
          <a:p>
            <a:pPr indent="0" lvl="0" marL="0" rtl="0" algn="l">
              <a:spcBef>
                <a:spcPts val="0"/>
              </a:spcBef>
              <a:spcAft>
                <a:spcPts val="0"/>
              </a:spcAft>
              <a:buNone/>
            </a:pPr>
            <a:r>
              <a:rPr lang="en" sz="1000">
                <a:latin typeface="Verizon NHG TX"/>
                <a:ea typeface="Verizon NHG TX"/>
                <a:cs typeface="Verizon NHG TX"/>
                <a:sym typeface="Verizon NHG TX"/>
              </a:rPr>
              <a:t>End of support contract</a:t>
            </a:r>
            <a:endParaRPr sz="1000">
              <a:latin typeface="Verizon NHG TX"/>
              <a:ea typeface="Verizon NHG TX"/>
              <a:cs typeface="Verizon NHG TX"/>
              <a:sym typeface="Verizon NHG TX"/>
            </a:endParaRPr>
          </a:p>
        </p:txBody>
      </p:sp>
      <p:sp>
        <p:nvSpPr>
          <p:cNvPr id="153" name="Google Shape;153;p20"/>
          <p:cNvSpPr txBox="1"/>
          <p:nvPr/>
        </p:nvSpPr>
        <p:spPr>
          <a:xfrm>
            <a:off x="3511998" y="2682654"/>
            <a:ext cx="871200" cy="3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Sep 2021</a:t>
            </a:r>
            <a:endParaRPr b="1"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4" name="Google Shape;154;p20"/>
          <p:cNvSpPr txBox="1"/>
          <p:nvPr/>
        </p:nvSpPr>
        <p:spPr>
          <a:xfrm>
            <a:off x="3035250" y="1669075"/>
            <a:ext cx="1746900" cy="5325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200">
                <a:latin typeface="Roboto"/>
                <a:ea typeface="Roboto"/>
                <a:cs typeface="Roboto"/>
                <a:sym typeface="Roboto"/>
              </a:rPr>
              <a:t>AdoptOpenJDK 17 Release</a:t>
            </a:r>
            <a:endParaRPr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5" name="Google Shape;155;p20"/>
          <p:cNvSpPr txBox="1"/>
          <p:nvPr/>
        </p:nvSpPr>
        <p:spPr>
          <a:xfrm>
            <a:off x="6622198" y="2795779"/>
            <a:ext cx="871200" cy="3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May</a:t>
            </a:r>
            <a:r>
              <a:rPr b="1" lang="en" sz="1200">
                <a:latin typeface="Roboto"/>
                <a:ea typeface="Roboto"/>
                <a:cs typeface="Roboto"/>
                <a:sym typeface="Roboto"/>
              </a:rPr>
              <a:t> 2026</a:t>
            </a:r>
            <a:endParaRPr b="1"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6" name="Google Shape;156;p20"/>
          <p:cNvSpPr txBox="1"/>
          <p:nvPr/>
        </p:nvSpPr>
        <p:spPr>
          <a:xfrm>
            <a:off x="6237700" y="1669075"/>
            <a:ext cx="1746900" cy="53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AdoptOpenJDK 8 EOL</a:t>
            </a:r>
            <a:endParaRPr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7" name="Google Shape;157;p20"/>
          <p:cNvSpPr txBox="1"/>
          <p:nvPr/>
        </p:nvSpPr>
        <p:spPr>
          <a:xfrm>
            <a:off x="5038248" y="2121229"/>
            <a:ext cx="871200" cy="37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200">
                <a:latin typeface="Roboto"/>
                <a:ea typeface="Roboto"/>
                <a:cs typeface="Roboto"/>
                <a:sym typeface="Roboto"/>
              </a:rPr>
              <a:t>Oct</a:t>
            </a:r>
            <a:r>
              <a:rPr b="1" lang="en" sz="1200">
                <a:latin typeface="Roboto"/>
                <a:ea typeface="Roboto"/>
                <a:cs typeface="Roboto"/>
                <a:sym typeface="Roboto"/>
              </a:rPr>
              <a:t>  2024</a:t>
            </a:r>
            <a:endParaRPr b="1"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8" name="Google Shape;158;p20"/>
          <p:cNvSpPr txBox="1"/>
          <p:nvPr/>
        </p:nvSpPr>
        <p:spPr>
          <a:xfrm>
            <a:off x="4567075" y="3012900"/>
            <a:ext cx="1746900" cy="53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Roboto"/>
                <a:ea typeface="Roboto"/>
                <a:cs typeface="Roboto"/>
                <a:sym typeface="Roboto"/>
              </a:rPr>
              <a:t>AdoptOpenJDK 11 EOL</a:t>
            </a:r>
            <a:endParaRPr sz="1200">
              <a:latin typeface="Roboto"/>
              <a:ea typeface="Roboto"/>
              <a:cs typeface="Roboto"/>
              <a:sym typeface="Roboto"/>
            </a:endParaRPr>
          </a:p>
          <a:p>
            <a:pPr indent="0" lvl="0" marL="0" rtl="0" algn="l">
              <a:lnSpc>
                <a:spcPct val="115000"/>
              </a:lnSpc>
              <a:spcBef>
                <a:spcPts val="1600"/>
              </a:spcBef>
              <a:spcAft>
                <a:spcPts val="1600"/>
              </a:spcAft>
              <a:buNone/>
            </a:pPr>
            <a:r>
              <a:t/>
            </a:r>
            <a:endParaRPr b="1" sz="1200">
              <a:latin typeface="Roboto"/>
              <a:ea typeface="Roboto"/>
              <a:cs typeface="Roboto"/>
              <a:sym typeface="Roboto"/>
            </a:endParaRPr>
          </a:p>
        </p:txBody>
      </p:sp>
      <p:sp>
        <p:nvSpPr>
          <p:cNvPr id="159" name="Google Shape;159;p20"/>
          <p:cNvSpPr txBox="1"/>
          <p:nvPr/>
        </p:nvSpPr>
        <p:spPr>
          <a:xfrm>
            <a:off x="847725" y="3750550"/>
            <a:ext cx="3777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3"/>
              </a:rPr>
              <a:t>https://adoptopenjdk.net/support.html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moving to Java 11 is good for you</a:t>
            </a:r>
            <a:endParaRPr/>
          </a:p>
        </p:txBody>
      </p:sp>
      <p:sp>
        <p:nvSpPr>
          <p:cNvPr id="165" name="Google Shape;165;p21"/>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Non-comprehensive list of reasons why upgrading is good:</a:t>
            </a:r>
            <a:endParaRPr/>
          </a:p>
          <a:p>
            <a:pPr indent="-342900" lvl="0" marL="457200" rtl="0" algn="l">
              <a:spcBef>
                <a:spcPts val="1200"/>
              </a:spcBef>
              <a:spcAft>
                <a:spcPts val="0"/>
              </a:spcAft>
              <a:buSzPts val="1800"/>
              <a:buChar char="●"/>
            </a:pPr>
            <a:r>
              <a:rPr lang="en"/>
              <a:t>Language improvements</a:t>
            </a:r>
            <a:endParaRPr/>
          </a:p>
          <a:p>
            <a:pPr indent="-342900" lvl="0" marL="457200" rtl="0" algn="l">
              <a:spcBef>
                <a:spcPts val="0"/>
              </a:spcBef>
              <a:spcAft>
                <a:spcPts val="0"/>
              </a:spcAft>
              <a:buSzPts val="1800"/>
              <a:buChar char="●"/>
            </a:pPr>
            <a:r>
              <a:rPr lang="en"/>
              <a:t>Standard library improvements</a:t>
            </a:r>
            <a:endParaRPr/>
          </a:p>
          <a:p>
            <a:pPr indent="-342900" lvl="0" marL="457200" rtl="0" algn="l">
              <a:spcBef>
                <a:spcPts val="0"/>
              </a:spcBef>
              <a:spcAft>
                <a:spcPts val="0"/>
              </a:spcAft>
              <a:buSzPts val="1800"/>
              <a:buChar char="●"/>
            </a:pPr>
            <a:r>
              <a:rPr lang="en"/>
              <a:t>Performance improvements</a:t>
            </a:r>
            <a:endParaRPr/>
          </a:p>
          <a:p>
            <a:pPr indent="-342900" lvl="0" marL="457200" rtl="0" algn="l">
              <a:spcBef>
                <a:spcPts val="0"/>
              </a:spcBef>
              <a:spcAft>
                <a:spcPts val="0"/>
              </a:spcAft>
              <a:buSzPts val="1800"/>
              <a:buChar char="●"/>
            </a:pPr>
            <a:r>
              <a:rPr lang="en"/>
              <a:t>Standardized module system</a:t>
            </a:r>
            <a:endParaRPr/>
          </a:p>
          <a:p>
            <a:pPr indent="-342900" lvl="0" marL="457200" rtl="0" algn="l">
              <a:spcBef>
                <a:spcPts val="0"/>
              </a:spcBef>
              <a:spcAft>
                <a:spcPts val="0"/>
              </a:spcAft>
              <a:buSzPts val="1800"/>
              <a:buChar char="●"/>
            </a:pPr>
            <a:r>
              <a:rPr lang="en"/>
              <a:t>Preparing for Java 17</a:t>
            </a:r>
            <a:endParaRPr/>
          </a:p>
          <a:p>
            <a:pPr indent="-342900" lvl="0" marL="457200" rtl="0" algn="l">
              <a:spcBef>
                <a:spcPts val="0"/>
              </a:spcBef>
              <a:spcAft>
                <a:spcPts val="0"/>
              </a:spcAft>
              <a:buSzPts val="1800"/>
              <a:buChar char="●"/>
            </a:pPr>
            <a:r>
              <a:rPr lang="en"/>
              <a:t>Java 8 will not last forever</a:t>
            </a:r>
            <a:endParaRPr/>
          </a:p>
        </p:txBody>
      </p:sp>
      <p:pic>
        <p:nvPicPr>
          <p:cNvPr id="166" name="Google Shape;166;p21"/>
          <p:cNvPicPr preferRelativeResize="0"/>
          <p:nvPr/>
        </p:nvPicPr>
        <p:blipFill>
          <a:blip r:embed="rId3">
            <a:alphaModFix/>
          </a:blip>
          <a:stretch>
            <a:fillRect/>
          </a:stretch>
        </p:blipFill>
        <p:spPr>
          <a:xfrm rot="302405">
            <a:off x="8653230" y="4225501"/>
            <a:ext cx="422017" cy="81997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Language improvements</a:t>
            </a:r>
            <a:endParaRPr/>
          </a:p>
        </p:txBody>
      </p:sp>
      <p:sp>
        <p:nvSpPr>
          <p:cNvPr id="172" name="Google Shape;172;p22"/>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Improved type inference (“var type”, empty diamond in more places)</a:t>
            </a:r>
            <a:endParaRPr/>
          </a:p>
          <a:p>
            <a:pPr indent="0" lvl="0" marL="457200" rtl="0" algn="l">
              <a:spcBef>
                <a:spcPts val="1200"/>
              </a:spcBef>
              <a:spcAft>
                <a:spcPts val="0"/>
              </a:spcAft>
              <a:buNone/>
            </a:pPr>
            <a:r>
              <a:rPr b="0" lang="en" sz="1100">
                <a:solidFill>
                  <a:srgbClr val="0033B3"/>
                </a:solidFill>
                <a:highlight>
                  <a:srgbClr val="FFFFFF"/>
                </a:highlight>
                <a:latin typeface="Roboto Mono"/>
                <a:ea typeface="Roboto Mono"/>
                <a:cs typeface="Roboto Mono"/>
                <a:sym typeface="Roboto Mono"/>
              </a:rPr>
              <a:t>var </a:t>
            </a:r>
            <a:r>
              <a:rPr b="0" lang="en" sz="1100">
                <a:highlight>
                  <a:srgbClr val="FFFFFF"/>
                </a:highlight>
                <a:latin typeface="Roboto Mono"/>
                <a:ea typeface="Roboto Mono"/>
                <a:cs typeface="Roboto Mono"/>
                <a:sym typeface="Roboto Mono"/>
              </a:rPr>
              <a:t>data </a:t>
            </a:r>
            <a:r>
              <a:rPr b="0" lang="en" sz="1100">
                <a:solidFill>
                  <a:srgbClr val="080808"/>
                </a:solidFill>
                <a:highlight>
                  <a:srgbClr val="FFFFFF"/>
                </a:highlight>
                <a:latin typeface="Roboto Mono"/>
                <a:ea typeface="Roboto Mono"/>
                <a:cs typeface="Roboto Mono"/>
                <a:sym typeface="Roboto Mono"/>
              </a:rPr>
              <a:t>= </a:t>
            </a:r>
            <a:r>
              <a:rPr b="0" lang="en" sz="1100">
                <a:solidFill>
                  <a:srgbClr val="0033B3"/>
                </a:solidFill>
                <a:highlight>
                  <a:srgbClr val="FFFFFF"/>
                </a:highlight>
                <a:latin typeface="Roboto Mono"/>
                <a:ea typeface="Roboto Mono"/>
                <a:cs typeface="Roboto Mono"/>
                <a:sym typeface="Roboto Mono"/>
              </a:rPr>
              <a:t>new </a:t>
            </a:r>
            <a:r>
              <a:rPr b="0" lang="en" sz="1100">
                <a:solidFill>
                  <a:srgbClr val="080808"/>
                </a:solidFill>
                <a:highlight>
                  <a:srgbClr val="FFFFFF"/>
                </a:highlight>
                <a:latin typeface="Roboto Mono"/>
                <a:ea typeface="Roboto Mono"/>
                <a:cs typeface="Roboto Mono"/>
                <a:sym typeface="Roboto Mono"/>
              </a:rPr>
              <a:t>HashMap&lt;</a:t>
            </a:r>
            <a:r>
              <a:rPr b="0" lang="en" sz="1100">
                <a:highlight>
                  <a:srgbClr val="FFFFFF"/>
                </a:highlight>
                <a:latin typeface="Roboto Mono"/>
                <a:ea typeface="Roboto Mono"/>
                <a:cs typeface="Roboto Mono"/>
                <a:sym typeface="Roboto Mono"/>
              </a:rPr>
              <a:t>String</a:t>
            </a:r>
            <a:r>
              <a:rPr b="0" lang="en" sz="1100">
                <a:solidFill>
                  <a:srgbClr val="080808"/>
                </a:solidFill>
                <a:highlight>
                  <a:srgbClr val="FFFFFF"/>
                </a:highlight>
                <a:latin typeface="Roboto Mono"/>
                <a:ea typeface="Roboto Mono"/>
                <a:cs typeface="Roboto Mono"/>
                <a:sym typeface="Roboto Mono"/>
              </a:rPr>
              <a:t>, </a:t>
            </a:r>
            <a:r>
              <a:rPr b="0" lang="en" sz="1100">
                <a:highlight>
                  <a:srgbClr val="FFFFFF"/>
                </a:highlight>
                <a:latin typeface="Roboto Mono"/>
                <a:ea typeface="Roboto Mono"/>
                <a:cs typeface="Roboto Mono"/>
                <a:sym typeface="Roboto Mono"/>
              </a:rPr>
              <a:t>Integer</a:t>
            </a:r>
            <a:r>
              <a:rPr b="0" lang="en" sz="1100">
                <a:solidFill>
                  <a:srgbClr val="080808"/>
                </a:solidFill>
                <a:highlight>
                  <a:srgbClr val="FFFFFF"/>
                </a:highlight>
                <a:latin typeface="Roboto Mono"/>
                <a:ea typeface="Roboto Mono"/>
                <a:cs typeface="Roboto Mono"/>
                <a:sym typeface="Roboto Mono"/>
              </a:rPr>
              <a:t>&gt;();</a:t>
            </a:r>
            <a:endParaRPr b="0" sz="1100">
              <a:solidFill>
                <a:srgbClr val="080808"/>
              </a:solidFill>
              <a:highlight>
                <a:srgbClr val="FFFFFF"/>
              </a:highlight>
              <a:latin typeface="Roboto Mono"/>
              <a:ea typeface="Roboto Mono"/>
              <a:cs typeface="Roboto Mono"/>
              <a:sym typeface="Roboto Mono"/>
            </a:endParaRPr>
          </a:p>
          <a:p>
            <a:pPr indent="0" lvl="0" marL="457200" rtl="0" algn="l">
              <a:spcBef>
                <a:spcPts val="1200"/>
              </a:spcBef>
              <a:spcAft>
                <a:spcPts val="0"/>
              </a:spcAft>
              <a:buNone/>
            </a:pPr>
            <a:r>
              <a:t/>
            </a:r>
            <a:endParaRPr b="0" sz="1100">
              <a:solidFill>
                <a:srgbClr val="080808"/>
              </a:solidFill>
              <a:highlight>
                <a:srgbClr val="FFFFFF"/>
              </a:highlight>
              <a:latin typeface="Roboto Mono"/>
              <a:ea typeface="Roboto Mono"/>
              <a:cs typeface="Roboto Mono"/>
              <a:sym typeface="Roboto Mono"/>
            </a:endParaRPr>
          </a:p>
          <a:p>
            <a:pPr indent="-334327" lvl="0" marL="457200" rtl="0" algn="l">
              <a:spcBef>
                <a:spcPts val="1200"/>
              </a:spcBef>
              <a:spcAft>
                <a:spcPts val="0"/>
              </a:spcAft>
              <a:buSzPct val="100000"/>
              <a:buChar char="●"/>
            </a:pPr>
            <a:r>
              <a:rPr lang="en"/>
              <a:t>Allow effectively-final variables in try-with-resources</a:t>
            </a:r>
            <a:endParaRPr/>
          </a:p>
          <a:p>
            <a:pPr indent="0" lvl="0" marL="457200" rtl="0" algn="l">
              <a:spcBef>
                <a:spcPts val="1200"/>
              </a:spcBef>
              <a:spcAft>
                <a:spcPts val="0"/>
              </a:spcAft>
              <a:buNone/>
            </a:pPr>
            <a:r>
              <a:rPr b="0" lang="en" sz="1100">
                <a:solidFill>
                  <a:srgbClr val="0033B3"/>
                </a:solidFill>
                <a:highlight>
                  <a:srgbClr val="FFFFFF"/>
                </a:highlight>
                <a:latin typeface="Roboto Mono"/>
                <a:ea typeface="Roboto Mono"/>
                <a:cs typeface="Roboto Mono"/>
                <a:sym typeface="Roboto Mono"/>
              </a:rPr>
              <a:t>try </a:t>
            </a:r>
            <a:r>
              <a:rPr b="0" lang="en" sz="1100">
                <a:solidFill>
                  <a:srgbClr val="080808"/>
                </a:solidFill>
                <a:highlight>
                  <a:srgbClr val="FFFFFF"/>
                </a:highlight>
                <a:latin typeface="Roboto Mono"/>
                <a:ea typeface="Roboto Mono"/>
                <a:cs typeface="Roboto Mono"/>
                <a:sym typeface="Roboto Mono"/>
              </a:rPr>
              <a:t>(is) { </a:t>
            </a:r>
            <a:r>
              <a:rPr b="0" i="1" lang="en" sz="1100">
                <a:solidFill>
                  <a:srgbClr val="8C8C8C"/>
                </a:solidFill>
                <a:highlight>
                  <a:srgbClr val="FFFFFF"/>
                </a:highlight>
                <a:latin typeface="Roboto Mono"/>
                <a:ea typeface="Roboto Mono"/>
                <a:cs typeface="Roboto Mono"/>
                <a:sym typeface="Roboto Mono"/>
              </a:rPr>
              <a:t>/* Do stuff with is */ </a:t>
            </a:r>
            <a:r>
              <a:rPr b="0" lang="en" sz="1100">
                <a:solidFill>
                  <a:srgbClr val="080808"/>
                </a:solidFill>
                <a:highlight>
                  <a:srgbClr val="FFFFFF"/>
                </a:highlight>
                <a:latin typeface="Roboto Mono"/>
                <a:ea typeface="Roboto Mono"/>
                <a:cs typeface="Roboto Mono"/>
                <a:sym typeface="Roboto Mono"/>
              </a:rPr>
              <a:t>}</a:t>
            </a:r>
            <a:endParaRPr b="0" sz="1100">
              <a:solidFill>
                <a:srgbClr val="080808"/>
              </a:solidFill>
              <a:highlight>
                <a:srgbClr val="FFFFFF"/>
              </a:highlight>
              <a:latin typeface="Roboto Mono"/>
              <a:ea typeface="Roboto Mono"/>
              <a:cs typeface="Roboto Mono"/>
              <a:sym typeface="Roboto Mono"/>
            </a:endParaRPr>
          </a:p>
          <a:p>
            <a:pPr indent="0" lvl="0" marL="457200" rtl="0" algn="l">
              <a:spcBef>
                <a:spcPts val="1200"/>
              </a:spcBef>
              <a:spcAft>
                <a:spcPts val="0"/>
              </a:spcAft>
              <a:buNone/>
            </a:pPr>
            <a:r>
              <a:t/>
            </a:r>
            <a:endParaRPr b="0" sz="1100">
              <a:solidFill>
                <a:srgbClr val="080808"/>
              </a:solidFill>
              <a:highlight>
                <a:srgbClr val="FFFFFF"/>
              </a:highlight>
              <a:latin typeface="Roboto Mono"/>
              <a:ea typeface="Roboto Mono"/>
              <a:cs typeface="Roboto Mono"/>
              <a:sym typeface="Roboto Mono"/>
            </a:endParaRPr>
          </a:p>
          <a:p>
            <a:pPr indent="-334327" lvl="0" marL="457200" rtl="0" algn="l">
              <a:spcBef>
                <a:spcPts val="1200"/>
              </a:spcBef>
              <a:spcAft>
                <a:spcPts val="0"/>
              </a:spcAft>
              <a:buSzPct val="100000"/>
              <a:buChar char="●"/>
            </a:pPr>
            <a:r>
              <a:rPr lang="en"/>
              <a:t>Private methods in interfaces (for code reuse in default methods)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Standard library improvements</a:t>
            </a:r>
            <a:endParaRPr/>
          </a:p>
        </p:txBody>
      </p:sp>
      <p:sp>
        <p:nvSpPr>
          <p:cNvPr id="178" name="Google Shape;178;p23"/>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Convenience factory methods for immutable collections</a:t>
            </a:r>
            <a:endParaRPr/>
          </a:p>
          <a:p>
            <a:pPr indent="-317500" lvl="1" marL="914400" rtl="0" algn="l">
              <a:spcBef>
                <a:spcPts val="0"/>
              </a:spcBef>
              <a:spcAft>
                <a:spcPts val="0"/>
              </a:spcAft>
              <a:buSzPts val="1400"/>
              <a:buChar char="○"/>
            </a:pPr>
            <a:r>
              <a:rPr lang="en"/>
              <a:t>Very similar to Guava: </a:t>
            </a:r>
            <a:r>
              <a:rPr lang="en" sz="1100">
                <a:highlight>
                  <a:schemeClr val="lt1"/>
                </a:highlight>
                <a:latin typeface="Roboto Mono"/>
                <a:ea typeface="Roboto Mono"/>
                <a:cs typeface="Roboto Mono"/>
                <a:sym typeface="Roboto Mono"/>
              </a:rPr>
              <a:t>List</a:t>
            </a:r>
            <a:r>
              <a:rPr lang="en" sz="1100">
                <a:solidFill>
                  <a:srgbClr val="080808"/>
                </a:solidFill>
                <a:highlight>
                  <a:schemeClr val="lt1"/>
                </a:highlight>
                <a:latin typeface="Roboto Mono"/>
                <a:ea typeface="Roboto Mono"/>
                <a:cs typeface="Roboto Mono"/>
                <a:sym typeface="Roboto Mono"/>
              </a:rPr>
              <a:t>.</a:t>
            </a:r>
            <a:r>
              <a:rPr i="1" lang="en" sz="1100">
                <a:solidFill>
                  <a:srgbClr val="080808"/>
                </a:solidFill>
                <a:highlight>
                  <a:schemeClr val="lt1"/>
                </a:highlight>
                <a:latin typeface="Roboto Mono"/>
                <a:ea typeface="Roboto Mono"/>
                <a:cs typeface="Roboto Mono"/>
                <a:sym typeface="Roboto Mono"/>
              </a:rPr>
              <a:t>of</a:t>
            </a:r>
            <a:r>
              <a:rPr lang="en" sz="1100">
                <a:solidFill>
                  <a:srgbClr val="080808"/>
                </a:solidFill>
                <a:highlight>
                  <a:schemeClr val="lt1"/>
                </a:highlight>
                <a:latin typeface="Roboto Mono"/>
                <a:ea typeface="Roboto Mono"/>
                <a:cs typeface="Roboto Mono"/>
                <a:sym typeface="Roboto Mono"/>
              </a:rPr>
              <a:t>() </a:t>
            </a:r>
            <a:r>
              <a:rPr lang="en" sz="1100">
                <a:highlight>
                  <a:schemeClr val="lt1"/>
                </a:highlight>
                <a:latin typeface="Roboto Mono"/>
                <a:ea typeface="Roboto Mono"/>
                <a:cs typeface="Roboto Mono"/>
                <a:sym typeface="Roboto Mono"/>
              </a:rPr>
              <a:t>Set</a:t>
            </a:r>
            <a:r>
              <a:rPr lang="en" sz="1100">
                <a:solidFill>
                  <a:srgbClr val="080808"/>
                </a:solidFill>
                <a:highlight>
                  <a:schemeClr val="lt1"/>
                </a:highlight>
                <a:latin typeface="Roboto Mono"/>
                <a:ea typeface="Roboto Mono"/>
                <a:cs typeface="Roboto Mono"/>
                <a:sym typeface="Roboto Mono"/>
              </a:rPr>
              <a:t>.</a:t>
            </a:r>
            <a:r>
              <a:rPr i="1" lang="en" sz="1100">
                <a:solidFill>
                  <a:srgbClr val="080808"/>
                </a:solidFill>
                <a:highlight>
                  <a:schemeClr val="lt1"/>
                </a:highlight>
                <a:latin typeface="Roboto Mono"/>
                <a:ea typeface="Roboto Mono"/>
                <a:cs typeface="Roboto Mono"/>
                <a:sym typeface="Roboto Mono"/>
              </a:rPr>
              <a:t>of</a:t>
            </a:r>
            <a:r>
              <a:rPr lang="en" sz="1100">
                <a:solidFill>
                  <a:srgbClr val="080808"/>
                </a:solidFill>
                <a:highlight>
                  <a:schemeClr val="lt1"/>
                </a:highlight>
                <a:latin typeface="Roboto Mono"/>
                <a:ea typeface="Roboto Mono"/>
                <a:cs typeface="Roboto Mono"/>
                <a:sym typeface="Roboto Mono"/>
              </a:rPr>
              <a:t>() Map.of()</a:t>
            </a:r>
            <a:endParaRPr sz="1100">
              <a:solidFill>
                <a:srgbClr val="080808"/>
              </a:solidFill>
              <a:highlight>
                <a:schemeClr val="lt1"/>
              </a:highlight>
              <a:latin typeface="Roboto Mono"/>
              <a:ea typeface="Roboto Mono"/>
              <a:cs typeface="Roboto Mono"/>
              <a:sym typeface="Roboto Mono"/>
            </a:endParaRPr>
          </a:p>
          <a:p>
            <a:pPr indent="-298450" lvl="0" marL="457200" rtl="0" algn="l">
              <a:spcBef>
                <a:spcPts val="0"/>
              </a:spcBef>
              <a:spcAft>
                <a:spcPts val="0"/>
              </a:spcAft>
              <a:buClr>
                <a:srgbClr val="080808"/>
              </a:buClr>
              <a:buSzPts val="1100"/>
              <a:buFont typeface="Roboto Mono"/>
              <a:buChar char="●"/>
            </a:pPr>
            <a:r>
              <a:rPr lang="en"/>
              <a:t>Standard pub-sub framework</a:t>
            </a:r>
            <a:endParaRPr/>
          </a:p>
          <a:p>
            <a:pPr indent="-317500" lvl="1" marL="914400" rtl="0" algn="l">
              <a:spcBef>
                <a:spcPts val="0"/>
              </a:spcBef>
              <a:spcAft>
                <a:spcPts val="0"/>
              </a:spcAft>
              <a:buSzPts val="1400"/>
              <a:buChar char="○"/>
            </a:pPr>
            <a:r>
              <a:rPr lang="en"/>
              <a:t>Semantic equivalent of Reactive </a:t>
            </a:r>
            <a:r>
              <a:rPr lang="en"/>
              <a:t>Streams</a:t>
            </a:r>
            <a:r>
              <a:rPr lang="en"/>
              <a:t> in standard library: </a:t>
            </a:r>
            <a:r>
              <a:rPr lang="en" sz="1100">
                <a:latin typeface="Roboto Mono"/>
                <a:ea typeface="Roboto Mono"/>
                <a:cs typeface="Roboto Mono"/>
                <a:sym typeface="Roboto Mono"/>
              </a:rPr>
              <a:t>java.util.concurrent.Flow</a:t>
            </a:r>
            <a:endParaRPr sz="1100">
              <a:latin typeface="Roboto Mono"/>
              <a:ea typeface="Roboto Mono"/>
              <a:cs typeface="Roboto Mono"/>
              <a:sym typeface="Roboto Mono"/>
            </a:endParaRPr>
          </a:p>
          <a:p>
            <a:pPr indent="-298450" lvl="0" marL="457200" rtl="0" algn="l">
              <a:spcBef>
                <a:spcPts val="0"/>
              </a:spcBef>
              <a:spcAft>
                <a:spcPts val="0"/>
              </a:spcAft>
              <a:buSzPts val="1100"/>
              <a:buFont typeface="Roboto Mono"/>
              <a:buChar char="●"/>
            </a:pPr>
            <a:r>
              <a:rPr lang="en"/>
              <a:t>Improvements to </a:t>
            </a:r>
            <a:r>
              <a:rPr b="0" lang="en">
                <a:latin typeface="Roboto Mono"/>
                <a:ea typeface="Roboto Mono"/>
                <a:cs typeface="Roboto Mono"/>
                <a:sym typeface="Roboto Mono"/>
              </a:rPr>
              <a:t>Optional</a:t>
            </a:r>
            <a:endParaRPr b="0">
              <a:latin typeface="Roboto Mono"/>
              <a:ea typeface="Roboto Mono"/>
              <a:cs typeface="Roboto Mono"/>
              <a:sym typeface="Roboto Mono"/>
            </a:endParaRPr>
          </a:p>
          <a:p>
            <a:pPr indent="-317500" lvl="1" marL="914400" rtl="0" algn="l">
              <a:spcBef>
                <a:spcPts val="0"/>
              </a:spcBef>
              <a:spcAft>
                <a:spcPts val="0"/>
              </a:spcAft>
              <a:buSzPts val="1400"/>
              <a:buFont typeface="Roboto Mono"/>
              <a:buChar char="○"/>
            </a:pPr>
            <a:r>
              <a:rPr lang="en"/>
              <a:t>Interoperability with </a:t>
            </a:r>
            <a:r>
              <a:rPr lang="en" sz="1100">
                <a:latin typeface="Roboto Mono"/>
                <a:ea typeface="Roboto Mono"/>
                <a:cs typeface="Roboto Mono"/>
                <a:sym typeface="Roboto Mono"/>
              </a:rPr>
              <a:t>Stream</a:t>
            </a:r>
            <a:endParaRPr sz="1100">
              <a:latin typeface="Roboto Mono"/>
              <a:ea typeface="Roboto Mono"/>
              <a:cs typeface="Roboto Mono"/>
              <a:sym typeface="Roboto Mono"/>
            </a:endParaRPr>
          </a:p>
          <a:p>
            <a:pPr indent="-298450" lvl="1" marL="914400" rtl="0" algn="l">
              <a:spcBef>
                <a:spcPts val="0"/>
              </a:spcBef>
              <a:spcAft>
                <a:spcPts val="0"/>
              </a:spcAft>
              <a:buSzPts val="1100"/>
              <a:buFont typeface="Roboto Mono"/>
              <a:buChar char="○"/>
            </a:pPr>
            <a:r>
              <a:rPr lang="en"/>
              <a:t>Better mapping constructs when staying Optional </a:t>
            </a:r>
            <a:r>
              <a:rPr lang="en" sz="1100">
                <a:latin typeface="Roboto Mono"/>
                <a:ea typeface="Roboto Mono"/>
                <a:cs typeface="Roboto Mono"/>
                <a:sym typeface="Roboto Mono"/>
              </a:rPr>
              <a:t>or(), map()</a:t>
            </a:r>
            <a:r>
              <a:rPr lang="en"/>
              <a:t> </a:t>
            </a:r>
            <a:endParaRPr b="1" sz="1100"/>
          </a:p>
          <a:p>
            <a:pPr indent="-342900" lvl="0" marL="457200" rtl="0" algn="l">
              <a:spcBef>
                <a:spcPts val="0"/>
              </a:spcBef>
              <a:spcAft>
                <a:spcPts val="0"/>
              </a:spcAft>
              <a:buSzPts val="1800"/>
              <a:buChar char="●"/>
            </a:pPr>
            <a:r>
              <a:rPr lang="en"/>
              <a:t>Standard HTTP client</a:t>
            </a:r>
            <a:endParaRPr/>
          </a:p>
          <a:p>
            <a:pPr indent="-342900" lvl="0" marL="457200" rtl="0" algn="l">
              <a:spcBef>
                <a:spcPts val="0"/>
              </a:spcBef>
              <a:spcAft>
                <a:spcPts val="0"/>
              </a:spcAft>
              <a:buSzPts val="1800"/>
              <a:buChar char="●"/>
            </a:pPr>
            <a:r>
              <a:rPr lang="en"/>
              <a:t>Improvements to </a:t>
            </a:r>
            <a:r>
              <a:rPr b="0" lang="en">
                <a:latin typeface="Roboto Mono"/>
                <a:ea typeface="Roboto Mono"/>
                <a:cs typeface="Roboto Mono"/>
                <a:sym typeface="Roboto Mono"/>
              </a:rPr>
              <a:t>String</a:t>
            </a:r>
            <a:endParaRPr b="0">
              <a:latin typeface="Roboto Mono"/>
              <a:ea typeface="Roboto Mono"/>
              <a:cs typeface="Roboto Mono"/>
              <a:sym typeface="Roboto Mono"/>
            </a:endParaRPr>
          </a:p>
          <a:p>
            <a:pPr indent="-317500" lvl="1" marL="914400" rtl="0" algn="l">
              <a:spcBef>
                <a:spcPts val="0"/>
              </a:spcBef>
              <a:spcAft>
                <a:spcPts val="0"/>
              </a:spcAft>
              <a:buSzPts val="1400"/>
              <a:buChar char="○"/>
            </a:pPr>
            <a:r>
              <a:rPr lang="en"/>
              <a:t>New built-in methods: </a:t>
            </a:r>
            <a:r>
              <a:rPr lang="en" sz="1100">
                <a:latin typeface="Roboto Mono"/>
                <a:ea typeface="Roboto Mono"/>
                <a:cs typeface="Roboto Mono"/>
                <a:sym typeface="Roboto Mono"/>
              </a:rPr>
              <a:t>isBlank()</a:t>
            </a:r>
            <a:r>
              <a:rPr lang="en"/>
              <a:t>, </a:t>
            </a:r>
            <a:r>
              <a:rPr lang="en" sz="1100">
                <a:latin typeface="Roboto Mono"/>
                <a:ea typeface="Roboto Mono"/>
                <a:cs typeface="Roboto Mono"/>
                <a:sym typeface="Roboto Mono"/>
              </a:rPr>
              <a:t>lines()</a:t>
            </a:r>
            <a:r>
              <a:rPr lang="en"/>
              <a:t>, </a:t>
            </a:r>
            <a:r>
              <a:rPr lang="en" sz="1100">
                <a:latin typeface="Roboto Mono"/>
                <a:ea typeface="Roboto Mono"/>
                <a:cs typeface="Roboto Mono"/>
                <a:sym typeface="Roboto Mono"/>
              </a:rPr>
              <a:t>strip()</a:t>
            </a:r>
            <a:r>
              <a:rPr lang="en"/>
              <a:t>, </a:t>
            </a:r>
            <a:r>
              <a:rPr lang="en" sz="1100">
                <a:latin typeface="Roboto Mono"/>
                <a:ea typeface="Roboto Mono"/>
                <a:cs typeface="Roboto Mono"/>
                <a:sym typeface="Roboto Mono"/>
              </a:rPr>
              <a:t>stripLeading()</a:t>
            </a:r>
            <a:r>
              <a:rPr lang="en"/>
              <a:t>, </a:t>
            </a:r>
            <a:r>
              <a:rPr lang="en" sz="1100">
                <a:latin typeface="Roboto Mono"/>
                <a:ea typeface="Roboto Mono"/>
                <a:cs typeface="Roboto Mono"/>
                <a:sym typeface="Roboto Mono"/>
              </a:rPr>
              <a:t>stripTrailing()</a:t>
            </a:r>
            <a:r>
              <a:rPr lang="en"/>
              <a:t>, </a:t>
            </a:r>
            <a:r>
              <a:rPr lang="en" sz="1100">
                <a:latin typeface="Roboto Mono"/>
                <a:ea typeface="Roboto Mono"/>
                <a:cs typeface="Roboto Mono"/>
                <a:sym typeface="Roboto Mono"/>
              </a:rPr>
              <a:t>repeat()</a:t>
            </a:r>
            <a:endParaRPr sz="1100">
              <a:latin typeface="Verizon NHG DS"/>
              <a:ea typeface="Verizon NHG DS"/>
              <a:cs typeface="Verizon NHG DS"/>
              <a:sym typeface="Verizon NHG D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Performance improvements</a:t>
            </a:r>
            <a:endParaRPr/>
          </a:p>
        </p:txBody>
      </p:sp>
      <p:sp>
        <p:nvSpPr>
          <p:cNvPr id="184" name="Google Shape;184;p2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Overall JIT improvements</a:t>
            </a:r>
            <a:endParaRPr/>
          </a:p>
          <a:p>
            <a:pPr indent="-342900" lvl="0" marL="457200" rtl="0" algn="l">
              <a:spcBef>
                <a:spcPts val="0"/>
              </a:spcBef>
              <a:spcAft>
                <a:spcPts val="0"/>
              </a:spcAft>
              <a:buSzPts val="1800"/>
              <a:buChar char="●"/>
            </a:pPr>
            <a:r>
              <a:rPr lang="en"/>
              <a:t>Library improvements to commonly used functionality</a:t>
            </a:r>
            <a:endParaRPr/>
          </a:p>
          <a:p>
            <a:pPr indent="-342900" lvl="0" marL="457200" rtl="0" algn="l">
              <a:spcBef>
                <a:spcPts val="0"/>
              </a:spcBef>
              <a:spcAft>
                <a:spcPts val="0"/>
              </a:spcAft>
              <a:buSzPts val="1800"/>
              <a:buChar char="●"/>
            </a:pPr>
            <a:r>
              <a:rPr lang="en"/>
              <a:t>G1GC improvements for CPU used and latency</a:t>
            </a:r>
            <a:endParaRPr/>
          </a:p>
          <a:p>
            <a:pPr indent="-342900" lvl="0" marL="457200" rtl="0" algn="l">
              <a:spcBef>
                <a:spcPts val="0"/>
              </a:spcBef>
              <a:spcAft>
                <a:spcPts val="0"/>
              </a:spcAft>
              <a:buSzPts val="1800"/>
              <a:buChar char="●"/>
            </a:pPr>
            <a:r>
              <a:rPr lang="en"/>
              <a:t>Compact strings for memory savings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5"/>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Standardized module system</a:t>
            </a:r>
            <a:endParaRPr/>
          </a:p>
        </p:txBody>
      </p:sp>
      <p:sp>
        <p:nvSpPr>
          <p:cNvPr id="190" name="Google Shape;190;p25"/>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Solving the infamous “JAR hell”:</a:t>
            </a:r>
            <a:endParaRPr/>
          </a:p>
          <a:p>
            <a:pPr indent="-317500" lvl="1" marL="914400" rtl="0" algn="l">
              <a:spcBef>
                <a:spcPts val="0"/>
              </a:spcBef>
              <a:spcAft>
                <a:spcPts val="0"/>
              </a:spcAft>
              <a:buSzPts val="1400"/>
              <a:buChar char="○"/>
            </a:pPr>
            <a:r>
              <a:rPr lang="en"/>
              <a:t>Dependency A requires X version 4.4.x</a:t>
            </a:r>
            <a:endParaRPr/>
          </a:p>
          <a:p>
            <a:pPr indent="-317500" lvl="1" marL="914400" rtl="0" algn="l">
              <a:spcBef>
                <a:spcPts val="0"/>
              </a:spcBef>
              <a:spcAft>
                <a:spcPts val="0"/>
              </a:spcAft>
              <a:buSzPts val="1400"/>
              <a:buChar char="○"/>
            </a:pPr>
            <a:r>
              <a:rPr lang="en"/>
              <a:t>Dependency B requires X version 4.5.x</a:t>
            </a:r>
            <a:endParaRPr/>
          </a:p>
          <a:p>
            <a:pPr indent="-317500" lvl="1" marL="914400" rtl="0" algn="l">
              <a:spcBef>
                <a:spcPts val="0"/>
              </a:spcBef>
              <a:spcAft>
                <a:spcPts val="0"/>
              </a:spcAft>
              <a:buSzPts val="1400"/>
              <a:buChar char="○"/>
            </a:pPr>
            <a:r>
              <a:rPr lang="en"/>
              <a:t>...and those versions are not ABI compatible</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Java Platform Module System (aka Project Jigsaw)</a:t>
            </a:r>
            <a:endParaRPr/>
          </a:p>
          <a:p>
            <a:pPr indent="-317500" lvl="1" marL="914400" rtl="0" algn="l">
              <a:spcBef>
                <a:spcPts val="0"/>
              </a:spcBef>
              <a:spcAft>
                <a:spcPts val="0"/>
              </a:spcAft>
              <a:buSzPts val="1400"/>
              <a:buChar char="○"/>
            </a:pPr>
            <a:r>
              <a:rPr lang="en"/>
              <a:t>Modules explicitly declare what they expose, rest is private in the classloader</a:t>
            </a:r>
            <a:endParaRPr/>
          </a:p>
          <a:p>
            <a:pPr indent="-317500" lvl="1" marL="914400" rtl="0" algn="l">
              <a:spcBef>
                <a:spcPts val="0"/>
              </a:spcBef>
              <a:spcAft>
                <a:spcPts val="0"/>
              </a:spcAft>
              <a:buSzPts val="1400"/>
              <a:buChar char="○"/>
            </a:pPr>
            <a:r>
              <a:rPr lang="en"/>
              <a:t>Opt-in, by default nothing changes</a:t>
            </a:r>
            <a:endParaRPr/>
          </a:p>
          <a:p>
            <a:pPr indent="-317500" lvl="1" marL="914400" rtl="0" algn="l">
              <a:spcBef>
                <a:spcPts val="0"/>
              </a:spcBef>
              <a:spcAft>
                <a:spcPts val="0"/>
              </a:spcAft>
              <a:buSzPts val="1400"/>
              <a:buChar char="○"/>
            </a:pPr>
            <a:r>
              <a:rPr lang="en"/>
              <a:t>Will be a while before everyone embraces it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Preparing for Java 17</a:t>
            </a:r>
            <a:endParaRPr/>
          </a:p>
        </p:txBody>
      </p:sp>
      <p:sp>
        <p:nvSpPr>
          <p:cNvPr id="196" name="Google Shape;196;p26"/>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40000" lnSpcReduction="20000"/>
          </a:bodyPr>
          <a:lstStyle/>
          <a:p>
            <a:pPr indent="-274320" lvl="0" marL="457200" rtl="0" algn="l">
              <a:spcBef>
                <a:spcPts val="0"/>
              </a:spcBef>
              <a:spcAft>
                <a:spcPts val="0"/>
              </a:spcAft>
              <a:buSzPct val="100000"/>
              <a:buChar char="●"/>
            </a:pPr>
            <a:r>
              <a:rPr lang="en"/>
              <a:t>Java 17 is the next LTS release after 11, with many exciting new enhancements:</a:t>
            </a:r>
            <a:endParaRPr/>
          </a:p>
          <a:p>
            <a:pPr indent="-264160" lvl="1" marL="914400" rtl="0" algn="l">
              <a:spcBef>
                <a:spcPts val="0"/>
              </a:spcBef>
              <a:spcAft>
                <a:spcPts val="0"/>
              </a:spcAft>
              <a:buSzPct val="100000"/>
              <a:buChar char="○"/>
            </a:pPr>
            <a:r>
              <a:rPr lang="en"/>
              <a:t>New low-latency garbage collectors: ZGC, Shenandoah</a:t>
            </a:r>
            <a:endParaRPr/>
          </a:p>
          <a:p>
            <a:pPr indent="-264160" lvl="1" marL="914400" rtl="0" algn="l">
              <a:spcBef>
                <a:spcPts val="0"/>
              </a:spcBef>
              <a:spcAft>
                <a:spcPts val="0"/>
              </a:spcAft>
              <a:buSzPct val="100000"/>
              <a:buChar char="○"/>
            </a:pPr>
            <a:r>
              <a:rPr lang="en"/>
              <a:t>Language improvements: switch expressions, text blocks, record classes, pattern matching instanceof</a:t>
            </a:r>
            <a:endParaRPr/>
          </a:p>
          <a:p>
            <a:pPr indent="-264160" lvl="1" marL="914400" rtl="0" algn="l">
              <a:spcBef>
                <a:spcPts val="0"/>
              </a:spcBef>
              <a:spcAft>
                <a:spcPts val="0"/>
              </a:spcAft>
              <a:buSzPct val="155555"/>
              <a:buChar char="○"/>
            </a:pPr>
            <a:r>
              <a:rPr lang="en"/>
              <a:t>Improved NullPointerExceptions: </a:t>
            </a:r>
            <a:r>
              <a:rPr lang="en" sz="800">
                <a:latin typeface="Roboto Mono"/>
                <a:ea typeface="Roboto Mono"/>
                <a:cs typeface="Roboto Mono"/>
                <a:sym typeface="Roboto Mono"/>
              </a:rPr>
              <a:t>java.lang.NullPointerException: Cannot read field "fish" because "foo.bar" is null</a:t>
            </a:r>
            <a:endParaRPr sz="900"/>
          </a:p>
          <a:p>
            <a:pPr indent="0" lvl="0" marL="0" rtl="0" algn="l">
              <a:spcBef>
                <a:spcPts val="1200"/>
              </a:spcBef>
              <a:spcAft>
                <a:spcPts val="0"/>
              </a:spcAft>
              <a:buNone/>
            </a:pPr>
            <a:r>
              <a:t/>
            </a:r>
            <a:endParaRPr b="0" sz="1100">
              <a:highlight>
                <a:schemeClr val="lt1"/>
              </a:highlight>
              <a:latin typeface="Roboto Mono"/>
              <a:ea typeface="Roboto Mono"/>
              <a:cs typeface="Roboto Mono"/>
              <a:sym typeface="Roboto Mono"/>
            </a:endParaRPr>
          </a:p>
          <a:p>
            <a:pPr indent="0" lvl="0" marL="0" rtl="0" algn="l">
              <a:spcBef>
                <a:spcPts val="1200"/>
              </a:spcBef>
              <a:spcAft>
                <a:spcPts val="0"/>
              </a:spcAft>
              <a:buNone/>
            </a:pPr>
            <a:r>
              <a:rPr b="0" lang="en" sz="800">
                <a:highlight>
                  <a:schemeClr val="lt1"/>
                </a:highlight>
                <a:latin typeface="Roboto Mono"/>
                <a:ea typeface="Roboto Mono"/>
                <a:cs typeface="Roboto Mono"/>
                <a:sym typeface="Roboto Mono"/>
              </a:rPr>
              <a:t>String errorMessage </a:t>
            </a:r>
            <a:r>
              <a:rPr b="0" lang="en" sz="800">
                <a:solidFill>
                  <a:srgbClr val="080808"/>
                </a:solidFill>
                <a:highlight>
                  <a:schemeClr val="lt1"/>
                </a:highlight>
                <a:latin typeface="Roboto Mono"/>
                <a:ea typeface="Roboto Mono"/>
                <a:cs typeface="Roboto Mono"/>
                <a:sym typeface="Roboto Mono"/>
              </a:rPr>
              <a:t>= </a:t>
            </a:r>
            <a:r>
              <a:rPr b="0" lang="en" sz="800">
                <a:solidFill>
                  <a:srgbClr val="067D17"/>
                </a:solidFill>
                <a:highlight>
                  <a:schemeClr val="lt1"/>
                </a:highlight>
                <a:latin typeface="Roboto Mono"/>
                <a:ea typeface="Roboto Mono"/>
                <a:cs typeface="Roboto Mono"/>
                <a:sym typeface="Roboto Mono"/>
              </a:rPr>
              <a:t>"""</a:t>
            </a:r>
            <a:endParaRPr b="0" sz="800">
              <a:solidFill>
                <a:srgbClr val="067D17"/>
              </a:solidFill>
              <a:highlight>
                <a:schemeClr val="lt1"/>
              </a:highlight>
              <a:latin typeface="Roboto Mono"/>
              <a:ea typeface="Roboto Mono"/>
              <a:cs typeface="Roboto Mono"/>
              <a:sym typeface="Roboto Mono"/>
            </a:endParaRPr>
          </a:p>
          <a:p>
            <a:pPr indent="0" lvl="0" marL="0" rtl="0" algn="l">
              <a:spcBef>
                <a:spcPts val="1200"/>
              </a:spcBef>
              <a:spcAft>
                <a:spcPts val="0"/>
              </a:spcAft>
              <a:buNone/>
            </a:pPr>
            <a:r>
              <a:rPr b="0" lang="en" sz="800">
                <a:solidFill>
                  <a:srgbClr val="067D17"/>
                </a:solidFill>
                <a:highlight>
                  <a:schemeClr val="lt1"/>
                </a:highlight>
                <a:latin typeface="Roboto Mono"/>
                <a:ea typeface="Roboto Mono"/>
                <a:cs typeface="Roboto Mono"/>
                <a:sym typeface="Roboto Mono"/>
              </a:rPr>
              <a:t>   This is a very long, multi-line, error message.</a:t>
            </a:r>
            <a:endParaRPr b="0" sz="800">
              <a:solidFill>
                <a:srgbClr val="067D17"/>
              </a:solidFill>
              <a:highlight>
                <a:schemeClr val="lt1"/>
              </a:highlight>
              <a:latin typeface="Roboto Mono"/>
              <a:ea typeface="Roboto Mono"/>
              <a:cs typeface="Roboto Mono"/>
              <a:sym typeface="Roboto Mono"/>
            </a:endParaRPr>
          </a:p>
          <a:p>
            <a:pPr indent="0" lvl="0" marL="0" rtl="0" algn="l">
              <a:spcBef>
                <a:spcPts val="1200"/>
              </a:spcBef>
              <a:spcAft>
                <a:spcPts val="0"/>
              </a:spcAft>
              <a:buNone/>
            </a:pPr>
            <a:r>
              <a:rPr b="0" lang="en" sz="800">
                <a:solidFill>
                  <a:srgbClr val="067D17"/>
                </a:solidFill>
                <a:highlight>
                  <a:schemeClr val="lt1"/>
                </a:highlight>
                <a:latin typeface="Roboto Mono"/>
                <a:ea typeface="Roboto Mono"/>
                <a:cs typeface="Roboto Mono"/>
                <a:sym typeface="Roboto Mono"/>
              </a:rPr>
              <a:t>   Note that the initial indentation is removed, similar to other languages that support text blocks.</a:t>
            </a:r>
            <a:endParaRPr b="0" sz="800">
              <a:solidFill>
                <a:srgbClr val="067D17"/>
              </a:solidFill>
              <a:highlight>
                <a:schemeClr val="lt1"/>
              </a:highlight>
              <a:latin typeface="Roboto Mono"/>
              <a:ea typeface="Roboto Mono"/>
              <a:cs typeface="Roboto Mono"/>
              <a:sym typeface="Roboto Mono"/>
            </a:endParaRPr>
          </a:p>
          <a:p>
            <a:pPr indent="0" lvl="0" marL="0" rtl="0" algn="l">
              <a:spcBef>
                <a:spcPts val="1200"/>
              </a:spcBef>
              <a:spcAft>
                <a:spcPts val="0"/>
              </a:spcAft>
              <a:buNone/>
            </a:pPr>
            <a:r>
              <a:rPr b="0" lang="en" sz="800">
                <a:solidFill>
                  <a:srgbClr val="067D17"/>
                </a:solidFill>
                <a:highlight>
                  <a:schemeClr val="lt1"/>
                </a:highlight>
                <a:latin typeface="Roboto Mono"/>
                <a:ea typeface="Roboto Mono"/>
                <a:cs typeface="Roboto Mono"/>
                <a:sym typeface="Roboto Mono"/>
              </a:rPr>
              <a:t>   """</a:t>
            </a:r>
            <a:r>
              <a:rPr b="0" lang="en" sz="800">
                <a:solidFill>
                  <a:srgbClr val="080808"/>
                </a:solidFill>
                <a:highlight>
                  <a:schemeClr val="lt1"/>
                </a:highlight>
                <a:latin typeface="Roboto Mono"/>
                <a:ea typeface="Roboto Mono"/>
                <a:cs typeface="Roboto Mono"/>
                <a:sym typeface="Roboto Mono"/>
              </a:rPr>
              <a:t>;</a:t>
            </a:r>
            <a:endParaRPr b="0" sz="800"/>
          </a:p>
          <a:p>
            <a:pPr indent="0" lvl="0" marL="0" rtl="0" algn="l">
              <a:spcBef>
                <a:spcPts val="1200"/>
              </a:spcBef>
              <a:spcAft>
                <a:spcPts val="0"/>
              </a:spcAft>
              <a:buClr>
                <a:schemeClr val="dk1"/>
              </a:buClr>
              <a:buSzPct val="137500"/>
              <a:buFont typeface="Arial"/>
              <a:buNone/>
            </a:pPr>
            <a:r>
              <a:rPr b="0" lang="en" sz="800">
                <a:highlight>
                  <a:schemeClr val="lt1"/>
                </a:highlight>
                <a:latin typeface="Roboto Mono"/>
                <a:ea typeface="Roboto Mono"/>
                <a:cs typeface="Roboto Mono"/>
                <a:sym typeface="Roboto Mono"/>
              </a:rPr>
              <a:t>String howMany </a:t>
            </a:r>
            <a:r>
              <a:rPr b="0" lang="en" sz="800">
                <a:solidFill>
                  <a:srgbClr val="080808"/>
                </a:solidFill>
                <a:highlight>
                  <a:schemeClr val="lt1"/>
                </a:highlight>
                <a:latin typeface="Roboto Mono"/>
                <a:ea typeface="Roboto Mono"/>
                <a:cs typeface="Roboto Mono"/>
                <a:sym typeface="Roboto Mono"/>
              </a:rPr>
              <a:t>= </a:t>
            </a:r>
            <a:r>
              <a:rPr b="0" lang="en" sz="800">
                <a:solidFill>
                  <a:srgbClr val="0033B3"/>
                </a:solidFill>
                <a:highlight>
                  <a:schemeClr val="lt1"/>
                </a:highlight>
                <a:latin typeface="Roboto Mono"/>
                <a:ea typeface="Roboto Mono"/>
                <a:cs typeface="Roboto Mono"/>
                <a:sym typeface="Roboto Mono"/>
              </a:rPr>
              <a:t>switch </a:t>
            </a:r>
            <a:r>
              <a:rPr b="0" lang="en" sz="800">
                <a:solidFill>
                  <a:srgbClr val="080808"/>
                </a:solidFill>
                <a:highlight>
                  <a:schemeClr val="lt1"/>
                </a:highlight>
                <a:latin typeface="Roboto Mono"/>
                <a:ea typeface="Roboto Mono"/>
                <a:cs typeface="Roboto Mono"/>
                <a:sym typeface="Roboto Mono"/>
              </a:rPr>
              <a:t>(n) {</a:t>
            </a:r>
            <a:endParaRPr b="0" sz="800">
              <a:solidFill>
                <a:srgbClr val="080808"/>
              </a:solidFill>
              <a:highlight>
                <a:schemeClr val="lt1"/>
              </a:highlight>
              <a:latin typeface="Roboto Mono"/>
              <a:ea typeface="Roboto Mono"/>
              <a:cs typeface="Roboto Mono"/>
              <a:sym typeface="Roboto Mono"/>
            </a:endParaRPr>
          </a:p>
          <a:p>
            <a:pPr indent="0" lvl="0" marL="0" rtl="0" algn="l">
              <a:spcBef>
                <a:spcPts val="1200"/>
              </a:spcBef>
              <a:spcAft>
                <a:spcPts val="0"/>
              </a:spcAft>
              <a:buClr>
                <a:schemeClr val="dk1"/>
              </a:buClr>
              <a:buSzPct val="137500"/>
              <a:buFont typeface="Arial"/>
              <a:buNone/>
            </a:pPr>
            <a:r>
              <a:rPr b="0" lang="en" sz="800">
                <a:solidFill>
                  <a:srgbClr val="080808"/>
                </a:solidFill>
                <a:highlight>
                  <a:schemeClr val="lt1"/>
                </a:highlight>
                <a:latin typeface="Roboto Mono"/>
                <a:ea typeface="Roboto Mono"/>
                <a:cs typeface="Roboto Mono"/>
                <a:sym typeface="Roboto Mono"/>
              </a:rPr>
              <a:t>   </a:t>
            </a:r>
            <a:r>
              <a:rPr b="0" lang="en" sz="800">
                <a:solidFill>
                  <a:srgbClr val="0033B3"/>
                </a:solidFill>
                <a:highlight>
                  <a:schemeClr val="lt1"/>
                </a:highlight>
                <a:latin typeface="Roboto Mono"/>
                <a:ea typeface="Roboto Mono"/>
                <a:cs typeface="Roboto Mono"/>
                <a:sym typeface="Roboto Mono"/>
              </a:rPr>
              <a:t>case </a:t>
            </a:r>
            <a:r>
              <a:rPr b="0" lang="en" sz="800">
                <a:solidFill>
                  <a:srgbClr val="1750EB"/>
                </a:solidFill>
                <a:highlight>
                  <a:schemeClr val="lt1"/>
                </a:highlight>
                <a:latin typeface="Roboto Mono"/>
                <a:ea typeface="Roboto Mono"/>
                <a:cs typeface="Roboto Mono"/>
                <a:sym typeface="Roboto Mono"/>
              </a:rPr>
              <a:t>0    </a:t>
            </a:r>
            <a:r>
              <a:rPr b="0" lang="en" sz="800">
                <a:solidFill>
                  <a:srgbClr val="080808"/>
                </a:solidFill>
                <a:highlight>
                  <a:schemeClr val="lt1"/>
                </a:highlight>
                <a:latin typeface="Roboto Mono"/>
                <a:ea typeface="Roboto Mono"/>
                <a:cs typeface="Roboto Mono"/>
                <a:sym typeface="Roboto Mono"/>
              </a:rPr>
              <a:t>-&gt; </a:t>
            </a:r>
            <a:r>
              <a:rPr b="0" lang="en" sz="800">
                <a:solidFill>
                  <a:srgbClr val="067D17"/>
                </a:solidFill>
                <a:highlight>
                  <a:schemeClr val="lt1"/>
                </a:highlight>
                <a:latin typeface="Roboto Mono"/>
                <a:ea typeface="Roboto Mono"/>
                <a:cs typeface="Roboto Mono"/>
                <a:sym typeface="Roboto Mono"/>
              </a:rPr>
              <a:t>"zero"</a:t>
            </a:r>
            <a:r>
              <a:rPr b="0" lang="en" sz="800">
                <a:solidFill>
                  <a:srgbClr val="080808"/>
                </a:solidFill>
                <a:highlight>
                  <a:schemeClr val="lt1"/>
                </a:highlight>
                <a:latin typeface="Roboto Mono"/>
                <a:ea typeface="Roboto Mono"/>
                <a:cs typeface="Roboto Mono"/>
                <a:sym typeface="Roboto Mono"/>
              </a:rPr>
              <a:t>;</a:t>
            </a:r>
            <a:endParaRPr b="0" sz="800">
              <a:solidFill>
                <a:srgbClr val="080808"/>
              </a:solidFill>
              <a:highlight>
                <a:schemeClr val="lt1"/>
              </a:highlight>
              <a:latin typeface="Roboto Mono"/>
              <a:ea typeface="Roboto Mono"/>
              <a:cs typeface="Roboto Mono"/>
              <a:sym typeface="Roboto Mono"/>
            </a:endParaRPr>
          </a:p>
          <a:p>
            <a:pPr indent="0" lvl="0" marL="0" rtl="0" algn="l">
              <a:spcBef>
                <a:spcPts val="1200"/>
              </a:spcBef>
              <a:spcAft>
                <a:spcPts val="0"/>
              </a:spcAft>
              <a:buClr>
                <a:schemeClr val="dk1"/>
              </a:buClr>
              <a:buSzPct val="137500"/>
              <a:buFont typeface="Arial"/>
              <a:buNone/>
            </a:pPr>
            <a:r>
              <a:rPr b="0" lang="en" sz="800">
                <a:solidFill>
                  <a:srgbClr val="080808"/>
                </a:solidFill>
                <a:highlight>
                  <a:schemeClr val="lt1"/>
                </a:highlight>
                <a:latin typeface="Roboto Mono"/>
                <a:ea typeface="Roboto Mono"/>
                <a:cs typeface="Roboto Mono"/>
                <a:sym typeface="Roboto Mono"/>
              </a:rPr>
              <a:t>   </a:t>
            </a:r>
            <a:r>
              <a:rPr b="0" lang="en" sz="800">
                <a:solidFill>
                  <a:srgbClr val="0033B3"/>
                </a:solidFill>
                <a:highlight>
                  <a:schemeClr val="lt1"/>
                </a:highlight>
                <a:latin typeface="Roboto Mono"/>
                <a:ea typeface="Roboto Mono"/>
                <a:cs typeface="Roboto Mono"/>
                <a:sym typeface="Roboto Mono"/>
              </a:rPr>
              <a:t>default   </a:t>
            </a:r>
            <a:r>
              <a:rPr b="0" lang="en" sz="800">
                <a:solidFill>
                  <a:srgbClr val="080808"/>
                </a:solidFill>
                <a:highlight>
                  <a:schemeClr val="lt1"/>
                </a:highlight>
                <a:latin typeface="Roboto Mono"/>
                <a:ea typeface="Roboto Mono"/>
                <a:cs typeface="Roboto Mono"/>
                <a:sym typeface="Roboto Mono"/>
              </a:rPr>
              <a:t>-&gt; </a:t>
            </a:r>
            <a:r>
              <a:rPr b="0" lang="en" sz="800">
                <a:solidFill>
                  <a:srgbClr val="067D17"/>
                </a:solidFill>
                <a:highlight>
                  <a:schemeClr val="lt1"/>
                </a:highlight>
                <a:latin typeface="Roboto Mono"/>
                <a:ea typeface="Roboto Mono"/>
                <a:cs typeface="Roboto Mono"/>
                <a:sym typeface="Roboto Mono"/>
              </a:rPr>
              <a:t>"some"</a:t>
            </a:r>
            <a:r>
              <a:rPr b="0" lang="en" sz="800">
                <a:solidFill>
                  <a:srgbClr val="080808"/>
                </a:solidFill>
                <a:highlight>
                  <a:schemeClr val="lt1"/>
                </a:highlight>
                <a:latin typeface="Roboto Mono"/>
                <a:ea typeface="Roboto Mono"/>
                <a:cs typeface="Roboto Mono"/>
                <a:sym typeface="Roboto Mono"/>
              </a:rPr>
              <a:t>;</a:t>
            </a:r>
            <a:endParaRPr b="0" sz="800">
              <a:solidFill>
                <a:srgbClr val="080808"/>
              </a:solidFill>
              <a:highlight>
                <a:schemeClr val="lt1"/>
              </a:highlight>
              <a:latin typeface="Roboto Mono"/>
              <a:ea typeface="Roboto Mono"/>
              <a:cs typeface="Roboto Mono"/>
              <a:sym typeface="Roboto Mono"/>
            </a:endParaRPr>
          </a:p>
          <a:p>
            <a:pPr indent="0" lvl="0" marL="0" rtl="0" algn="l">
              <a:spcBef>
                <a:spcPts val="1200"/>
              </a:spcBef>
              <a:spcAft>
                <a:spcPts val="0"/>
              </a:spcAft>
              <a:buClr>
                <a:schemeClr val="dk1"/>
              </a:buClr>
              <a:buSzPct val="137500"/>
              <a:buFont typeface="Arial"/>
              <a:buNone/>
            </a:pPr>
            <a:r>
              <a:rPr b="0" lang="en" sz="800">
                <a:solidFill>
                  <a:srgbClr val="080808"/>
                </a:solidFill>
                <a:highlight>
                  <a:schemeClr val="lt1"/>
                </a:highlight>
                <a:latin typeface="Roboto Mono"/>
                <a:ea typeface="Roboto Mono"/>
                <a:cs typeface="Roboto Mono"/>
                <a:sym typeface="Roboto Mono"/>
              </a:rPr>
              <a:t>};</a:t>
            </a:r>
            <a:endParaRPr b="0" sz="800">
              <a:highlight>
                <a:schemeClr val="lt1"/>
              </a:highlight>
              <a:latin typeface="Roboto Mono"/>
              <a:ea typeface="Roboto Mono"/>
              <a:cs typeface="Roboto Mono"/>
              <a:sym typeface="Roboto Mono"/>
            </a:endParaRPr>
          </a:p>
          <a:p>
            <a:pPr indent="0" lvl="0" marL="0" rtl="0" algn="l">
              <a:spcBef>
                <a:spcPts val="1200"/>
              </a:spcBef>
              <a:spcAft>
                <a:spcPts val="0"/>
              </a:spcAft>
              <a:buClr>
                <a:schemeClr val="dk1"/>
              </a:buClr>
              <a:buSzPct val="137500"/>
              <a:buFont typeface="Arial"/>
              <a:buNone/>
            </a:pPr>
            <a:r>
              <a:rPr b="0" lang="en" sz="800">
                <a:solidFill>
                  <a:srgbClr val="0033B3"/>
                </a:solidFill>
                <a:highlight>
                  <a:schemeClr val="lt1"/>
                </a:highlight>
                <a:latin typeface="Roboto Mono"/>
                <a:ea typeface="Roboto Mono"/>
                <a:cs typeface="Roboto Mono"/>
                <a:sym typeface="Roboto Mono"/>
              </a:rPr>
              <a:t>if </a:t>
            </a:r>
            <a:r>
              <a:rPr b="0" lang="en" sz="800">
                <a:solidFill>
                  <a:srgbClr val="080808"/>
                </a:solidFill>
                <a:highlight>
                  <a:schemeClr val="lt1"/>
                </a:highlight>
                <a:latin typeface="Roboto Mono"/>
                <a:ea typeface="Roboto Mono"/>
                <a:cs typeface="Roboto Mono"/>
                <a:sym typeface="Roboto Mono"/>
              </a:rPr>
              <a:t>(o </a:t>
            </a:r>
            <a:r>
              <a:rPr b="0" lang="en" sz="800">
                <a:solidFill>
                  <a:srgbClr val="0033B3"/>
                </a:solidFill>
                <a:highlight>
                  <a:schemeClr val="lt1"/>
                </a:highlight>
                <a:latin typeface="Roboto Mono"/>
                <a:ea typeface="Roboto Mono"/>
                <a:cs typeface="Roboto Mono"/>
                <a:sym typeface="Roboto Mono"/>
              </a:rPr>
              <a:t>instanceof </a:t>
            </a:r>
            <a:r>
              <a:rPr b="0" lang="en" sz="800">
                <a:highlight>
                  <a:schemeClr val="lt1"/>
                </a:highlight>
                <a:latin typeface="Roboto Mono"/>
                <a:ea typeface="Roboto Mono"/>
                <a:cs typeface="Roboto Mono"/>
                <a:sym typeface="Roboto Mono"/>
              </a:rPr>
              <a:t>String </a:t>
            </a:r>
            <a:r>
              <a:rPr b="0" lang="en" sz="800">
                <a:solidFill>
                  <a:srgbClr val="080808"/>
                </a:solidFill>
                <a:highlight>
                  <a:schemeClr val="lt1"/>
                </a:highlight>
                <a:latin typeface="Roboto Mono"/>
                <a:ea typeface="Roboto Mono"/>
                <a:cs typeface="Roboto Mono"/>
                <a:sym typeface="Roboto Mono"/>
              </a:rPr>
              <a:t>s &amp;&amp; s.startsWith(</a:t>
            </a:r>
            <a:r>
              <a:rPr b="0" lang="en" sz="800">
                <a:solidFill>
                  <a:srgbClr val="067D17"/>
                </a:solidFill>
                <a:highlight>
                  <a:schemeClr val="lt1"/>
                </a:highlight>
                <a:latin typeface="Roboto Mono"/>
                <a:ea typeface="Roboto Mono"/>
                <a:cs typeface="Roboto Mono"/>
                <a:sym typeface="Roboto Mono"/>
              </a:rPr>
              <a:t>"foo"</a:t>
            </a:r>
            <a:r>
              <a:rPr b="0" lang="en" sz="800">
                <a:solidFill>
                  <a:srgbClr val="080808"/>
                </a:solidFill>
                <a:highlight>
                  <a:schemeClr val="lt1"/>
                </a:highlight>
                <a:latin typeface="Roboto Mono"/>
                <a:ea typeface="Roboto Mono"/>
                <a:cs typeface="Roboto Mono"/>
                <a:sym typeface="Roboto Mono"/>
              </a:rPr>
              <a:t>)) {</a:t>
            </a:r>
            <a:endParaRPr b="0" sz="800">
              <a:solidFill>
                <a:srgbClr val="080808"/>
              </a:solidFill>
              <a:highlight>
                <a:schemeClr val="lt1"/>
              </a:highlight>
              <a:latin typeface="Roboto Mono"/>
              <a:ea typeface="Roboto Mono"/>
              <a:cs typeface="Roboto Mono"/>
              <a:sym typeface="Roboto Mono"/>
            </a:endParaRPr>
          </a:p>
          <a:p>
            <a:pPr indent="0" lvl="0" marL="0" rtl="0" algn="l">
              <a:spcBef>
                <a:spcPts val="1200"/>
              </a:spcBef>
              <a:spcAft>
                <a:spcPts val="0"/>
              </a:spcAft>
              <a:buClr>
                <a:schemeClr val="dk1"/>
              </a:buClr>
              <a:buSzPct val="137500"/>
              <a:buFont typeface="Arial"/>
              <a:buNone/>
            </a:pPr>
            <a:r>
              <a:rPr b="0" lang="en" sz="800">
                <a:solidFill>
                  <a:srgbClr val="080808"/>
                </a:solidFill>
                <a:highlight>
                  <a:schemeClr val="lt1"/>
                </a:highlight>
                <a:latin typeface="Roboto Mono"/>
                <a:ea typeface="Roboto Mono"/>
                <a:cs typeface="Roboto Mono"/>
                <a:sym typeface="Roboto Mono"/>
              </a:rPr>
              <a:t>   </a:t>
            </a:r>
            <a:r>
              <a:rPr b="0" lang="en" sz="800">
                <a:solidFill>
                  <a:srgbClr val="0033B3"/>
                </a:solidFill>
                <a:highlight>
                  <a:schemeClr val="lt1"/>
                </a:highlight>
                <a:latin typeface="Roboto Mono"/>
                <a:ea typeface="Roboto Mono"/>
                <a:cs typeface="Roboto Mono"/>
                <a:sym typeface="Roboto Mono"/>
              </a:rPr>
              <a:t>return </a:t>
            </a:r>
            <a:r>
              <a:rPr b="0" lang="en" sz="800">
                <a:solidFill>
                  <a:srgbClr val="080808"/>
                </a:solidFill>
                <a:highlight>
                  <a:schemeClr val="lt1"/>
                </a:highlight>
                <a:latin typeface="Roboto Mono"/>
                <a:ea typeface="Roboto Mono"/>
                <a:cs typeface="Roboto Mono"/>
                <a:sym typeface="Roboto Mono"/>
              </a:rPr>
              <a:t>s.toLowerCase();</a:t>
            </a:r>
            <a:endParaRPr b="0" sz="800">
              <a:solidFill>
                <a:srgbClr val="080808"/>
              </a:solidFill>
              <a:highlight>
                <a:schemeClr val="lt1"/>
              </a:highlight>
              <a:latin typeface="Roboto Mono"/>
              <a:ea typeface="Roboto Mono"/>
              <a:cs typeface="Roboto Mono"/>
              <a:sym typeface="Roboto Mono"/>
            </a:endParaRPr>
          </a:p>
          <a:p>
            <a:pPr indent="0" lvl="0" marL="0" rtl="0" algn="l">
              <a:spcBef>
                <a:spcPts val="1200"/>
              </a:spcBef>
              <a:spcAft>
                <a:spcPts val="1200"/>
              </a:spcAft>
              <a:buNone/>
            </a:pPr>
            <a:r>
              <a:rPr b="0" lang="en" sz="800">
                <a:solidFill>
                  <a:srgbClr val="080808"/>
                </a:solidFill>
                <a:highlight>
                  <a:schemeClr val="lt1"/>
                </a:highlight>
                <a:latin typeface="Roboto Mono"/>
                <a:ea typeface="Roboto Mono"/>
                <a:cs typeface="Roboto Mono"/>
                <a:sym typeface="Roboto Mono"/>
              </a:rPr>
              <a:t>}</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a:t>
            </a:r>
            <a:r>
              <a:rPr lang="en"/>
              <a:t>upgrade: Java 8 will not last forever</a:t>
            </a:r>
            <a:endParaRPr/>
          </a:p>
        </p:txBody>
      </p:sp>
      <p:sp>
        <p:nvSpPr>
          <p:cNvPr id="202" name="Google Shape;202;p27"/>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Java 8 is supported by AdoptOpenJDK until at least 2026...</a:t>
            </a:r>
            <a:endParaRPr/>
          </a:p>
          <a:p>
            <a:pPr indent="-342900" lvl="0" marL="457200" rtl="0" algn="l">
              <a:spcBef>
                <a:spcPts val="0"/>
              </a:spcBef>
              <a:spcAft>
                <a:spcPts val="0"/>
              </a:spcAft>
              <a:buSzPts val="1800"/>
              <a:buChar char="●"/>
            </a:pPr>
            <a:r>
              <a:rPr lang="en"/>
              <a:t>...but you may be forced to upgrade earlier</a:t>
            </a:r>
            <a:endParaRPr/>
          </a:p>
          <a:p>
            <a:pPr indent="-317500" lvl="1" marL="914400" rtl="0" algn="l">
              <a:spcBef>
                <a:spcPts val="0"/>
              </a:spcBef>
              <a:spcAft>
                <a:spcPts val="0"/>
              </a:spcAft>
              <a:buSzPts val="1400"/>
              <a:buChar char="○"/>
            </a:pPr>
            <a:r>
              <a:rPr lang="en"/>
              <a:t>Paranoids update requirements for TLS ciphers and other features…</a:t>
            </a:r>
            <a:endParaRPr/>
          </a:p>
          <a:p>
            <a:pPr indent="-317500" lvl="1" marL="914400" rtl="0" algn="l">
              <a:spcBef>
                <a:spcPts val="0"/>
              </a:spcBef>
              <a:spcAft>
                <a:spcPts val="0"/>
              </a:spcAft>
              <a:buSzPts val="1400"/>
              <a:buChar char="○"/>
            </a:pPr>
            <a:r>
              <a:rPr lang="en"/>
              <a:t>...which aren’t always backported to Java 8...</a:t>
            </a:r>
            <a:endParaRPr/>
          </a:p>
          <a:p>
            <a:pPr indent="-317500" lvl="1" marL="914400" rtl="0" algn="l">
              <a:spcBef>
                <a:spcPts val="0"/>
              </a:spcBef>
              <a:spcAft>
                <a:spcPts val="0"/>
              </a:spcAft>
              <a:buSzPts val="1400"/>
              <a:buChar char="○"/>
            </a:pPr>
            <a:r>
              <a:rPr lang="en"/>
              <a:t>...you may get S-ticket and be forced to upgrade with short schedule</a:t>
            </a:r>
            <a:endParaRPr/>
          </a:p>
          <a:p>
            <a:pPr indent="-342900" lvl="0" marL="457200" rtl="0" algn="l">
              <a:spcBef>
                <a:spcPts val="0"/>
              </a:spcBef>
              <a:spcAft>
                <a:spcPts val="0"/>
              </a:spcAft>
              <a:buSzPts val="1800"/>
              <a:buChar char="●"/>
            </a:pPr>
            <a:r>
              <a:rPr lang="en"/>
              <a:t>Open source projects won’t build Java 8 compatible libraries forever</a:t>
            </a:r>
            <a:endParaRPr/>
          </a:p>
          <a:p>
            <a:pPr indent="-342900" lvl="0" marL="457200" rtl="0" algn="l">
              <a:spcBef>
                <a:spcPts val="0"/>
              </a:spcBef>
              <a:spcAft>
                <a:spcPts val="0"/>
              </a:spcAft>
              <a:buSzPts val="1800"/>
              <a:buChar char="●"/>
            </a:pPr>
            <a:r>
              <a:rPr lang="en"/>
              <a:t>Inner source libraries won’t support Java 8 forever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8"/>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Plan of attack; prioritization</a:t>
            </a:r>
            <a:endParaRPr/>
          </a:p>
        </p:txBody>
      </p:sp>
      <p:sp>
        <p:nvSpPr>
          <p:cNvPr id="208" name="Google Shape;208;p28"/>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62500" lnSpcReduction="20000"/>
          </a:bodyPr>
          <a:lstStyle/>
          <a:p>
            <a:pPr indent="-300037" lvl="0" marL="457200" rtl="0" algn="l">
              <a:spcBef>
                <a:spcPts val="0"/>
              </a:spcBef>
              <a:spcAft>
                <a:spcPts val="0"/>
              </a:spcAft>
              <a:buSzPct val="100000"/>
              <a:buAutoNum type="arabicPeriod"/>
            </a:pPr>
            <a:r>
              <a:rPr lang="en"/>
              <a:t>Start with run time upgrade to Java 11</a:t>
            </a:r>
            <a:endParaRPr/>
          </a:p>
          <a:p>
            <a:pPr indent="-284162" lvl="1" marL="914400" rtl="0" algn="l">
              <a:spcBef>
                <a:spcPts val="0"/>
              </a:spcBef>
              <a:spcAft>
                <a:spcPts val="0"/>
              </a:spcAft>
              <a:buSzPct val="100000"/>
              <a:buAutoNum type="alphaLcPeriod"/>
            </a:pPr>
            <a:r>
              <a:rPr lang="en"/>
              <a:t>Start by running your code with Java 11 without changing the build process and run that for a few weeks before changing your build pipeline</a:t>
            </a:r>
            <a:endParaRPr/>
          </a:p>
          <a:p>
            <a:pPr indent="-284162" lvl="1" marL="914400" rtl="0" algn="l">
              <a:spcBef>
                <a:spcPts val="0"/>
              </a:spcBef>
              <a:spcAft>
                <a:spcPts val="0"/>
              </a:spcAft>
              <a:buSzPct val="100000"/>
              <a:buAutoNum type="alphaLcPeriod"/>
            </a:pPr>
            <a:r>
              <a:rPr lang="en"/>
              <a:t>R</a:t>
            </a:r>
            <a:r>
              <a:rPr lang="en"/>
              <a:t>unning code built for Java 8 on Java 11 is generally safe and will expose corner cases</a:t>
            </a:r>
            <a:endParaRPr/>
          </a:p>
          <a:p>
            <a:pPr indent="-284162" lvl="1" marL="914400" rtl="0" algn="l">
              <a:spcBef>
                <a:spcPts val="0"/>
              </a:spcBef>
              <a:spcAft>
                <a:spcPts val="0"/>
              </a:spcAft>
              <a:buSzPct val="100000"/>
              <a:buAutoNum type="alphaLcPeriod"/>
            </a:pPr>
            <a:r>
              <a:rPr lang="en"/>
              <a:t>In this mode you will have one JDK to build and another JDK/JRE for runtime</a:t>
            </a:r>
            <a:endParaRPr/>
          </a:p>
          <a:p>
            <a:pPr indent="-300037" lvl="0" marL="457200" rtl="0" algn="l">
              <a:spcBef>
                <a:spcPts val="0"/>
              </a:spcBef>
              <a:spcAft>
                <a:spcPts val="0"/>
              </a:spcAft>
              <a:buSzPct val="100000"/>
              <a:buAutoNum type="arabicPeriod"/>
            </a:pPr>
            <a:r>
              <a:rPr lang="en"/>
              <a:t>If you’re not up-to-date, upgrade your dependencies wherever possible</a:t>
            </a:r>
            <a:br>
              <a:rPr lang="en"/>
            </a:br>
            <a:r>
              <a:rPr lang="en"/>
              <a:t>(Use compiler to find required upgrades; make them for Java 8 for battle-testing and fewer diffs to 11)</a:t>
            </a:r>
            <a:endParaRPr/>
          </a:p>
          <a:p>
            <a:pPr indent="-284162" lvl="1" marL="914400" rtl="0" algn="l">
              <a:spcBef>
                <a:spcPts val="0"/>
              </a:spcBef>
              <a:spcAft>
                <a:spcPts val="0"/>
              </a:spcAft>
              <a:buSzPct val="100000"/>
              <a:buAutoNum type="alphaLcPeriod"/>
            </a:pPr>
            <a:r>
              <a:rPr lang="en"/>
              <a:t>Gradle/Maven + their plugins</a:t>
            </a:r>
            <a:endParaRPr/>
          </a:p>
          <a:p>
            <a:pPr indent="-284162" lvl="1" marL="914400" rtl="0" algn="l">
              <a:spcBef>
                <a:spcPts val="0"/>
              </a:spcBef>
              <a:spcAft>
                <a:spcPts val="0"/>
              </a:spcAft>
              <a:buSzPct val="100000"/>
              <a:buAutoNum type="alphaLcPeriod"/>
            </a:pPr>
            <a:r>
              <a:rPr lang="en"/>
              <a:t>Tricky/Reflective stuff like Guice, Jersey, JAXB, other Java EE things</a:t>
            </a:r>
            <a:endParaRPr/>
          </a:p>
          <a:p>
            <a:pPr indent="-284162" lvl="1" marL="914400" rtl="0" algn="l">
              <a:spcBef>
                <a:spcPts val="0"/>
              </a:spcBef>
              <a:spcAft>
                <a:spcPts val="0"/>
              </a:spcAft>
              <a:buSzPct val="100000"/>
              <a:buAutoNum type="alphaLcPeriod"/>
            </a:pPr>
            <a:r>
              <a:rPr lang="en"/>
              <a:t>Testing/mocking frameworks</a:t>
            </a:r>
            <a:endParaRPr/>
          </a:p>
          <a:p>
            <a:pPr indent="-300037" lvl="0" marL="457200" rtl="0" algn="l">
              <a:spcBef>
                <a:spcPts val="0"/>
              </a:spcBef>
              <a:spcAft>
                <a:spcPts val="0"/>
              </a:spcAft>
              <a:buSzPct val="100000"/>
              <a:buAutoNum type="arabicPeriod"/>
            </a:pPr>
            <a:r>
              <a:rPr lang="en"/>
              <a:t>Cross-compile your libraries with Java 11 for Java 8</a:t>
            </a:r>
            <a:endParaRPr/>
          </a:p>
          <a:p>
            <a:pPr indent="-284162" lvl="1" marL="914400" rtl="0" algn="l">
              <a:spcBef>
                <a:spcPts val="0"/>
              </a:spcBef>
              <a:spcAft>
                <a:spcPts val="0"/>
              </a:spcAft>
              <a:buSzPct val="100000"/>
              <a:buAutoNum type="alphaLcPeriod"/>
            </a:pPr>
            <a:r>
              <a:rPr lang="en"/>
              <a:t>It is OK, necessary, recommended to add the external deps on Java EE things during this phase</a:t>
            </a:r>
            <a:endParaRPr/>
          </a:p>
          <a:p>
            <a:pPr indent="-300037" lvl="0" marL="457200" rtl="0" algn="l">
              <a:spcBef>
                <a:spcPts val="0"/>
              </a:spcBef>
              <a:spcAft>
                <a:spcPts val="0"/>
              </a:spcAft>
              <a:buSzPct val="100000"/>
              <a:buAutoNum type="arabicPeriod"/>
            </a:pPr>
            <a:r>
              <a:rPr lang="en"/>
              <a:t>Compile libraries with 11 for 11</a:t>
            </a:r>
            <a:endParaRPr/>
          </a:p>
          <a:p>
            <a:pPr indent="-284162" lvl="1" marL="914400" rtl="0" algn="l">
              <a:spcBef>
                <a:spcPts val="0"/>
              </a:spcBef>
              <a:spcAft>
                <a:spcPts val="0"/>
              </a:spcAft>
              <a:buSzPct val="100000"/>
              <a:buAutoNum type="alphaLcPeriod"/>
            </a:pPr>
            <a:r>
              <a:rPr lang="en"/>
              <a:t>This is the end-game; when you feel that everything consuming your libraries can consume 11 classes</a:t>
            </a:r>
            <a:endParaRPr/>
          </a:p>
          <a:p>
            <a:pPr indent="-284162" lvl="1" marL="914400" rtl="0" algn="l">
              <a:spcBef>
                <a:spcPts val="0"/>
              </a:spcBef>
              <a:spcAft>
                <a:spcPts val="0"/>
              </a:spcAft>
              <a:buSzPct val="100000"/>
              <a:buAutoNum type="alphaLcPeriod"/>
            </a:pPr>
            <a:r>
              <a:rPr lang="en"/>
              <a:t>Note that ygrid does not yet have a timeline for supporting jdk11; if you have pig/spark/storm, pause here.</a:t>
            </a:r>
            <a:endParaRPr/>
          </a:p>
          <a:p>
            <a:pPr indent="-300037" lvl="0" marL="457200" rtl="0" algn="l">
              <a:spcBef>
                <a:spcPts val="0"/>
              </a:spcBef>
              <a:spcAft>
                <a:spcPts val="0"/>
              </a:spcAft>
              <a:buSzPct val="100000"/>
              <a:buAutoNum type="arabicPeriod"/>
            </a:pPr>
            <a:r>
              <a:rPr lang="en"/>
              <a:t>If possible remove usage on JNI y</a:t>
            </a:r>
            <a:r>
              <a:rPr lang="en"/>
              <a:t>java</a:t>
            </a:r>
            <a:r>
              <a:rPr lang="en"/>
              <a:t>* classes, to reduce problems on Java 11. Example: yjava_ycore, yjava_yiv, y</a:t>
            </a:r>
            <a:r>
              <a:rPr lang="en"/>
              <a:t>java_yca, etc.</a:t>
            </a:r>
            <a:endParaRPr/>
          </a:p>
        </p:txBody>
      </p:sp>
      <p:pic>
        <p:nvPicPr>
          <p:cNvPr id="209" name="Google Shape;209;p28"/>
          <p:cNvPicPr preferRelativeResize="0"/>
          <p:nvPr/>
        </p:nvPicPr>
        <p:blipFill>
          <a:blip r:embed="rId3">
            <a:alphaModFix/>
          </a:blip>
          <a:stretch>
            <a:fillRect/>
          </a:stretch>
        </p:blipFill>
        <p:spPr>
          <a:xfrm rot="148777">
            <a:off x="6664627" y="182263"/>
            <a:ext cx="2219473" cy="12506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Things to expect while </a:t>
            </a:r>
            <a:r>
              <a:rPr lang="en"/>
              <a:t>migrating</a:t>
            </a:r>
            <a:endParaRPr/>
          </a:p>
        </p:txBody>
      </p:sp>
      <p:sp>
        <p:nvSpPr>
          <p:cNvPr id="215" name="Google Shape;215;p29"/>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77500"/>
          </a:bodyPr>
          <a:lstStyle/>
          <a:p>
            <a:pPr indent="-292576" lvl="0" marL="457200" rtl="0" algn="l">
              <a:spcBef>
                <a:spcPts val="0"/>
              </a:spcBef>
              <a:spcAft>
                <a:spcPts val="0"/>
              </a:spcAft>
              <a:buSzPct val="100000"/>
              <a:buChar char="●"/>
            </a:pPr>
            <a:r>
              <a:rPr lang="en" sz="1300"/>
              <a:t>Java EE interfaces moved out to external dependencies ⇐ pretty easy to just add</a:t>
            </a:r>
            <a:endParaRPr sz="1300"/>
          </a:p>
          <a:p>
            <a:pPr indent="-292576" lvl="0" marL="457200" rtl="0" algn="l">
              <a:spcBef>
                <a:spcPts val="0"/>
              </a:spcBef>
              <a:spcAft>
                <a:spcPts val="0"/>
              </a:spcAft>
              <a:buSzPct val="100000"/>
              <a:buChar char="●"/>
            </a:pPr>
            <a:r>
              <a:rPr lang="en" sz="1300"/>
              <a:t>If you’re not up-to-date with latest java libraries, maven/gradle and their plugins you’ll need to do that</a:t>
            </a:r>
            <a:endParaRPr sz="1300"/>
          </a:p>
          <a:p>
            <a:pPr indent="-292576" lvl="1" marL="914400" rtl="0" algn="l">
              <a:spcBef>
                <a:spcPts val="0"/>
              </a:spcBef>
              <a:spcAft>
                <a:spcPts val="0"/>
              </a:spcAft>
              <a:buSzPct val="100000"/>
              <a:buChar char="○"/>
            </a:pPr>
            <a:r>
              <a:rPr lang="en" sz="1300"/>
              <a:t>FYI </a:t>
            </a:r>
            <a:r>
              <a:rPr lang="en" sz="1300" u="sng">
                <a:solidFill>
                  <a:schemeClr val="hlink"/>
                </a:solidFill>
                <a:hlinkClick r:id="rId3"/>
              </a:rPr>
              <a:t>Tech Excellence: Update Management - Application &amp; Dependency Update Guidelines</a:t>
            </a:r>
            <a:endParaRPr sz="1300"/>
          </a:p>
          <a:p>
            <a:pPr indent="-292576" lvl="1" marL="914400" rtl="0" algn="l">
              <a:spcBef>
                <a:spcPts val="0"/>
              </a:spcBef>
              <a:spcAft>
                <a:spcPts val="0"/>
              </a:spcAft>
              <a:buSzPct val="100000"/>
              <a:buChar char="○"/>
            </a:pPr>
            <a:r>
              <a:rPr lang="en" sz="1300"/>
              <a:t>Dependency upgrades may be required to move to Java 11 but are not considered “part of it”</a:t>
            </a:r>
            <a:endParaRPr sz="1300"/>
          </a:p>
          <a:p>
            <a:pPr indent="-292576" lvl="0" marL="457200" rtl="0" algn="l">
              <a:spcBef>
                <a:spcPts val="0"/>
              </a:spcBef>
              <a:spcAft>
                <a:spcPts val="0"/>
              </a:spcAft>
              <a:buSzPct val="100000"/>
              <a:buChar char="●"/>
            </a:pPr>
            <a:r>
              <a:rPr lang="en" sz="1300"/>
              <a:t>Some “bad practices” may break you</a:t>
            </a:r>
            <a:endParaRPr sz="1300"/>
          </a:p>
          <a:p>
            <a:pPr indent="-292576" lvl="1" marL="914400" rtl="0" algn="l">
              <a:spcBef>
                <a:spcPts val="0"/>
              </a:spcBef>
              <a:spcAft>
                <a:spcPts val="0"/>
              </a:spcAft>
              <a:buSzPct val="100000"/>
              <a:buChar char="○"/>
            </a:pPr>
            <a:r>
              <a:rPr lang="en" sz="1300"/>
              <a:t>Relying on type-erasure too much (Java 11 adds more type casting checks - see </a:t>
            </a:r>
            <a:r>
              <a:rPr lang="en" sz="1300" u="sng">
                <a:solidFill>
                  <a:schemeClr val="hlink"/>
                </a:solidFill>
                <a:hlinkClick r:id="rId4"/>
              </a:rPr>
              <a:t>Feb blog post</a:t>
            </a:r>
            <a:r>
              <a:rPr lang="en" sz="1300"/>
              <a:t>)</a:t>
            </a:r>
            <a:endParaRPr sz="1300"/>
          </a:p>
          <a:p>
            <a:pPr indent="-292576" lvl="1" marL="914400" rtl="0" algn="l">
              <a:spcBef>
                <a:spcPts val="0"/>
              </a:spcBef>
              <a:spcAft>
                <a:spcPts val="0"/>
              </a:spcAft>
              <a:buSzPct val="100000"/>
              <a:buChar char="○"/>
            </a:pPr>
            <a:r>
              <a:rPr b="0" lang="en" sz="1300"/>
              <a:t>Scanning class</a:t>
            </a:r>
            <a:r>
              <a:rPr lang="en" sz="1300"/>
              <a:t>path using URIClassLoader not supported ⇐ switch to ClassGraph (more ahead)</a:t>
            </a:r>
            <a:endParaRPr sz="1300"/>
          </a:p>
          <a:p>
            <a:pPr indent="-292576" lvl="0" marL="457200" rtl="0" algn="l">
              <a:spcBef>
                <a:spcPts val="0"/>
              </a:spcBef>
              <a:spcAft>
                <a:spcPts val="0"/>
              </a:spcAft>
              <a:buSzPct val="100000"/>
              <a:buChar char="●"/>
            </a:pPr>
            <a:r>
              <a:rPr lang="en" sz="1300"/>
              <a:t>Some “ok advanced practices” may break</a:t>
            </a:r>
            <a:endParaRPr sz="1300"/>
          </a:p>
          <a:p>
            <a:pPr indent="-292576" lvl="1" marL="914400" rtl="0" algn="l">
              <a:spcBef>
                <a:spcPts val="0"/>
              </a:spcBef>
              <a:spcAft>
                <a:spcPts val="0"/>
              </a:spcAft>
              <a:buSzPct val="100000"/>
              <a:buChar char="○"/>
            </a:pPr>
            <a:r>
              <a:rPr lang="en" sz="1300"/>
              <a:t>JNI - the resource cleaner often used to destroy C++ objects has moved</a:t>
            </a:r>
            <a:endParaRPr sz="1300"/>
          </a:p>
          <a:p>
            <a:pPr indent="-292576" lvl="1" marL="914400" rtl="0" algn="l">
              <a:spcBef>
                <a:spcPts val="0"/>
              </a:spcBef>
              <a:spcAft>
                <a:spcPts val="0"/>
              </a:spcAft>
              <a:buSzPct val="100000"/>
              <a:buChar char="○"/>
            </a:pPr>
            <a:r>
              <a:rPr lang="en" sz="1300"/>
              <a:t>setcap to use low-ports may behave differently (more ahead)</a:t>
            </a:r>
            <a:endParaRPr sz="1300"/>
          </a:p>
          <a:p>
            <a:pPr indent="-292576" lvl="0" marL="457200" rtl="0" algn="l">
              <a:spcBef>
                <a:spcPts val="0"/>
              </a:spcBef>
              <a:spcAft>
                <a:spcPts val="0"/>
              </a:spcAft>
              <a:buSzPct val="100000"/>
              <a:buChar char="●"/>
            </a:pPr>
            <a:r>
              <a:rPr lang="en" sz="1300"/>
              <a:t>Some Java CLI flags have changed</a:t>
            </a:r>
            <a:endParaRPr sz="1300"/>
          </a:p>
          <a:p>
            <a:pPr indent="-292576" lvl="1" marL="914400" rtl="0" algn="l">
              <a:spcBef>
                <a:spcPts val="0"/>
              </a:spcBef>
              <a:spcAft>
                <a:spcPts val="0"/>
              </a:spcAft>
              <a:buSzPct val="100000"/>
              <a:buChar char="○"/>
            </a:pPr>
            <a:r>
              <a:rPr lang="en" sz="1300" u="sng">
                <a:solidFill>
                  <a:schemeClr val="hlink"/>
                </a:solidFill>
                <a:hlinkClick r:id="rId5"/>
              </a:rPr>
              <a:t>JEP-158</a:t>
            </a:r>
            <a:r>
              <a:rPr lang="en" sz="1300"/>
              <a:t> </a:t>
            </a:r>
            <a:r>
              <a:rPr lang="en" sz="1300"/>
              <a:t>Unified logging</a:t>
            </a:r>
            <a:endParaRPr sz="1300"/>
          </a:p>
          <a:p>
            <a:pPr indent="-292576" lvl="1" marL="914400" rtl="0" algn="l">
              <a:spcBef>
                <a:spcPts val="0"/>
              </a:spcBef>
              <a:spcAft>
                <a:spcPts val="0"/>
              </a:spcAft>
              <a:buSzPct val="100000"/>
              <a:buChar char="○"/>
            </a:pPr>
            <a:r>
              <a:rPr lang="en" sz="1300" u="sng">
                <a:solidFill>
                  <a:schemeClr val="hlink"/>
                </a:solidFill>
                <a:hlinkClick r:id="rId6"/>
              </a:rPr>
              <a:t>Garbage collection flags</a:t>
            </a:r>
            <a:endParaRPr sz="1300"/>
          </a:p>
          <a:p>
            <a:pPr indent="-292576" lvl="1" marL="914400" rtl="0" algn="l">
              <a:spcBef>
                <a:spcPts val="0"/>
              </a:spcBef>
              <a:spcAft>
                <a:spcPts val="0"/>
              </a:spcAft>
              <a:buSzPct val="100000"/>
              <a:buChar char="○"/>
            </a:pPr>
            <a:r>
              <a:rPr lang="en" sz="1300" u="sng">
                <a:solidFill>
                  <a:schemeClr val="hlink"/>
                </a:solidFill>
                <a:hlinkClick r:id="rId7"/>
              </a:rPr>
              <a:t>Container support</a:t>
            </a:r>
            <a:r>
              <a:rPr lang="en" sz="1100">
                <a:solidFill>
                  <a:srgbClr val="1A1816"/>
                </a:solidFill>
                <a:highlight>
                  <a:srgbClr val="FCFBFA"/>
                </a:highlight>
                <a:latin typeface="Courier New"/>
                <a:ea typeface="Courier New"/>
                <a:cs typeface="Courier New"/>
                <a:sym typeface="Courier New"/>
              </a:rPr>
              <a:t>: -XX:-UseContainerSupport</a:t>
            </a:r>
            <a:endParaRPr sz="1300"/>
          </a:p>
        </p:txBody>
      </p:sp>
      <p:pic>
        <p:nvPicPr>
          <p:cNvPr id="216" name="Google Shape;216;p29"/>
          <p:cNvPicPr preferRelativeResize="0"/>
          <p:nvPr/>
        </p:nvPicPr>
        <p:blipFill>
          <a:blip r:embed="rId8">
            <a:alphaModFix/>
          </a:blip>
          <a:stretch>
            <a:fillRect/>
          </a:stretch>
        </p:blipFill>
        <p:spPr>
          <a:xfrm>
            <a:off x="7623525" y="3909700"/>
            <a:ext cx="982725" cy="528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Cookie validation</a:t>
            </a:r>
            <a:endParaRPr/>
          </a:p>
          <a:p>
            <a:pPr indent="0" lvl="0" marL="0" rtl="0" algn="l">
              <a:spcBef>
                <a:spcPts val="0"/>
              </a:spcBef>
              <a:spcAft>
                <a:spcPts val="0"/>
              </a:spcAft>
              <a:buNone/>
            </a:pPr>
            <a:r>
              <a:t/>
            </a:r>
            <a:endParaRPr/>
          </a:p>
        </p:txBody>
      </p:sp>
      <p:sp>
        <p:nvSpPr>
          <p:cNvPr id="222" name="Google Shape;222;p30"/>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85000" lnSpcReduction="10000"/>
          </a:bodyPr>
          <a:lstStyle/>
          <a:p>
            <a:pPr indent="-298767" lvl="1" marL="914400" rtl="0" algn="l">
              <a:spcBef>
                <a:spcPts val="0"/>
              </a:spcBef>
              <a:spcAft>
                <a:spcPts val="0"/>
              </a:spcAft>
              <a:buSzPct val="100000"/>
              <a:buChar char="○"/>
            </a:pPr>
            <a:r>
              <a:rPr lang="en" sz="1300"/>
              <a:t>We recommend using Canonical Profile or Member Profile web services to validate cookies and OAuth tokens and stop doing local cookie validation</a:t>
            </a:r>
            <a:endParaRPr sz="1300"/>
          </a:p>
          <a:p>
            <a:pPr indent="-298767" lvl="1" marL="914400" rtl="0" algn="l">
              <a:spcBef>
                <a:spcPts val="0"/>
              </a:spcBef>
              <a:spcAft>
                <a:spcPts val="0"/>
              </a:spcAft>
              <a:buSzPct val="100000"/>
              <a:buChar char="○"/>
            </a:pPr>
            <a:r>
              <a:rPr lang="en" sz="1300"/>
              <a:t>If this is not feasible, or you need more time for moving to it, we recommend using the </a:t>
            </a:r>
            <a:r>
              <a:rPr lang="en" sz="1300" u="sng">
                <a:solidFill>
                  <a:schemeClr val="hlink"/>
                </a:solidFill>
                <a:hlinkClick r:id="rId3"/>
              </a:rPr>
              <a:t>membership-platforms/membership-cookie</a:t>
            </a:r>
            <a:r>
              <a:rPr lang="en" sz="1300"/>
              <a:t> pure Java library</a:t>
            </a:r>
            <a:endParaRPr sz="1300"/>
          </a:p>
          <a:p>
            <a:pPr indent="0" lvl="0" marL="914400" rtl="0" algn="l">
              <a:spcBef>
                <a:spcPts val="1200"/>
              </a:spcBef>
              <a:spcAft>
                <a:spcPts val="0"/>
              </a:spcAft>
              <a:buNone/>
            </a:pPr>
            <a:r>
              <a:t/>
            </a:r>
            <a:endParaRPr sz="1300"/>
          </a:p>
          <a:p>
            <a:pPr indent="-298767" lvl="1" marL="914400" rtl="0" algn="l">
              <a:spcBef>
                <a:spcPts val="1200"/>
              </a:spcBef>
              <a:spcAft>
                <a:spcPts val="0"/>
              </a:spcAft>
              <a:buSzPct val="100000"/>
              <a:buChar char="○"/>
            </a:pPr>
            <a:r>
              <a:rPr lang="en" sz="1300"/>
              <a:t>NOTE: In the future there is a plan being discussed to have the Edge services (YCPI/MediaEdge/etc) convert user credentials (cookies and OAuth tokens) to short lived </a:t>
            </a:r>
            <a:r>
              <a:rPr b="1" lang="en" sz="1300" u="sng">
                <a:solidFill>
                  <a:schemeClr val="hlink"/>
                </a:solidFill>
                <a:hlinkClick r:id="rId4"/>
              </a:rPr>
              <a:t>Transaction tokens</a:t>
            </a:r>
            <a:r>
              <a:rPr lang="en" sz="1300"/>
              <a:t>, and send only the </a:t>
            </a:r>
            <a:r>
              <a:rPr b="1" lang="en" sz="1300"/>
              <a:t>TT</a:t>
            </a:r>
            <a:r>
              <a:rPr lang="en" sz="1300"/>
              <a:t> the downstream internal services. These internal services will only have to validate Transaction Tokens with a open source library that supports JWT tokens, and won't have to contact CP/MP for validation. The Transaction tokens will valid for a few seconds, with limited capability. See the </a:t>
            </a:r>
            <a:r>
              <a:rPr b="1" lang="en" sz="1300" u="sng">
                <a:hlinkClick r:id="rId5"/>
              </a:rPr>
              <a:t>Transaction tokens</a:t>
            </a:r>
            <a:r>
              <a:rPr lang="en" sz="1300"/>
              <a:t> MTC presentation for more details.</a:t>
            </a:r>
            <a:endParaRPr sz="1300"/>
          </a:p>
          <a:p>
            <a:pPr indent="0" lvl="0" marL="0" rtl="0" algn="l">
              <a:spcBef>
                <a:spcPts val="1200"/>
              </a:spcBef>
              <a:spcAft>
                <a:spcPts val="1200"/>
              </a:spcAft>
              <a:buNone/>
            </a:pPr>
            <a:r>
              <a:t/>
            </a:r>
            <a:endParaRPr sz="1300"/>
          </a:p>
        </p:txBody>
      </p:sp>
      <p:pic>
        <p:nvPicPr>
          <p:cNvPr id="223" name="Google Shape;223;p30"/>
          <p:cNvPicPr preferRelativeResize="0"/>
          <p:nvPr/>
        </p:nvPicPr>
        <p:blipFill>
          <a:blip r:embed="rId6">
            <a:alphaModFix/>
          </a:blip>
          <a:stretch>
            <a:fillRect/>
          </a:stretch>
        </p:blipFill>
        <p:spPr>
          <a:xfrm>
            <a:off x="7688300" y="4004299"/>
            <a:ext cx="772975" cy="7696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1"/>
          <p:cNvSpPr txBox="1"/>
          <p:nvPr>
            <p:ph type="title"/>
          </p:nvPr>
        </p:nvSpPr>
        <p:spPr>
          <a:xfrm>
            <a:off x="457200" y="590550"/>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Mail middle tier - upgrade problems</a:t>
            </a:r>
            <a:endParaRPr/>
          </a:p>
        </p:txBody>
      </p:sp>
      <p:sp>
        <p:nvSpPr>
          <p:cNvPr id="229" name="Google Shape;229;p31"/>
          <p:cNvSpPr txBox="1"/>
          <p:nvPr/>
        </p:nvSpPr>
        <p:spPr>
          <a:xfrm>
            <a:off x="457200" y="1027900"/>
            <a:ext cx="8190600" cy="2924400"/>
          </a:xfrm>
          <a:prstGeom prst="rect">
            <a:avLst/>
          </a:prstGeom>
          <a:noFill/>
          <a:ln>
            <a:noFill/>
          </a:ln>
        </p:spPr>
        <p:txBody>
          <a:bodyPr anchorCtr="0" anchor="t" bIns="91425" lIns="91425" spcFirstLastPara="1" rIns="91425" wrap="square" tIns="91425">
            <a:spAutoFit/>
          </a:bodyPr>
          <a:lstStyle/>
          <a:p>
            <a:pPr indent="-311150" lvl="0" marL="457200" rtl="0" algn="l">
              <a:spcBef>
                <a:spcPts val="900"/>
              </a:spcBef>
              <a:spcAft>
                <a:spcPts val="0"/>
              </a:spcAft>
              <a:buClr>
                <a:schemeClr val="dk1"/>
              </a:buClr>
              <a:buSzPts val="1300"/>
              <a:buFont typeface="Verizon NHG TX"/>
              <a:buChar char="●"/>
            </a:pPr>
            <a:r>
              <a:rPr b="1" lang="en" sz="1300">
                <a:solidFill>
                  <a:schemeClr val="dk1"/>
                </a:solidFill>
                <a:latin typeface="Verizon NHG TX"/>
                <a:ea typeface="Verizon NHG TX"/>
                <a:cs typeface="Verizon NHG TX"/>
                <a:sym typeface="Verizon NHG TX"/>
              </a:rPr>
              <a:t>Explicitly mention JAXB as dependency</a:t>
            </a:r>
            <a:endParaRPr b="1" sz="1300">
              <a:solidFill>
                <a:schemeClr val="dk1"/>
              </a:solidFill>
              <a:latin typeface="Verizon NHG TX"/>
              <a:ea typeface="Verizon NHG TX"/>
              <a:cs typeface="Verizon NHG TX"/>
              <a:sym typeface="Verizon NHG TX"/>
            </a:endParaRPr>
          </a:p>
          <a:p>
            <a:pPr indent="-311150" lvl="0" marL="457200" rtl="0" algn="l">
              <a:spcBef>
                <a:spcPts val="0"/>
              </a:spcBef>
              <a:spcAft>
                <a:spcPts val="0"/>
              </a:spcAft>
              <a:buClr>
                <a:schemeClr val="dk1"/>
              </a:buClr>
              <a:buSzPts val="1300"/>
              <a:buFont typeface="Verizon NHG TX"/>
              <a:buChar char="●"/>
            </a:pPr>
            <a:r>
              <a:rPr b="1" lang="en" sz="1300">
                <a:solidFill>
                  <a:schemeClr val="dk1"/>
                </a:solidFill>
                <a:latin typeface="Verizon NHG TX"/>
                <a:ea typeface="Verizon NHG TX"/>
                <a:cs typeface="Verizon NHG TX"/>
                <a:sym typeface="Verizon NHG TX"/>
              </a:rPr>
              <a:t>Parallel GC is not the default</a:t>
            </a:r>
            <a:endParaRPr b="1" sz="1300">
              <a:solidFill>
                <a:schemeClr val="dk1"/>
              </a:solidFill>
              <a:latin typeface="Verizon NHG TX"/>
              <a:ea typeface="Verizon NHG TX"/>
              <a:cs typeface="Verizon NHG TX"/>
              <a:sym typeface="Verizon NHG TX"/>
            </a:endParaRPr>
          </a:p>
          <a:p>
            <a:pPr indent="-311150" lvl="1" marL="914400" rtl="0" algn="l">
              <a:spcBef>
                <a:spcPts val="0"/>
              </a:spcBef>
              <a:spcAft>
                <a:spcPts val="0"/>
              </a:spcAft>
              <a:buClr>
                <a:schemeClr val="dk1"/>
              </a:buClr>
              <a:buSzPts val="1300"/>
              <a:buFont typeface="Verizon NHG TX"/>
              <a:buChar char="○"/>
            </a:pPr>
            <a:r>
              <a:rPr lang="en" sz="1300">
                <a:solidFill>
                  <a:schemeClr val="dk1"/>
                </a:solidFill>
                <a:latin typeface="Verizon NHG TX"/>
                <a:ea typeface="Verizon NHG TX"/>
                <a:cs typeface="Verizon NHG TX"/>
                <a:sym typeface="Verizon NHG TX"/>
              </a:rPr>
              <a:t>If your are having high latency GC or GC issues in JDK 11, </a:t>
            </a:r>
            <a:r>
              <a:rPr lang="en" sz="1300">
                <a:solidFill>
                  <a:schemeClr val="dk1"/>
                </a:solidFill>
                <a:latin typeface="Verizon NHG TX"/>
                <a:ea typeface="Verizon NHG TX"/>
                <a:cs typeface="Verizon NHG TX"/>
                <a:sym typeface="Verizon NHG TX"/>
              </a:rPr>
              <a:t>use -XX:+UseParallelGC to revert back to Parallel GC</a:t>
            </a:r>
            <a:endParaRPr b="1" sz="1300">
              <a:solidFill>
                <a:schemeClr val="dk1"/>
              </a:solidFill>
              <a:latin typeface="Verizon NHG TX"/>
              <a:ea typeface="Verizon NHG TX"/>
              <a:cs typeface="Verizon NHG TX"/>
              <a:sym typeface="Verizon NHG TX"/>
            </a:endParaRPr>
          </a:p>
          <a:p>
            <a:pPr indent="-311150" lvl="0" marL="457200" rtl="0" algn="l">
              <a:spcBef>
                <a:spcPts val="0"/>
              </a:spcBef>
              <a:spcAft>
                <a:spcPts val="0"/>
              </a:spcAft>
              <a:buClr>
                <a:schemeClr val="dk1"/>
              </a:buClr>
              <a:buSzPts val="1300"/>
              <a:buFont typeface="Verizon NHG TX"/>
              <a:buChar char="●"/>
            </a:pPr>
            <a:r>
              <a:rPr b="1" lang="en"/>
              <a:t>Tools.jar is not available</a:t>
            </a:r>
            <a:endParaRPr b="1"/>
          </a:p>
          <a:p>
            <a:pPr indent="-304800" lvl="1" marL="914400" rtl="0" algn="l">
              <a:spcBef>
                <a:spcPts val="0"/>
              </a:spcBef>
              <a:spcAft>
                <a:spcPts val="0"/>
              </a:spcAft>
              <a:buClr>
                <a:schemeClr val="dk1"/>
              </a:buClr>
              <a:buSzPts val="1200"/>
              <a:buFont typeface="Verizon NHG TX"/>
              <a:buChar char="○"/>
            </a:pPr>
            <a:r>
              <a:rPr lang="en"/>
              <a:t>If you are using classes from tools.jar, you will need to refactor your code to use the newer classes.</a:t>
            </a:r>
            <a:endParaRPr/>
          </a:p>
          <a:p>
            <a:pPr indent="-304800" lvl="0" marL="457200" rtl="0" algn="l">
              <a:spcBef>
                <a:spcPts val="0"/>
              </a:spcBef>
              <a:spcAft>
                <a:spcPts val="0"/>
              </a:spcAft>
              <a:buClr>
                <a:schemeClr val="dk1"/>
              </a:buClr>
              <a:buSzPts val="1200"/>
              <a:buFont typeface="Verizon NHG TX"/>
              <a:buChar char="●"/>
            </a:pPr>
            <a:r>
              <a:rPr b="1" lang="en"/>
              <a:t>SSL Ciphers Consistency between JDK8 and </a:t>
            </a:r>
            <a:r>
              <a:rPr b="1" lang="en"/>
              <a:t>JDK1</a:t>
            </a:r>
            <a:r>
              <a:rPr b="1" lang="en"/>
              <a:t>1</a:t>
            </a:r>
            <a:endParaRPr b="1"/>
          </a:p>
          <a:p>
            <a:pPr indent="-304800" lvl="0" marL="457200" rtl="0" algn="l">
              <a:spcBef>
                <a:spcPts val="0"/>
              </a:spcBef>
              <a:spcAft>
                <a:spcPts val="0"/>
              </a:spcAft>
              <a:buClr>
                <a:schemeClr val="dk1"/>
              </a:buClr>
              <a:buSzPts val="1200"/>
              <a:buFont typeface="Verizon NHG TX"/>
              <a:buChar char="●"/>
            </a:pPr>
            <a:r>
              <a:rPr b="1" lang="en"/>
              <a:t>Setcap to bind to lower ports on JDK11 on </a:t>
            </a:r>
            <a:r>
              <a:rPr b="1" lang="en"/>
              <a:t>RHEL7</a:t>
            </a:r>
            <a:endParaRPr b="1"/>
          </a:p>
          <a:p>
            <a:pPr indent="-304800" lvl="0" marL="457200" rtl="0" algn="l">
              <a:spcBef>
                <a:spcPts val="0"/>
              </a:spcBef>
              <a:spcAft>
                <a:spcPts val="0"/>
              </a:spcAft>
              <a:buClr>
                <a:schemeClr val="dk1"/>
              </a:buClr>
              <a:buSzPts val="1200"/>
              <a:buFont typeface="Verizon NHG TX"/>
              <a:buChar char="●"/>
            </a:pPr>
            <a:r>
              <a:rPr b="1" lang="en">
                <a:solidFill>
                  <a:schemeClr val="dk1"/>
                </a:solidFill>
              </a:rPr>
              <a:t>UrlClassloader deprecated</a:t>
            </a:r>
            <a:endParaRPr b="1"/>
          </a:p>
          <a:p>
            <a:pPr indent="-304800" lvl="1" marL="914400" rtl="0" algn="l">
              <a:spcBef>
                <a:spcPts val="0"/>
              </a:spcBef>
              <a:spcAft>
                <a:spcPts val="0"/>
              </a:spcAft>
              <a:buClr>
                <a:schemeClr val="dk1"/>
              </a:buClr>
              <a:buSzPts val="1200"/>
              <a:buFont typeface="Verizon NHG TX"/>
              <a:buChar char="○"/>
            </a:pPr>
            <a:r>
              <a:rPr lang="en"/>
              <a:t>UrlClassloader is not supported in JDK 11. From JDK 9 onwards, the system classloader implementation was made private.</a:t>
            </a:r>
            <a:endParaRPr/>
          </a:p>
          <a:p>
            <a:pPr indent="-304800" lvl="0" marL="457200" rtl="0" algn="l">
              <a:spcBef>
                <a:spcPts val="0"/>
              </a:spcBef>
              <a:spcAft>
                <a:spcPts val="0"/>
              </a:spcAft>
              <a:buClr>
                <a:schemeClr val="dk1"/>
              </a:buClr>
              <a:buSzPts val="1200"/>
              <a:buFont typeface="Verizon NHG TX"/>
              <a:buChar char="●"/>
            </a:pPr>
            <a:r>
              <a:rPr b="1" lang="en"/>
              <a:t>Upgrade Maven to version to &gt; 3.5.1 and all maven plugins &gt; 3.0.1</a:t>
            </a:r>
            <a:endParaRPr b="1"/>
          </a:p>
        </p:txBody>
      </p:sp>
      <p:pic>
        <p:nvPicPr>
          <p:cNvPr id="230" name="Google Shape;230;p31"/>
          <p:cNvPicPr preferRelativeResize="0"/>
          <p:nvPr/>
        </p:nvPicPr>
        <p:blipFill>
          <a:blip r:embed="rId3">
            <a:alphaModFix/>
          </a:blip>
          <a:stretch>
            <a:fillRect/>
          </a:stretch>
        </p:blipFill>
        <p:spPr>
          <a:xfrm>
            <a:off x="7385450" y="3608800"/>
            <a:ext cx="1301349" cy="12870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2"/>
          <p:cNvSpPr txBox="1"/>
          <p:nvPr>
            <p:ph type="title"/>
          </p:nvPr>
        </p:nvSpPr>
        <p:spPr>
          <a:xfrm>
            <a:off x="457200" y="590550"/>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Mail middle tier - timeline</a:t>
            </a:r>
            <a:endParaRPr/>
          </a:p>
        </p:txBody>
      </p:sp>
      <p:sp>
        <p:nvSpPr>
          <p:cNvPr id="236" name="Google Shape;236;p32"/>
          <p:cNvSpPr txBox="1"/>
          <p:nvPr/>
        </p:nvSpPr>
        <p:spPr>
          <a:xfrm>
            <a:off x="457200" y="1027900"/>
            <a:ext cx="8190600" cy="2586000"/>
          </a:xfrm>
          <a:prstGeom prst="rect">
            <a:avLst/>
          </a:prstGeom>
          <a:noFill/>
          <a:ln>
            <a:noFill/>
          </a:ln>
        </p:spPr>
        <p:txBody>
          <a:bodyPr anchorCtr="0" anchor="t" bIns="91425" lIns="91425" spcFirstLastPara="1" rIns="91425" wrap="square" tIns="91425">
            <a:spAutoFit/>
          </a:bodyPr>
          <a:lstStyle/>
          <a:p>
            <a:pPr indent="-311150" lvl="0" marL="457200" rtl="0" algn="l">
              <a:spcBef>
                <a:spcPts val="900"/>
              </a:spcBef>
              <a:spcAft>
                <a:spcPts val="0"/>
              </a:spcAft>
              <a:buClr>
                <a:schemeClr val="dk1"/>
              </a:buClr>
              <a:buSzPts val="1300"/>
              <a:buFont typeface="Verizon NHG TX"/>
              <a:buChar char="●"/>
            </a:pPr>
            <a:r>
              <a:rPr b="1" lang="en" sz="1300">
                <a:solidFill>
                  <a:schemeClr val="dk1"/>
                </a:solidFill>
                <a:latin typeface="Verizon NHG TX"/>
                <a:ea typeface="Verizon NHG TX"/>
                <a:cs typeface="Verizon NHG TX"/>
                <a:sym typeface="Verizon NHG TX"/>
              </a:rPr>
              <a:t>Mail middle tier manages 10 </a:t>
            </a:r>
            <a:r>
              <a:rPr b="1" lang="en" sz="1300">
                <a:solidFill>
                  <a:schemeClr val="dk1"/>
                </a:solidFill>
                <a:latin typeface="Verizon NHG TX"/>
                <a:ea typeface="Verizon NHG TX"/>
                <a:cs typeface="Verizon NHG TX"/>
                <a:sym typeface="Verizon NHG TX"/>
              </a:rPr>
              <a:t>components about 50 clusters, running 3 to 4 JVMs per component.</a:t>
            </a:r>
            <a:endParaRPr b="1" sz="1300">
              <a:solidFill>
                <a:schemeClr val="dk1"/>
              </a:solidFill>
              <a:latin typeface="Verizon NHG TX"/>
              <a:ea typeface="Verizon NHG TX"/>
              <a:cs typeface="Verizon NHG TX"/>
              <a:sym typeface="Verizon NHG TX"/>
            </a:endParaRPr>
          </a:p>
          <a:p>
            <a:pPr indent="-311150" lvl="0" marL="457200" rtl="0" algn="l">
              <a:spcBef>
                <a:spcPts val="0"/>
              </a:spcBef>
              <a:spcAft>
                <a:spcPts val="0"/>
              </a:spcAft>
              <a:buClr>
                <a:schemeClr val="dk1"/>
              </a:buClr>
              <a:buSzPts val="1300"/>
              <a:buFont typeface="Verizon NHG TX"/>
              <a:buChar char="●"/>
            </a:pPr>
            <a:r>
              <a:rPr b="1" lang="en" sz="1300">
                <a:solidFill>
                  <a:schemeClr val="dk1"/>
                </a:solidFill>
                <a:latin typeface="Verizon NHG TX"/>
                <a:ea typeface="Verizon NHG TX"/>
                <a:cs typeface="Verizon NHG TX"/>
                <a:sym typeface="Verizon NHG TX"/>
              </a:rPr>
              <a:t>RUNTIME: ~3 PRs where needed to upgrade the runtime to use JDK 11. (3 Weeks One person)</a:t>
            </a:r>
            <a:endParaRPr b="1" sz="1300">
              <a:solidFill>
                <a:schemeClr val="dk1"/>
              </a:solidFill>
              <a:latin typeface="Verizon NHG TX"/>
              <a:ea typeface="Verizon NHG TX"/>
              <a:cs typeface="Verizon NHG TX"/>
              <a:sym typeface="Verizon NHG TX"/>
            </a:endParaRPr>
          </a:p>
          <a:p>
            <a:pPr indent="-311150" lvl="1" marL="914400" rtl="0" algn="l">
              <a:spcBef>
                <a:spcPts val="0"/>
              </a:spcBef>
              <a:spcAft>
                <a:spcPts val="0"/>
              </a:spcAft>
              <a:buClr>
                <a:schemeClr val="dk1"/>
              </a:buClr>
              <a:buSzPts val="1300"/>
              <a:buFont typeface="Verizon NHG TX"/>
              <a:buChar char="○"/>
            </a:pPr>
            <a:r>
              <a:rPr lang="en" sz="1300">
                <a:solidFill>
                  <a:schemeClr val="dk1"/>
                </a:solidFill>
                <a:latin typeface="Verizon NHG TX"/>
                <a:ea typeface="Verizon NHG TX"/>
                <a:cs typeface="Verizon NHG TX"/>
                <a:sym typeface="Verizon NHG TX"/>
              </a:rPr>
              <a:t>Most time was spent on GC validation and GC </a:t>
            </a:r>
            <a:r>
              <a:rPr lang="en" sz="1300">
                <a:solidFill>
                  <a:schemeClr val="dk1"/>
                </a:solidFill>
                <a:latin typeface="Verizon NHG TX"/>
                <a:ea typeface="Verizon NHG TX"/>
                <a:cs typeface="Verizon NHG TX"/>
                <a:sym typeface="Verizon NHG TX"/>
              </a:rPr>
              <a:t>tuning</a:t>
            </a:r>
            <a:r>
              <a:rPr lang="en" sz="1300">
                <a:solidFill>
                  <a:schemeClr val="dk1"/>
                </a:solidFill>
                <a:latin typeface="Verizon NHG TX"/>
                <a:ea typeface="Verizon NHG TX"/>
                <a:cs typeface="Verizon NHG TX"/>
                <a:sym typeface="Verizon NHG TX"/>
              </a:rPr>
              <a:t>, mail decided to keep </a:t>
            </a:r>
            <a:r>
              <a:rPr lang="en" sz="1300">
                <a:solidFill>
                  <a:schemeClr val="dk1"/>
                </a:solidFill>
                <a:latin typeface="Verizon NHG TX"/>
                <a:ea typeface="Verizon NHG TX"/>
                <a:cs typeface="Verizon NHG TX"/>
                <a:sym typeface="Verizon NHG TX"/>
              </a:rPr>
              <a:t>Parallel</a:t>
            </a:r>
            <a:r>
              <a:rPr lang="en" sz="1300">
                <a:solidFill>
                  <a:schemeClr val="dk1"/>
                </a:solidFill>
                <a:latin typeface="Verizon NHG TX"/>
                <a:ea typeface="Verizon NHG TX"/>
                <a:cs typeface="Verizon NHG TX"/>
                <a:sym typeface="Verizon NHG TX"/>
              </a:rPr>
              <a:t> GC for the main JVMs, because default JDK 11 GC was producing non </a:t>
            </a:r>
            <a:r>
              <a:rPr lang="en" sz="1300">
                <a:solidFill>
                  <a:schemeClr val="dk1"/>
                </a:solidFill>
                <a:latin typeface="Verizon NHG TX"/>
                <a:ea typeface="Verizon NHG TX"/>
                <a:cs typeface="Verizon NHG TX"/>
                <a:sym typeface="Verizon NHG TX"/>
              </a:rPr>
              <a:t>predictable</a:t>
            </a:r>
            <a:r>
              <a:rPr lang="en" sz="1300">
                <a:solidFill>
                  <a:schemeClr val="dk1"/>
                </a:solidFill>
                <a:latin typeface="Verizon NHG TX"/>
                <a:ea typeface="Verizon NHG TX"/>
                <a:cs typeface="Verizon NHG TX"/>
                <a:sym typeface="Verizon NHG TX"/>
              </a:rPr>
              <a:t> large GCs. For </a:t>
            </a:r>
            <a:r>
              <a:rPr lang="en" sz="1300">
                <a:solidFill>
                  <a:schemeClr val="dk1"/>
                </a:solidFill>
                <a:latin typeface="Verizon NHG TX"/>
                <a:ea typeface="Verizon NHG TX"/>
                <a:cs typeface="Verizon NHG TX"/>
                <a:sym typeface="Verizon NHG TX"/>
              </a:rPr>
              <a:t>smaller</a:t>
            </a:r>
            <a:r>
              <a:rPr lang="en" sz="1300">
                <a:solidFill>
                  <a:schemeClr val="dk1"/>
                </a:solidFill>
                <a:latin typeface="Verizon NHG TX"/>
                <a:ea typeface="Verizon NHG TX"/>
                <a:cs typeface="Verizon NHG TX"/>
                <a:sym typeface="Verizon NHG TX"/>
              </a:rPr>
              <a:t> non user impacting JVMs we used default GC.</a:t>
            </a:r>
            <a:endParaRPr sz="1300">
              <a:solidFill>
                <a:schemeClr val="dk1"/>
              </a:solidFill>
              <a:latin typeface="Verizon NHG TX"/>
              <a:ea typeface="Verizon NHG TX"/>
              <a:cs typeface="Verizon NHG TX"/>
              <a:sym typeface="Verizon NHG TX"/>
            </a:endParaRPr>
          </a:p>
          <a:p>
            <a:pPr indent="-304800" lvl="0" marL="457200" rtl="0" algn="l">
              <a:spcBef>
                <a:spcPts val="0"/>
              </a:spcBef>
              <a:spcAft>
                <a:spcPts val="0"/>
              </a:spcAft>
              <a:buClr>
                <a:schemeClr val="dk1"/>
              </a:buClr>
              <a:buSzPts val="1200"/>
              <a:buFont typeface="Verizon NHG TX"/>
              <a:buChar char="●"/>
            </a:pPr>
            <a:r>
              <a:rPr b="1" lang="en" sz="1300">
                <a:solidFill>
                  <a:schemeClr val="dk1"/>
                </a:solidFill>
                <a:latin typeface="Verizon NHG TX"/>
                <a:ea typeface="Verizon NHG TX"/>
                <a:cs typeface="Verizon NHG TX"/>
                <a:sym typeface="Verizon NHG TX"/>
              </a:rPr>
              <a:t>BUILD: ~</a:t>
            </a:r>
            <a:r>
              <a:rPr b="1" lang="en" sz="1300">
                <a:solidFill>
                  <a:schemeClr val="dk1"/>
                </a:solidFill>
                <a:latin typeface="Verizon NHG TX"/>
                <a:ea typeface="Verizon NHG TX"/>
                <a:cs typeface="Verizon NHG TX"/>
                <a:sym typeface="Verizon NHG TX"/>
              </a:rPr>
              <a:t>22 PRs where needed to fix all UTs and Code to run with JDK 11. (10 Weeks One person)</a:t>
            </a:r>
            <a:endParaRPr b="1" sz="1300">
              <a:solidFill>
                <a:schemeClr val="dk1"/>
              </a:solidFill>
              <a:latin typeface="Verizon NHG TX"/>
              <a:ea typeface="Verizon NHG TX"/>
              <a:cs typeface="Verizon NHG TX"/>
              <a:sym typeface="Verizon NHG TX"/>
            </a:endParaRPr>
          </a:p>
          <a:p>
            <a:pPr indent="-311150" lvl="1" marL="914400" rtl="0" algn="l">
              <a:spcBef>
                <a:spcPts val="0"/>
              </a:spcBef>
              <a:spcAft>
                <a:spcPts val="0"/>
              </a:spcAft>
              <a:buClr>
                <a:schemeClr val="dk1"/>
              </a:buClr>
              <a:buSzPts val="1300"/>
              <a:buFont typeface="Verizon NHG TX"/>
              <a:buChar char="○"/>
            </a:pPr>
            <a:r>
              <a:rPr lang="en" sz="1300">
                <a:solidFill>
                  <a:schemeClr val="dk1"/>
                </a:solidFill>
                <a:latin typeface="Verizon NHG TX"/>
                <a:ea typeface="Verizon NHG TX"/>
                <a:cs typeface="Verizon NHG TX"/>
                <a:sym typeface="Verizon NHG TX"/>
              </a:rPr>
              <a:t>Most time spent, was with Ciphers, classpath scanning, tools.jar, JMX and Maven upgrades</a:t>
            </a:r>
            <a:endParaRPr sz="1300">
              <a:solidFill>
                <a:schemeClr val="dk1"/>
              </a:solidFill>
              <a:latin typeface="Verizon NHG TX"/>
              <a:ea typeface="Verizon NHG TX"/>
              <a:cs typeface="Verizon NHG TX"/>
              <a:sym typeface="Verizon NHG TX"/>
            </a:endParaRPr>
          </a:p>
          <a:p>
            <a:pPr indent="-311150" lvl="1" marL="914400" rtl="0" algn="l">
              <a:spcBef>
                <a:spcPts val="0"/>
              </a:spcBef>
              <a:spcAft>
                <a:spcPts val="0"/>
              </a:spcAft>
              <a:buClr>
                <a:schemeClr val="dk1"/>
              </a:buClr>
              <a:buSzPts val="1300"/>
              <a:buFont typeface="Verizon NHG TX"/>
              <a:buChar char="○"/>
            </a:pPr>
            <a:r>
              <a:rPr lang="en" sz="1300">
                <a:solidFill>
                  <a:schemeClr val="dk1"/>
                </a:solidFill>
                <a:latin typeface="Verizon NHG TX"/>
                <a:ea typeface="Verizon NHG TX"/>
                <a:cs typeface="Verizon NHG TX"/>
                <a:sym typeface="Verizon NHG TX"/>
              </a:rPr>
              <a:t>Most problems where not expected, and we took some time to find solutions that would fit mail </a:t>
            </a:r>
            <a:r>
              <a:rPr lang="en" sz="1300">
                <a:solidFill>
                  <a:schemeClr val="dk1"/>
                </a:solidFill>
                <a:latin typeface="Verizon NHG TX"/>
                <a:ea typeface="Verizon NHG TX"/>
                <a:cs typeface="Verizon NHG TX"/>
                <a:sym typeface="Verizon NHG TX"/>
              </a:rPr>
              <a:t>use case</a:t>
            </a:r>
            <a:r>
              <a:rPr lang="en" sz="1300">
                <a:solidFill>
                  <a:schemeClr val="dk1"/>
                </a:solidFill>
                <a:latin typeface="Verizon NHG TX"/>
                <a:ea typeface="Verizon NHG TX"/>
                <a:cs typeface="Verizon NHG TX"/>
                <a:sym typeface="Verizon NHG TX"/>
              </a:rPr>
              <a:t>s without having to refactor the full codebase, and worked for jdk8 and jdk11.</a:t>
            </a:r>
            <a:endParaRPr sz="1300">
              <a:solidFill>
                <a:schemeClr val="dk1"/>
              </a:solidFill>
              <a:latin typeface="Verizon NHG TX"/>
              <a:ea typeface="Verizon NHG TX"/>
              <a:cs typeface="Verizon NHG TX"/>
              <a:sym typeface="Verizon NHG TX"/>
            </a:endParaRPr>
          </a:p>
          <a:p>
            <a:pPr indent="-311150" lvl="1" marL="914400" rtl="0" algn="l">
              <a:spcBef>
                <a:spcPts val="0"/>
              </a:spcBef>
              <a:spcAft>
                <a:spcPts val="0"/>
              </a:spcAft>
              <a:buClr>
                <a:schemeClr val="dk1"/>
              </a:buClr>
              <a:buSzPts val="1300"/>
              <a:buFont typeface="Verizon NHG TX"/>
              <a:buChar char="○"/>
            </a:pPr>
            <a:r>
              <a:rPr lang="en" sz="1300">
                <a:solidFill>
                  <a:schemeClr val="dk1"/>
                </a:solidFill>
                <a:latin typeface="Verizon NHG TX"/>
                <a:ea typeface="Verizon NHG TX"/>
                <a:cs typeface="Verizon NHG TX"/>
                <a:sym typeface="Verizon NHG TX"/>
              </a:rPr>
              <a:t>Removal of jni y</a:t>
            </a:r>
            <a:r>
              <a:rPr lang="en" sz="1300">
                <a:solidFill>
                  <a:schemeClr val="dk1"/>
                </a:solidFill>
                <a:latin typeface="Verizon NHG TX"/>
                <a:ea typeface="Verizon NHG TX"/>
                <a:cs typeface="Verizon NHG TX"/>
                <a:sym typeface="Verizon NHG TX"/>
              </a:rPr>
              <a:t>java</a:t>
            </a:r>
            <a:r>
              <a:rPr lang="en" sz="1300">
                <a:solidFill>
                  <a:schemeClr val="dk1"/>
                </a:solidFill>
                <a:latin typeface="Verizon NHG TX"/>
                <a:ea typeface="Verizon NHG TX"/>
                <a:cs typeface="Verizon NHG TX"/>
                <a:sym typeface="Verizon NHG TX"/>
              </a:rPr>
              <a:t>* libraries helped a lot to reduce core dumps debugging time.</a:t>
            </a:r>
            <a:endParaRPr sz="1300">
              <a:solidFill>
                <a:schemeClr val="dk1"/>
              </a:solidFill>
              <a:latin typeface="Verizon NHG TX"/>
              <a:ea typeface="Verizon NHG TX"/>
              <a:cs typeface="Verizon NHG TX"/>
              <a:sym typeface="Verizon NHG TX"/>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Mail middle tier - Transitioning</a:t>
            </a:r>
            <a:endParaRPr/>
          </a:p>
        </p:txBody>
      </p:sp>
      <p:sp>
        <p:nvSpPr>
          <p:cNvPr id="242" name="Google Shape;242;p33"/>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SzPct val="100000"/>
              <a:buAutoNum type="arabicPeriod"/>
            </a:pPr>
            <a:r>
              <a:rPr lang="en"/>
              <a:t>Runtime</a:t>
            </a:r>
            <a:endParaRPr/>
          </a:p>
          <a:p>
            <a:pPr indent="-290830" lvl="1" marL="914400" rtl="0" algn="l">
              <a:spcBef>
                <a:spcPts val="0"/>
              </a:spcBef>
              <a:spcAft>
                <a:spcPts val="0"/>
              </a:spcAft>
              <a:buSzPct val="100000"/>
              <a:buChar char="○"/>
            </a:pPr>
            <a:r>
              <a:rPr lang="en"/>
              <a:t>Upgrade all libraries, and fix all problems using JDK8, so that you don't need to have 2 code basis.</a:t>
            </a:r>
            <a:endParaRPr/>
          </a:p>
          <a:p>
            <a:pPr indent="-290830" lvl="2" marL="1371600" rtl="0" algn="l">
              <a:spcBef>
                <a:spcPts val="0"/>
              </a:spcBef>
              <a:spcAft>
                <a:spcPts val="0"/>
              </a:spcAft>
              <a:buSzPct val="100000"/>
              <a:buChar char="■"/>
            </a:pPr>
            <a:r>
              <a:rPr lang="en"/>
              <a:t>When you have fixed all problems using JDK8, you can then switch to JDK11. Examples: upgrade to ClassGraph, </a:t>
            </a:r>
            <a:r>
              <a:rPr lang="en"/>
              <a:t>upgrade</a:t>
            </a:r>
            <a:r>
              <a:rPr lang="en"/>
              <a:t> your </a:t>
            </a:r>
            <a:r>
              <a:rPr lang="en"/>
              <a:t>dependencies</a:t>
            </a:r>
            <a:r>
              <a:rPr lang="en"/>
              <a:t> libraries, stop using JNI y</a:t>
            </a:r>
            <a:r>
              <a:rPr lang="en"/>
              <a:t>java</a:t>
            </a:r>
            <a:r>
              <a:rPr lang="en"/>
              <a:t>*, validate cookies using CP, etc.</a:t>
            </a:r>
            <a:endParaRPr/>
          </a:p>
          <a:p>
            <a:pPr indent="-290830" lvl="1" marL="914400" rtl="0" algn="l">
              <a:spcBef>
                <a:spcPts val="0"/>
              </a:spcBef>
              <a:spcAft>
                <a:spcPts val="0"/>
              </a:spcAft>
              <a:buSzPct val="100000"/>
              <a:buChar char="○"/>
            </a:pPr>
            <a:r>
              <a:rPr lang="en"/>
              <a:t>For runtime production we </a:t>
            </a:r>
            <a:r>
              <a:rPr lang="en"/>
              <a:t>supported both JDKs and installed both JDKs in the runtime machines, and started some machines with JDK11 and some machines with JDK8, using the same branch and tag.</a:t>
            </a:r>
            <a:endParaRPr/>
          </a:p>
          <a:p>
            <a:pPr indent="-290830" lvl="2" marL="1371600" rtl="0" algn="l">
              <a:spcBef>
                <a:spcPts val="0"/>
              </a:spcBef>
              <a:spcAft>
                <a:spcPts val="0"/>
              </a:spcAft>
              <a:buSzPct val="100000"/>
              <a:buChar char="■"/>
            </a:pPr>
            <a:r>
              <a:rPr lang="en"/>
              <a:t>The config was done using a environment variables, setup at deploy time, per machine.</a:t>
            </a:r>
            <a:endParaRPr/>
          </a:p>
          <a:p>
            <a:pPr indent="-290830" lvl="1" marL="914400" rtl="0" algn="l">
              <a:spcBef>
                <a:spcPts val="0"/>
              </a:spcBef>
              <a:spcAft>
                <a:spcPts val="0"/>
              </a:spcAft>
              <a:buSzPct val="100000"/>
              <a:buChar char="○"/>
            </a:pPr>
            <a:r>
              <a:rPr lang="en"/>
              <a:t>In production we started by running just a single box with JDK11 for some time in one component. We did this until we stop finding problems.</a:t>
            </a:r>
            <a:endParaRPr/>
          </a:p>
          <a:p>
            <a:pPr indent="-290830" lvl="1" marL="914400" rtl="0" algn="l">
              <a:spcBef>
                <a:spcPts val="0"/>
              </a:spcBef>
              <a:spcAft>
                <a:spcPts val="0"/>
              </a:spcAft>
              <a:buSzPct val="100000"/>
              <a:buChar char="○"/>
            </a:pPr>
            <a:r>
              <a:rPr lang="en"/>
              <a:t>Slowly add more machines with JDK11, until all machines in one component are running JDK 11.</a:t>
            </a:r>
            <a:endParaRPr/>
          </a:p>
          <a:p>
            <a:pPr indent="-290830" lvl="1" marL="914400" rtl="0" algn="l">
              <a:spcBef>
                <a:spcPts val="0"/>
              </a:spcBef>
              <a:spcAft>
                <a:spcPts val="0"/>
              </a:spcAft>
              <a:buSzPct val="100000"/>
              <a:buChar char="○"/>
            </a:pPr>
            <a:r>
              <a:rPr lang="en"/>
              <a:t>When all components are done, remove the JDK8 binaries from the runtime tag.</a:t>
            </a:r>
            <a:endParaRPr/>
          </a:p>
          <a:p>
            <a:pPr indent="-308610" lvl="0" marL="457200" rtl="0" algn="l">
              <a:spcBef>
                <a:spcPts val="0"/>
              </a:spcBef>
              <a:spcAft>
                <a:spcPts val="0"/>
              </a:spcAft>
              <a:buSzPct val="100000"/>
              <a:buAutoNum type="arabicPeriod"/>
            </a:pPr>
            <a:r>
              <a:rPr lang="en"/>
              <a:t>Build time</a:t>
            </a:r>
            <a:endParaRPr/>
          </a:p>
          <a:p>
            <a:pPr indent="-290830" lvl="1" marL="914400" rtl="0" algn="l">
              <a:spcBef>
                <a:spcPts val="0"/>
              </a:spcBef>
              <a:spcAft>
                <a:spcPts val="0"/>
              </a:spcAft>
              <a:buSzPct val="100000"/>
              <a:buChar char="○"/>
            </a:pPr>
            <a:r>
              <a:rPr lang="en"/>
              <a:t>Cross-compile your libraries with JDK11 for JDK8</a:t>
            </a:r>
            <a:endParaRPr/>
          </a:p>
          <a:p>
            <a:pPr indent="-290830" lvl="1" marL="914400" rtl="0" algn="l">
              <a:spcBef>
                <a:spcPts val="0"/>
              </a:spcBef>
              <a:spcAft>
                <a:spcPts val="0"/>
              </a:spcAft>
              <a:buSzPct val="100000"/>
              <a:buChar char="○"/>
            </a:pPr>
            <a:r>
              <a:rPr lang="en"/>
              <a:t>Avoid using any JDK11 features while you are in this process.</a:t>
            </a:r>
            <a:endParaRPr/>
          </a:p>
          <a:p>
            <a:pPr indent="-290830" lvl="1" marL="914400" rtl="0" algn="l">
              <a:spcBef>
                <a:spcPts val="0"/>
              </a:spcBef>
              <a:spcAft>
                <a:spcPts val="0"/>
              </a:spcAft>
              <a:buSzPct val="100000"/>
              <a:buChar char="○"/>
            </a:pPr>
            <a:r>
              <a:rPr lang="en"/>
              <a:t>Fix as much problems as you can before compiling to native Java 11, and keep merging small fixes that works on both JDK versions. Iterate on this step until all issues are resolved.</a:t>
            </a:r>
            <a:endParaRPr/>
          </a:p>
          <a:p>
            <a:pPr indent="-290830" lvl="1" marL="914400" rtl="0" algn="l">
              <a:spcBef>
                <a:spcPts val="0"/>
              </a:spcBef>
              <a:spcAft>
                <a:spcPts val="0"/>
              </a:spcAft>
              <a:buSzPct val="100000"/>
              <a:buChar char="○"/>
            </a:pPr>
            <a:r>
              <a:rPr lang="en"/>
              <a:t>Finally when you are confident start compiling JDK11 byte code.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4"/>
          <p:cNvSpPr txBox="1"/>
          <p:nvPr>
            <p:ph type="title"/>
          </p:nvPr>
        </p:nvSpPr>
        <p:spPr>
          <a:xfrm>
            <a:off x="457200" y="647738"/>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SSL Ciphers Consistency between JDK8 and JDK11</a:t>
            </a:r>
            <a:endParaRPr/>
          </a:p>
        </p:txBody>
      </p:sp>
      <p:sp>
        <p:nvSpPr>
          <p:cNvPr id="248" name="Google Shape;248;p34"/>
          <p:cNvSpPr txBox="1"/>
          <p:nvPr>
            <p:ph idx="1" type="body"/>
          </p:nvPr>
        </p:nvSpPr>
        <p:spPr>
          <a:xfrm>
            <a:off x="457200" y="1042949"/>
            <a:ext cx="7086600" cy="3395700"/>
          </a:xfrm>
          <a:prstGeom prst="rect">
            <a:avLst/>
          </a:prstGeom>
        </p:spPr>
        <p:txBody>
          <a:bodyPr anchorCtr="0" anchor="t" bIns="0" lIns="0" spcFirstLastPara="1" rIns="0" wrap="square" tIns="0">
            <a:normAutofit/>
          </a:bodyPr>
          <a:lstStyle/>
          <a:p>
            <a:pPr indent="0" lvl="0" marL="0" rtl="0" algn="l">
              <a:spcBef>
                <a:spcPts val="900"/>
              </a:spcBef>
              <a:spcAft>
                <a:spcPts val="0"/>
              </a:spcAft>
              <a:buNone/>
            </a:pPr>
            <a:r>
              <a:rPr b="0" lang="en" sz="1100">
                <a:latin typeface="Arial"/>
                <a:ea typeface="Arial"/>
                <a:cs typeface="Arial"/>
                <a:sym typeface="Arial"/>
              </a:rPr>
              <a:t>JVM argument  -Djava.security.properties=file://disabled_tls.properties</a:t>
            </a:r>
            <a:endParaRPr b="0" sz="1100">
              <a:latin typeface="Arial"/>
              <a:ea typeface="Arial"/>
              <a:cs typeface="Arial"/>
              <a:sym typeface="Arial"/>
            </a:endParaRPr>
          </a:p>
          <a:p>
            <a:pPr indent="0" lvl="0" marL="0" rtl="0" algn="l">
              <a:spcBef>
                <a:spcPts val="1000"/>
              </a:spcBef>
              <a:spcAft>
                <a:spcPts val="0"/>
              </a:spcAft>
              <a:buClr>
                <a:schemeClr val="dk1"/>
              </a:buClr>
              <a:buSzPts val="1100"/>
              <a:buFont typeface="Arial"/>
              <a:buNone/>
            </a:pPr>
            <a:r>
              <a:rPr b="0" lang="en" sz="1100">
                <a:latin typeface="Arial"/>
                <a:ea typeface="Arial"/>
                <a:cs typeface="Arial"/>
                <a:sym typeface="Arial"/>
              </a:rPr>
              <a:t># When -Djava.security.properties=file:///&lt;path&gt;/disabled_tls.properties is set to this file only jdk.tls.disabledAlgorithms security property will be overridden from this file.</a:t>
            </a:r>
            <a:endParaRPr b="0" sz="1100">
              <a:latin typeface="Arial"/>
              <a:ea typeface="Arial"/>
              <a:cs typeface="Arial"/>
              <a:sym typeface="Arial"/>
            </a:endParaRPr>
          </a:p>
          <a:p>
            <a:pPr indent="0" lvl="0" marL="0" rtl="0" algn="l">
              <a:spcBef>
                <a:spcPts val="1000"/>
              </a:spcBef>
              <a:spcAft>
                <a:spcPts val="0"/>
              </a:spcAft>
              <a:buNone/>
            </a:pPr>
            <a:r>
              <a:rPr b="0" lang="en" sz="1100">
                <a:latin typeface="Arial"/>
                <a:ea typeface="Arial"/>
                <a:cs typeface="Arial"/>
                <a:sym typeface="Arial"/>
              </a:rPr>
              <a:t># JDK12 has disabled more Cipher Suites than JDK8. We try to keep same list as JDK8</a:t>
            </a:r>
            <a:endParaRPr b="0" sz="1100">
              <a:latin typeface="Arial"/>
              <a:ea typeface="Arial"/>
              <a:cs typeface="Arial"/>
              <a:sym typeface="Arial"/>
            </a:endParaRPr>
          </a:p>
          <a:p>
            <a:pPr indent="0" lvl="0" marL="0" rtl="0" algn="l">
              <a:spcBef>
                <a:spcPts val="1000"/>
              </a:spcBef>
              <a:spcAft>
                <a:spcPts val="0"/>
              </a:spcAft>
              <a:buNone/>
            </a:pPr>
            <a:r>
              <a:rPr b="0" lang="en" sz="1100">
                <a:latin typeface="Arial"/>
                <a:ea typeface="Arial"/>
                <a:cs typeface="Arial"/>
                <a:sym typeface="Arial"/>
              </a:rPr>
              <a:t>jdk.tls.disabledAlgorithms=SSLv3, RC4, MD5withRSA, DH keySize &lt; 768, EC keySize &lt; 224, anon</a:t>
            </a:r>
            <a:endParaRPr b="0" sz="1100">
              <a:latin typeface="Arial"/>
              <a:ea typeface="Arial"/>
              <a:cs typeface="Arial"/>
              <a:sym typeface="Arial"/>
            </a:endParaRPr>
          </a:p>
          <a:p>
            <a:pPr indent="0" lvl="0" marL="0" rtl="0" algn="l">
              <a:spcBef>
                <a:spcPts val="1000"/>
              </a:spcBef>
              <a:spcAft>
                <a:spcPts val="0"/>
              </a:spcAft>
              <a:buNone/>
            </a:pPr>
            <a:r>
              <a:t/>
            </a:r>
            <a:endParaRPr sz="1100">
              <a:latin typeface="Arial"/>
              <a:ea typeface="Arial"/>
              <a:cs typeface="Arial"/>
              <a:sym typeface="Arial"/>
            </a:endParaRPr>
          </a:p>
          <a:p>
            <a:pPr indent="0" lvl="0" marL="0" rtl="0" algn="l">
              <a:spcBef>
                <a:spcPts val="1000"/>
              </a:spcBef>
              <a:spcAft>
                <a:spcPts val="0"/>
              </a:spcAft>
              <a:buNone/>
            </a:pPr>
            <a:r>
              <a:rPr lang="en" sz="1100">
                <a:latin typeface="Arial"/>
                <a:ea typeface="Arial"/>
                <a:cs typeface="Arial"/>
                <a:sym typeface="Arial"/>
              </a:rPr>
              <a:t>Also sun packages are also not available on JDK11 you will need to find alternatives</a:t>
            </a:r>
            <a:r>
              <a:rPr b="0" lang="en" sz="1100">
                <a:latin typeface="Arial"/>
                <a:ea typeface="Arial"/>
                <a:cs typeface="Arial"/>
                <a:sym typeface="Arial"/>
              </a:rPr>
              <a:t>, for example: sun.security.acl.*</a:t>
            </a:r>
            <a:endParaRPr b="0" sz="1100">
              <a:latin typeface="Arial"/>
              <a:ea typeface="Arial"/>
              <a:cs typeface="Arial"/>
              <a:sym typeface="Arial"/>
            </a:endParaRPr>
          </a:p>
          <a:p>
            <a:pPr indent="0" lvl="0" marL="0" rtl="0" algn="l">
              <a:spcBef>
                <a:spcPts val="1000"/>
              </a:spcBef>
              <a:spcAft>
                <a:spcPts val="1000"/>
              </a:spcAft>
              <a:buNone/>
            </a:pPr>
            <a:r>
              <a:t/>
            </a:r>
            <a:endParaRPr b="0" sz="11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type="title"/>
          </p:nvPr>
        </p:nvSpPr>
        <p:spPr>
          <a:xfrm>
            <a:off x="457200" y="647738"/>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Using setcap to bind to lower ports on JDK11</a:t>
            </a:r>
            <a:endParaRPr/>
          </a:p>
        </p:txBody>
      </p:sp>
      <p:sp>
        <p:nvSpPr>
          <p:cNvPr id="254" name="Google Shape;254;p35"/>
          <p:cNvSpPr txBox="1"/>
          <p:nvPr>
            <p:ph idx="1" type="body"/>
          </p:nvPr>
        </p:nvSpPr>
        <p:spPr>
          <a:xfrm>
            <a:off x="457200" y="1042949"/>
            <a:ext cx="7086600" cy="3395700"/>
          </a:xfrm>
          <a:prstGeom prst="rect">
            <a:avLst/>
          </a:prstGeom>
        </p:spPr>
        <p:txBody>
          <a:bodyPr anchorCtr="0" anchor="t" bIns="0" lIns="0" spcFirstLastPara="1" rIns="0" wrap="square" tIns="0">
            <a:normAutofit/>
          </a:bodyPr>
          <a:lstStyle/>
          <a:p>
            <a:pPr indent="0" lvl="0" marL="0" rtl="0" algn="l">
              <a:spcBef>
                <a:spcPts val="900"/>
              </a:spcBef>
              <a:spcAft>
                <a:spcPts val="0"/>
              </a:spcAft>
              <a:buNone/>
            </a:pPr>
            <a:r>
              <a:rPr b="0" lang="en" sz="1100">
                <a:latin typeface="Arial"/>
                <a:ea typeface="Arial"/>
                <a:cs typeface="Arial"/>
                <a:sym typeface="Arial"/>
              </a:rPr>
              <a:t>           </a:t>
            </a:r>
            <a:r>
              <a:rPr b="0" lang="en" sz="1100">
                <a:latin typeface="Arial"/>
                <a:ea typeface="Arial"/>
                <a:cs typeface="Arial"/>
                <a:sym typeface="Arial"/>
              </a:rPr>
              <a:t>sudo setcap 'cap_net_bind_service=+ep' /home/y/share/yjava_jdk/java/bin/java</a:t>
            </a:r>
            <a:endParaRPr b="0" sz="1100">
              <a:latin typeface="Arial"/>
              <a:ea typeface="Arial"/>
              <a:cs typeface="Arial"/>
              <a:sym typeface="Arial"/>
            </a:endParaRPr>
          </a:p>
          <a:p>
            <a:pPr indent="0" lvl="0" marL="0" rtl="0" algn="l">
              <a:spcBef>
                <a:spcPts val="1000"/>
              </a:spcBef>
              <a:spcAft>
                <a:spcPts val="0"/>
              </a:spcAft>
              <a:buNone/>
            </a:pPr>
            <a:r>
              <a:rPr b="0" lang="en" sz="1100">
                <a:latin typeface="Arial"/>
                <a:ea typeface="Arial"/>
                <a:cs typeface="Arial"/>
                <a:sym typeface="Arial"/>
              </a:rPr>
              <a:t>With migration from RHEL6 to RHEL7 and JDK 8 to JDK 11 implementation of binding to lower ports changed, and you might need setcap to be able to bind to lower ports.</a:t>
            </a:r>
            <a:endParaRPr b="0" sz="1100">
              <a:latin typeface="Arial"/>
              <a:ea typeface="Arial"/>
              <a:cs typeface="Arial"/>
              <a:sym typeface="Arial"/>
            </a:endParaRPr>
          </a:p>
          <a:p>
            <a:pPr indent="0" lvl="0" marL="0" rtl="0" algn="l">
              <a:spcBef>
                <a:spcPts val="1000"/>
              </a:spcBef>
              <a:spcAft>
                <a:spcPts val="0"/>
              </a:spcAft>
              <a:buNone/>
            </a:pPr>
            <a:r>
              <a:t/>
            </a:r>
            <a:endParaRPr b="0" sz="1100">
              <a:latin typeface="Arial"/>
              <a:ea typeface="Arial"/>
              <a:cs typeface="Arial"/>
              <a:sym typeface="Arial"/>
            </a:endParaRPr>
          </a:p>
          <a:p>
            <a:pPr indent="0" lvl="0" marL="0" rtl="0" algn="l">
              <a:spcBef>
                <a:spcPts val="1000"/>
              </a:spcBef>
              <a:spcAft>
                <a:spcPts val="0"/>
              </a:spcAft>
              <a:buNone/>
            </a:pPr>
            <a:r>
              <a:rPr b="0" lang="en" sz="1100">
                <a:latin typeface="Arial"/>
                <a:ea typeface="Arial"/>
                <a:cs typeface="Arial"/>
                <a:sym typeface="Arial"/>
              </a:rPr>
              <a:t>Doing setcap on java executable, will create others problems, for example debug tools like jmap, jvisualvm, flight recorder, jstack, jps and if you are using JMX, all these tools will get impacted with setcap so be careful when using setcap. </a:t>
            </a:r>
            <a:endParaRPr b="0" sz="1100">
              <a:latin typeface="Arial"/>
              <a:ea typeface="Arial"/>
              <a:cs typeface="Arial"/>
              <a:sym typeface="Arial"/>
            </a:endParaRPr>
          </a:p>
          <a:p>
            <a:pPr indent="0" lvl="0" marL="0" rtl="0" algn="l">
              <a:spcBef>
                <a:spcPts val="1000"/>
              </a:spcBef>
              <a:spcAft>
                <a:spcPts val="1000"/>
              </a:spcAft>
              <a:buNone/>
            </a:pPr>
            <a:r>
              <a:t/>
            </a:r>
            <a:endParaRPr b="0" sz="11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Classloader solutions</a:t>
            </a:r>
            <a:endParaRPr/>
          </a:p>
        </p:txBody>
      </p:sp>
      <p:sp>
        <p:nvSpPr>
          <p:cNvPr id="260" name="Google Shape;260;p36"/>
          <p:cNvSpPr txBox="1"/>
          <p:nvPr>
            <p:ph idx="1" type="body"/>
          </p:nvPr>
        </p:nvSpPr>
        <p:spPr>
          <a:xfrm>
            <a:off x="457200" y="1333550"/>
            <a:ext cx="7086600" cy="3105000"/>
          </a:xfrm>
          <a:prstGeom prst="rect">
            <a:avLst/>
          </a:prstGeom>
        </p:spPr>
        <p:txBody>
          <a:bodyPr anchorCtr="0" anchor="t" bIns="0" lIns="0" spcFirstLastPara="1" rIns="0" wrap="square" tIns="0">
            <a:normAutofit/>
          </a:bodyPr>
          <a:lstStyle/>
          <a:p>
            <a:pPr indent="0" lvl="0" marL="190500" marR="190500" rtl="0" algn="l">
              <a:lnSpc>
                <a:spcPct val="146668"/>
              </a:lnSpc>
              <a:spcBef>
                <a:spcPts val="0"/>
              </a:spcBef>
              <a:spcAft>
                <a:spcPts val="0"/>
              </a:spcAft>
              <a:buNone/>
            </a:pPr>
            <a:r>
              <a:rPr b="0" lang="en" sz="1150">
                <a:solidFill>
                  <a:srgbClr val="1D1C1D"/>
                </a:solidFill>
                <a:highlight>
                  <a:srgbClr val="FFFFFF"/>
                </a:highlight>
                <a:latin typeface="Arial"/>
                <a:ea typeface="Arial"/>
                <a:cs typeface="Arial"/>
                <a:sym typeface="Arial"/>
              </a:rPr>
              <a:t>Java 8 supported </a:t>
            </a:r>
            <a:r>
              <a:rPr b="0" lang="en" sz="1150">
                <a:solidFill>
                  <a:srgbClr val="1D1C1D"/>
                </a:solidFill>
                <a:highlight>
                  <a:schemeClr val="lt1"/>
                </a:highlight>
                <a:latin typeface="Arial"/>
                <a:ea typeface="Arial"/>
                <a:cs typeface="Arial"/>
                <a:sym typeface="Arial"/>
              </a:rPr>
              <a:t>UrlClassloader</a:t>
            </a:r>
            <a:r>
              <a:rPr b="0" lang="en" sz="1150">
                <a:solidFill>
                  <a:srgbClr val="1D1C1D"/>
                </a:solidFill>
                <a:highlight>
                  <a:srgbClr val="FFFFFF"/>
                </a:highlight>
                <a:latin typeface="Arial"/>
                <a:ea typeface="Arial"/>
                <a:cs typeface="Arial"/>
                <a:sym typeface="Arial"/>
              </a:rPr>
              <a:t> and all implementations including the system classloader were instances of UrlClassloader. Retrieving the jars &amp; classes using public apis of UrlClassloader is not supported since Java 9. From Java 9 onwards, the system classloader implementation was made private.</a:t>
            </a:r>
            <a:endParaRPr b="0" sz="1150">
              <a:solidFill>
                <a:srgbClr val="1D1C1D"/>
              </a:solidFill>
              <a:highlight>
                <a:srgbClr val="FFFFFF"/>
              </a:highlight>
              <a:latin typeface="Arial"/>
              <a:ea typeface="Arial"/>
              <a:cs typeface="Arial"/>
              <a:sym typeface="Arial"/>
            </a:endParaRPr>
          </a:p>
          <a:p>
            <a:pPr indent="0" lvl="0" marL="190500" marR="190500" rtl="0" algn="l">
              <a:lnSpc>
                <a:spcPct val="146668"/>
              </a:lnSpc>
              <a:spcBef>
                <a:spcPts val="0"/>
              </a:spcBef>
              <a:spcAft>
                <a:spcPts val="0"/>
              </a:spcAft>
              <a:buNone/>
            </a:pPr>
            <a:r>
              <a:t/>
            </a:r>
            <a:endParaRPr b="0" sz="1150">
              <a:solidFill>
                <a:srgbClr val="1D1C1D"/>
              </a:solidFill>
              <a:highlight>
                <a:srgbClr val="FFFFFF"/>
              </a:highlight>
              <a:latin typeface="Arial"/>
              <a:ea typeface="Arial"/>
              <a:cs typeface="Arial"/>
              <a:sym typeface="Arial"/>
            </a:endParaRPr>
          </a:p>
          <a:p>
            <a:pPr indent="0" lvl="0" marL="190500" marR="190500" rtl="0" algn="l">
              <a:lnSpc>
                <a:spcPct val="146668"/>
              </a:lnSpc>
              <a:spcBef>
                <a:spcPts val="0"/>
              </a:spcBef>
              <a:spcAft>
                <a:spcPts val="0"/>
              </a:spcAft>
              <a:buNone/>
            </a:pPr>
            <a:r>
              <a:rPr b="0" lang="en" sz="1150">
                <a:solidFill>
                  <a:srgbClr val="1D1C1D"/>
                </a:solidFill>
                <a:highlight>
                  <a:srgbClr val="FFFFFF"/>
                </a:highlight>
                <a:latin typeface="Arial"/>
                <a:ea typeface="Arial"/>
                <a:cs typeface="Arial"/>
                <a:sym typeface="Arial"/>
              </a:rPr>
              <a:t>We moved to use</a:t>
            </a:r>
            <a:r>
              <a:rPr b="0" lang="en" sz="1150">
                <a:solidFill>
                  <a:srgbClr val="1D1C1D"/>
                </a:solidFill>
                <a:highlight>
                  <a:srgbClr val="FFFFFF"/>
                </a:highlight>
                <a:latin typeface="Arial"/>
                <a:ea typeface="Arial"/>
                <a:cs typeface="Arial"/>
                <a:sym typeface="Arial"/>
              </a:rPr>
              <a:t> ClassGraph, to help with the refactor, because this library works in both Java 11 and Java 8.</a:t>
            </a:r>
            <a:endParaRPr b="0" sz="1150">
              <a:solidFill>
                <a:srgbClr val="1D1C1D"/>
              </a:solidFill>
              <a:highlight>
                <a:srgbClr val="FFFFFF"/>
              </a:highlight>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7"/>
          <p:cNvSpPr txBox="1"/>
          <p:nvPr>
            <p:ph type="title"/>
          </p:nvPr>
        </p:nvSpPr>
        <p:spPr>
          <a:xfrm>
            <a:off x="457200" y="647750"/>
            <a:ext cx="8229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Classloader solutions - </a:t>
            </a:r>
            <a:r>
              <a:rPr lang="en"/>
              <a:t>Scan with classgraph</a:t>
            </a:r>
            <a:endParaRPr/>
          </a:p>
        </p:txBody>
      </p:sp>
      <p:pic>
        <p:nvPicPr>
          <p:cNvPr id="266" name="Google Shape;266;p37"/>
          <p:cNvPicPr preferRelativeResize="0"/>
          <p:nvPr/>
        </p:nvPicPr>
        <p:blipFill>
          <a:blip r:embed="rId3">
            <a:alphaModFix/>
          </a:blip>
          <a:stretch>
            <a:fillRect/>
          </a:stretch>
        </p:blipFill>
        <p:spPr>
          <a:xfrm>
            <a:off x="416725" y="988999"/>
            <a:ext cx="7512129" cy="2305875"/>
          </a:xfrm>
          <a:prstGeom prst="rect">
            <a:avLst/>
          </a:prstGeom>
          <a:noFill/>
          <a:ln>
            <a:noFill/>
          </a:ln>
        </p:spPr>
      </p:pic>
      <p:pic>
        <p:nvPicPr>
          <p:cNvPr id="267" name="Google Shape;267;p37"/>
          <p:cNvPicPr preferRelativeResize="0"/>
          <p:nvPr/>
        </p:nvPicPr>
        <p:blipFill>
          <a:blip r:embed="rId4">
            <a:alphaModFix/>
          </a:blip>
          <a:stretch>
            <a:fillRect/>
          </a:stretch>
        </p:blipFill>
        <p:spPr>
          <a:xfrm>
            <a:off x="1759325" y="2502899"/>
            <a:ext cx="7434451" cy="1830275"/>
          </a:xfrm>
          <a:prstGeom prst="rect">
            <a:avLst/>
          </a:prstGeom>
          <a:noFill/>
          <a:ln>
            <a:noFill/>
          </a:ln>
        </p:spPr>
      </p:pic>
      <p:pic>
        <p:nvPicPr>
          <p:cNvPr id="268" name="Google Shape;268;p37"/>
          <p:cNvPicPr preferRelativeResize="0"/>
          <p:nvPr/>
        </p:nvPicPr>
        <p:blipFill>
          <a:blip r:embed="rId5">
            <a:alphaModFix/>
          </a:blip>
          <a:stretch>
            <a:fillRect/>
          </a:stretch>
        </p:blipFill>
        <p:spPr>
          <a:xfrm>
            <a:off x="4643088" y="1717525"/>
            <a:ext cx="4333875" cy="1019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8"/>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JMX</a:t>
            </a:r>
            <a:endParaRPr/>
          </a:p>
        </p:txBody>
      </p:sp>
      <p:pic>
        <p:nvPicPr>
          <p:cNvPr id="274" name="Google Shape;274;p38"/>
          <p:cNvPicPr preferRelativeResize="0"/>
          <p:nvPr/>
        </p:nvPicPr>
        <p:blipFill>
          <a:blip r:embed="rId3">
            <a:alphaModFix/>
          </a:blip>
          <a:stretch>
            <a:fillRect/>
          </a:stretch>
        </p:blipFill>
        <p:spPr>
          <a:xfrm>
            <a:off x="457200" y="1552626"/>
            <a:ext cx="5706500" cy="2354150"/>
          </a:xfrm>
          <a:prstGeom prst="rect">
            <a:avLst/>
          </a:prstGeom>
          <a:noFill/>
          <a:ln>
            <a:noFill/>
          </a:ln>
        </p:spPr>
      </p:pic>
      <p:pic>
        <p:nvPicPr>
          <p:cNvPr id="275" name="Google Shape;275;p38"/>
          <p:cNvPicPr preferRelativeResize="0"/>
          <p:nvPr/>
        </p:nvPicPr>
        <p:blipFill>
          <a:blip r:embed="rId4">
            <a:alphaModFix/>
          </a:blip>
          <a:stretch>
            <a:fillRect/>
          </a:stretch>
        </p:blipFill>
        <p:spPr>
          <a:xfrm>
            <a:off x="2591400" y="2108147"/>
            <a:ext cx="6278751" cy="2634650"/>
          </a:xfrm>
          <a:prstGeom prst="rect">
            <a:avLst/>
          </a:prstGeom>
          <a:noFill/>
          <a:ln>
            <a:noFill/>
          </a:ln>
        </p:spPr>
      </p:pic>
      <p:sp>
        <p:nvSpPr>
          <p:cNvPr id="276" name="Google Shape;276;p38"/>
          <p:cNvSpPr txBox="1"/>
          <p:nvPr/>
        </p:nvSpPr>
        <p:spPr>
          <a:xfrm>
            <a:off x="457200" y="987150"/>
            <a:ext cx="82296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tools .jar is private, you should move to use the new jdk 9 apis.</a:t>
            </a:r>
            <a:endParaRPr sz="11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9"/>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Maven changes</a:t>
            </a:r>
            <a:endParaRPr/>
          </a:p>
        </p:txBody>
      </p:sp>
      <p:sp>
        <p:nvSpPr>
          <p:cNvPr id="282" name="Google Shape;282;p39"/>
          <p:cNvSpPr txBox="1"/>
          <p:nvPr>
            <p:ph idx="1" type="body"/>
          </p:nvPr>
        </p:nvSpPr>
        <p:spPr>
          <a:xfrm>
            <a:off x="457200" y="1042799"/>
            <a:ext cx="7086600" cy="3395700"/>
          </a:xfrm>
          <a:prstGeom prst="rect">
            <a:avLst/>
          </a:prstGeom>
        </p:spPr>
        <p:txBody>
          <a:bodyPr anchorCtr="0" anchor="t" bIns="0" lIns="0" spcFirstLastPara="1" rIns="0" wrap="square" tIns="0">
            <a:normAutofit/>
          </a:bodyPr>
          <a:lstStyle/>
          <a:p>
            <a:pPr indent="-317500" lvl="0" marL="457200" rtl="0" algn="l">
              <a:spcBef>
                <a:spcPts val="900"/>
              </a:spcBef>
              <a:spcAft>
                <a:spcPts val="0"/>
              </a:spcAft>
              <a:buSzPts val="1400"/>
              <a:buAutoNum type="arabicPeriod"/>
            </a:pPr>
            <a:r>
              <a:rPr b="0" lang="en" sz="1400"/>
              <a:t>J</a:t>
            </a:r>
            <a:r>
              <a:rPr b="0" lang="en" sz="1400"/>
              <a:t>ava-ee was bundled in jdk8, but in jdk11 you need to </a:t>
            </a:r>
            <a:r>
              <a:rPr b="0" lang="en" sz="1400"/>
              <a:t>declare the dependency </a:t>
            </a:r>
            <a:r>
              <a:rPr b="0" lang="en" sz="1400"/>
              <a:t>explicitly for the libraries you need.</a:t>
            </a:r>
            <a:endParaRPr b="0" sz="1400"/>
          </a:p>
          <a:p>
            <a:pPr indent="0" lvl="0" marL="0" rtl="0" algn="l">
              <a:spcBef>
                <a:spcPts val="1000"/>
              </a:spcBef>
              <a:spcAft>
                <a:spcPts val="1000"/>
              </a:spcAft>
              <a:buNone/>
            </a:pPr>
            <a:r>
              <a:t/>
            </a:r>
            <a:endParaRPr b="0" sz="1100">
              <a:latin typeface="Courier New"/>
              <a:ea typeface="Courier New"/>
              <a:cs typeface="Courier New"/>
              <a:sym typeface="Courier New"/>
            </a:endParaRPr>
          </a:p>
        </p:txBody>
      </p:sp>
      <p:pic>
        <p:nvPicPr>
          <p:cNvPr id="283" name="Google Shape;283;p39"/>
          <p:cNvPicPr preferRelativeResize="0"/>
          <p:nvPr/>
        </p:nvPicPr>
        <p:blipFill>
          <a:blip r:embed="rId3">
            <a:alphaModFix/>
          </a:blip>
          <a:stretch>
            <a:fillRect/>
          </a:stretch>
        </p:blipFill>
        <p:spPr>
          <a:xfrm>
            <a:off x="457200" y="1726225"/>
            <a:ext cx="4381500" cy="2028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Upgrade</a:t>
            </a:r>
            <a:r>
              <a:rPr lang="en"/>
              <a:t> maven plugin to </a:t>
            </a:r>
            <a:r>
              <a:rPr lang="en"/>
              <a:t>version</a:t>
            </a:r>
            <a:r>
              <a:rPr lang="en"/>
              <a:t> 3.X</a:t>
            </a:r>
            <a:endParaRPr/>
          </a:p>
        </p:txBody>
      </p:sp>
      <p:sp>
        <p:nvSpPr>
          <p:cNvPr id="289" name="Google Shape;289;p40"/>
          <p:cNvSpPr txBox="1"/>
          <p:nvPr>
            <p:ph idx="1" type="body"/>
          </p:nvPr>
        </p:nvSpPr>
        <p:spPr>
          <a:xfrm>
            <a:off x="457200" y="1042949"/>
            <a:ext cx="7086600" cy="3395700"/>
          </a:xfrm>
          <a:prstGeom prst="rect">
            <a:avLst/>
          </a:prstGeom>
        </p:spPr>
        <p:txBody>
          <a:bodyPr anchorCtr="0" anchor="t" bIns="0" lIns="0" spcFirstLastPara="1" rIns="0" wrap="square" tIns="0">
            <a:normAutofit/>
          </a:bodyPr>
          <a:lstStyle/>
          <a:p>
            <a:pPr indent="-317500" lvl="0" marL="457200" rtl="0" algn="l">
              <a:spcBef>
                <a:spcPts val="900"/>
              </a:spcBef>
              <a:spcAft>
                <a:spcPts val="0"/>
              </a:spcAft>
              <a:buSzPts val="1400"/>
              <a:buAutoNum type="arabicPeriod"/>
            </a:pPr>
            <a:r>
              <a:rPr b="0" lang="en" sz="1100">
                <a:latin typeface="Arial"/>
                <a:ea typeface="Arial"/>
                <a:cs typeface="Arial"/>
                <a:sym typeface="Arial"/>
              </a:rPr>
              <a:t>To support JDK 11 and above you need to use version 3.X of all maven plugins</a:t>
            </a:r>
            <a:endParaRPr b="0" sz="1100">
              <a:latin typeface="Arial"/>
              <a:ea typeface="Arial"/>
              <a:cs typeface="Arial"/>
              <a:sym typeface="Arial"/>
            </a:endParaRPr>
          </a:p>
          <a:p>
            <a:pPr indent="-317500" lvl="0" marL="457200" rtl="0" algn="l">
              <a:spcBef>
                <a:spcPts val="1000"/>
              </a:spcBef>
              <a:spcAft>
                <a:spcPts val="0"/>
              </a:spcAft>
              <a:buSzPts val="1400"/>
              <a:buAutoNum type="arabicPeriod"/>
            </a:pPr>
            <a:r>
              <a:rPr b="0" lang="en" sz="1100">
                <a:latin typeface="Arial"/>
                <a:ea typeface="Arial"/>
                <a:cs typeface="Arial"/>
                <a:sym typeface="Arial"/>
              </a:rPr>
              <a:t>Upgrade plugins as part of jdk upgrade for compilation avoid string instantiation PMD fix</a:t>
            </a:r>
            <a:r>
              <a:rPr b="0" lang="en" sz="1100">
                <a:uFill>
                  <a:noFill/>
                </a:uFill>
                <a:latin typeface="Arial"/>
                <a:ea typeface="Arial"/>
                <a:cs typeface="Arial"/>
                <a:sym typeface="Arial"/>
                <a:hlinkClick r:id="rId3"/>
              </a:rPr>
              <a:t> </a:t>
            </a:r>
            <a:r>
              <a:rPr b="0" lang="en" sz="1100" u="sng">
                <a:solidFill>
                  <a:schemeClr val="hlink"/>
                </a:solidFill>
                <a:latin typeface="Arial"/>
                <a:ea typeface="Arial"/>
                <a:cs typeface="Arial"/>
                <a:sym typeface="Arial"/>
                <a:hlinkClick r:id="rId4"/>
              </a:rPr>
              <a:t>https://pmd.github.io/pmd-6.21.0/pmd_rules_java_performance.html#stringinstantiation</a:t>
            </a:r>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maven-release-plugin 3.0.0-M1</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build-helper-maven-plugin 3.1.0</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maven-resources-plugin 3.1.0</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maven-assembly-plugin 3.2.0</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maven-clean-plugin 3.1.0</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maven-enforcer-plugin 3.0.0-M3</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maven-pmd-plugin 3.13.0</a:t>
            </a:r>
            <a:endParaRPr b="0" sz="800">
              <a:latin typeface="Courier New"/>
              <a:ea typeface="Courier New"/>
              <a:cs typeface="Courier New"/>
              <a:sym typeface="Courier New"/>
            </a:endParaRPr>
          </a:p>
          <a:p>
            <a:pPr indent="0" lvl="0" marL="457200" rtl="0" algn="l">
              <a:spcBef>
                <a:spcPts val="1000"/>
              </a:spcBef>
              <a:spcAft>
                <a:spcPts val="0"/>
              </a:spcAft>
              <a:buClr>
                <a:schemeClr val="dk1"/>
              </a:buClr>
              <a:buSzPts val="1100"/>
              <a:buFont typeface="Arial"/>
              <a:buNone/>
            </a:pPr>
            <a:r>
              <a:rPr b="0" lang="en" sz="800">
                <a:latin typeface="Courier New"/>
                <a:ea typeface="Courier New"/>
                <a:cs typeface="Courier New"/>
                <a:sym typeface="Courier New"/>
              </a:rPr>
              <a:t>maven-install-plugin 3.0.0-M1</a:t>
            </a:r>
            <a:endParaRPr b="0" sz="800">
              <a:latin typeface="Courier New"/>
              <a:ea typeface="Courier New"/>
              <a:cs typeface="Courier New"/>
              <a:sym typeface="Courier New"/>
            </a:endParaRPr>
          </a:p>
          <a:p>
            <a:pPr indent="0" lvl="0" marL="457200" rtl="0" algn="l">
              <a:spcBef>
                <a:spcPts val="1000"/>
              </a:spcBef>
              <a:spcAft>
                <a:spcPts val="1000"/>
              </a:spcAft>
              <a:buNone/>
            </a:pPr>
            <a:r>
              <a:rPr b="0" lang="en" sz="800">
                <a:latin typeface="Courier New"/>
                <a:ea typeface="Courier New"/>
                <a:cs typeface="Courier New"/>
                <a:sym typeface="Courier New"/>
              </a:rPr>
              <a:t>maven-checkstyle-plugin 3.1.1</a:t>
            </a:r>
            <a:r>
              <a:rPr b="0" lang="en" sz="1100">
                <a:uFill>
                  <a:noFill/>
                </a:uFill>
                <a:latin typeface="Arial"/>
                <a:ea typeface="Arial"/>
                <a:cs typeface="Arial"/>
                <a:sym typeface="Arial"/>
                <a:hlinkClick r:id="rId5"/>
              </a:rPr>
              <a:t> </a:t>
            </a:r>
            <a:endParaRPr b="0" sz="800">
              <a:latin typeface="Courier New"/>
              <a:ea typeface="Courier New"/>
              <a:cs typeface="Courier New"/>
              <a:sym typeface="Courier New"/>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1"/>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Minimum</a:t>
            </a:r>
            <a:r>
              <a:rPr lang="en"/>
              <a:t> </a:t>
            </a:r>
            <a:r>
              <a:rPr lang="en"/>
              <a:t>Maven version 3.5.2</a:t>
            </a:r>
            <a:endParaRPr/>
          </a:p>
        </p:txBody>
      </p:sp>
      <p:pic>
        <p:nvPicPr>
          <p:cNvPr id="295" name="Google Shape;295;p41"/>
          <p:cNvPicPr preferRelativeResize="0"/>
          <p:nvPr/>
        </p:nvPicPr>
        <p:blipFill>
          <a:blip r:embed="rId3">
            <a:alphaModFix/>
          </a:blip>
          <a:stretch>
            <a:fillRect/>
          </a:stretch>
        </p:blipFill>
        <p:spPr>
          <a:xfrm>
            <a:off x="457191" y="1062500"/>
            <a:ext cx="6744732" cy="33761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Maven surefire plugin</a:t>
            </a:r>
            <a:endParaRPr/>
          </a:p>
        </p:txBody>
      </p:sp>
      <p:pic>
        <p:nvPicPr>
          <p:cNvPr id="301" name="Google Shape;301;p42"/>
          <p:cNvPicPr preferRelativeResize="0"/>
          <p:nvPr/>
        </p:nvPicPr>
        <p:blipFill>
          <a:blip r:embed="rId3">
            <a:alphaModFix/>
          </a:blip>
          <a:stretch>
            <a:fillRect/>
          </a:stretch>
        </p:blipFill>
        <p:spPr>
          <a:xfrm>
            <a:off x="1215662" y="1333550"/>
            <a:ext cx="6586313" cy="3105100"/>
          </a:xfrm>
          <a:prstGeom prst="rect">
            <a:avLst/>
          </a:prstGeom>
          <a:noFill/>
          <a:ln>
            <a:noFill/>
          </a:ln>
        </p:spPr>
      </p:pic>
      <p:sp>
        <p:nvSpPr>
          <p:cNvPr id="302" name="Google Shape;302;p42"/>
          <p:cNvSpPr txBox="1"/>
          <p:nvPr/>
        </p:nvSpPr>
        <p:spPr>
          <a:xfrm>
            <a:off x="457200" y="1018375"/>
            <a:ext cx="8229600" cy="36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50">
                <a:solidFill>
                  <a:srgbClr val="1D1C1D"/>
                </a:solidFill>
                <a:highlight>
                  <a:srgbClr val="FFFFFF"/>
                </a:highlight>
              </a:rPr>
              <a:t>If your UTs use jmx connections, you need to change </a:t>
            </a:r>
            <a:r>
              <a:rPr b="1" lang="en" sz="1150">
                <a:solidFill>
                  <a:srgbClr val="1D1C1D"/>
                </a:solidFill>
                <a:highlight>
                  <a:srgbClr val="FFFFFF"/>
                </a:highlight>
              </a:rPr>
              <a:t>allowAttachSelf</a:t>
            </a:r>
            <a:r>
              <a:rPr b="1" lang="en" sz="1150">
                <a:solidFill>
                  <a:srgbClr val="1D1C1D"/>
                </a:solidFill>
                <a:highlight>
                  <a:srgbClr val="FFFFFF"/>
                </a:highlight>
              </a:rPr>
              <a:t>=true</a:t>
            </a:r>
            <a:endParaRPr b="1"/>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ph type="title"/>
          </p:nvPr>
        </p:nvSpPr>
        <p:spPr>
          <a:xfrm>
            <a:off x="457200" y="647738"/>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Maven testng version to work with JDK 11</a:t>
            </a:r>
            <a:endParaRPr/>
          </a:p>
        </p:txBody>
      </p:sp>
      <p:pic>
        <p:nvPicPr>
          <p:cNvPr id="308" name="Google Shape;308;p43"/>
          <p:cNvPicPr preferRelativeResize="0"/>
          <p:nvPr/>
        </p:nvPicPr>
        <p:blipFill>
          <a:blip r:embed="rId3">
            <a:alphaModFix/>
          </a:blip>
          <a:stretch>
            <a:fillRect/>
          </a:stretch>
        </p:blipFill>
        <p:spPr>
          <a:xfrm>
            <a:off x="608675" y="1485888"/>
            <a:ext cx="4076700" cy="21717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type="title"/>
          </p:nvPr>
        </p:nvSpPr>
        <p:spPr>
          <a:xfrm>
            <a:off x="457200" y="647738"/>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Upgrade yiv and </a:t>
            </a:r>
            <a:r>
              <a:rPr lang="en"/>
              <a:t>yca</a:t>
            </a:r>
            <a:r>
              <a:rPr lang="en"/>
              <a:t> to higher versions</a:t>
            </a:r>
            <a:endParaRPr/>
          </a:p>
        </p:txBody>
      </p:sp>
      <p:sp>
        <p:nvSpPr>
          <p:cNvPr id="314" name="Google Shape;314;p44"/>
          <p:cNvSpPr txBox="1"/>
          <p:nvPr>
            <p:ph idx="1" type="body"/>
          </p:nvPr>
        </p:nvSpPr>
        <p:spPr>
          <a:xfrm>
            <a:off x="457200" y="1042949"/>
            <a:ext cx="7086600" cy="3395700"/>
          </a:xfrm>
          <a:prstGeom prst="rect">
            <a:avLst/>
          </a:prstGeom>
        </p:spPr>
        <p:txBody>
          <a:bodyPr anchorCtr="0" anchor="t" bIns="0" lIns="0" spcFirstLastPara="1" rIns="0" wrap="square" tIns="0">
            <a:normAutofit/>
          </a:bodyPr>
          <a:lstStyle/>
          <a:p>
            <a:pPr indent="0" lvl="0" marL="0" rtl="0" algn="l">
              <a:spcBef>
                <a:spcPts val="900"/>
              </a:spcBef>
              <a:spcAft>
                <a:spcPts val="0"/>
              </a:spcAft>
              <a:buNone/>
            </a:pPr>
            <a:r>
              <a:rPr b="0" lang="en" sz="1100">
                <a:latin typeface="Arial"/>
                <a:ea typeface="Arial"/>
                <a:cs typeface="Arial"/>
                <a:sym typeface="Arial"/>
              </a:rPr>
              <a:t>           add yinst pkg yjava_yiv 1.31.721</a:t>
            </a:r>
            <a:endParaRPr b="0" sz="1100">
              <a:latin typeface="Arial"/>
              <a:ea typeface="Arial"/>
              <a:cs typeface="Arial"/>
              <a:sym typeface="Arial"/>
            </a:endParaRPr>
          </a:p>
          <a:p>
            <a:pPr indent="0" lvl="0" marL="457200" rtl="0" algn="l">
              <a:spcBef>
                <a:spcPts val="1000"/>
              </a:spcBef>
              <a:spcAft>
                <a:spcPts val="0"/>
              </a:spcAft>
              <a:buNone/>
            </a:pPr>
            <a:r>
              <a:rPr b="0" lang="en" sz="1100">
                <a:latin typeface="Arial"/>
                <a:ea typeface="Arial"/>
                <a:cs typeface="Arial"/>
                <a:sym typeface="Arial"/>
              </a:rPr>
              <a:t>add yinst pkg yiv STABLE</a:t>
            </a:r>
            <a:endParaRPr b="0" sz="1100">
              <a:latin typeface="Arial"/>
              <a:ea typeface="Arial"/>
              <a:cs typeface="Arial"/>
              <a:sym typeface="Arial"/>
            </a:endParaRPr>
          </a:p>
          <a:p>
            <a:pPr indent="0" lvl="0" marL="0" rtl="0" algn="l">
              <a:spcBef>
                <a:spcPts val="1000"/>
              </a:spcBef>
              <a:spcAft>
                <a:spcPts val="0"/>
              </a:spcAft>
              <a:buNone/>
            </a:pPr>
            <a:r>
              <a:t/>
            </a:r>
            <a:endParaRPr b="0" sz="1100">
              <a:latin typeface="Arial"/>
              <a:ea typeface="Arial"/>
              <a:cs typeface="Arial"/>
              <a:sym typeface="Arial"/>
            </a:endParaRPr>
          </a:p>
          <a:p>
            <a:pPr indent="0" lvl="0" marL="457200" rtl="0" algn="l">
              <a:spcBef>
                <a:spcPts val="1000"/>
              </a:spcBef>
              <a:spcAft>
                <a:spcPts val="0"/>
              </a:spcAft>
              <a:buNone/>
            </a:pPr>
            <a:r>
              <a:rPr b="0" lang="en" sz="1100">
                <a:latin typeface="Arial"/>
                <a:ea typeface="Arial"/>
                <a:cs typeface="Arial"/>
                <a:sym typeface="Arial"/>
              </a:rPr>
              <a:t># yca packages will be deprecated in 2021, if you need to use you need jdk 11</a:t>
            </a:r>
            <a:endParaRPr b="0" sz="1100">
              <a:latin typeface="Arial"/>
              <a:ea typeface="Arial"/>
              <a:cs typeface="Arial"/>
              <a:sym typeface="Arial"/>
            </a:endParaRPr>
          </a:p>
          <a:p>
            <a:pPr indent="0" lvl="0" marL="457200" rtl="0" algn="l">
              <a:spcBef>
                <a:spcPts val="1000"/>
              </a:spcBef>
              <a:spcAft>
                <a:spcPts val="0"/>
              </a:spcAft>
              <a:buNone/>
            </a:pPr>
            <a:r>
              <a:rPr b="0" lang="en" sz="1100">
                <a:latin typeface="Arial"/>
                <a:ea typeface="Arial"/>
                <a:cs typeface="Arial"/>
                <a:sym typeface="Arial"/>
              </a:rPr>
              <a:t># mail team also reimplemented the yca client in pure java and we don't use the platform libraries anymore due to jni problems.</a:t>
            </a:r>
            <a:endParaRPr b="0" sz="1100">
              <a:latin typeface="Arial"/>
              <a:ea typeface="Arial"/>
              <a:cs typeface="Arial"/>
              <a:sym typeface="Arial"/>
            </a:endParaRPr>
          </a:p>
          <a:p>
            <a:pPr indent="0" lvl="0" marL="457200" rtl="0" algn="l">
              <a:spcBef>
                <a:spcPts val="1000"/>
              </a:spcBef>
              <a:spcAft>
                <a:spcPts val="1000"/>
              </a:spcAft>
              <a:buNone/>
            </a:pPr>
            <a:r>
              <a:rPr b="0" lang="en" sz="1100">
                <a:latin typeface="Arial"/>
                <a:ea typeface="Arial"/>
                <a:cs typeface="Arial"/>
                <a:sym typeface="Arial"/>
              </a:rPr>
              <a:t>add yinst pkg yjava_yca 11.41.18</a:t>
            </a:r>
            <a:endParaRPr b="0" sz="8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Ω “Safe Changes” for dual builds: </a:t>
            </a:r>
            <a:r>
              <a:rPr lang="en"/>
              <a:t>NCP/Graviton</a:t>
            </a:r>
            <a:endParaRPr/>
          </a:p>
        </p:txBody>
      </p:sp>
      <p:sp>
        <p:nvSpPr>
          <p:cNvPr id="320" name="Google Shape;320;p45"/>
          <p:cNvSpPr txBox="1"/>
          <p:nvPr>
            <p:ph idx="1" type="body"/>
          </p:nvPr>
        </p:nvSpPr>
        <p:spPr>
          <a:xfrm>
            <a:off x="311700" y="1076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900"/>
              <a:t>NCP/Graviton’s plan of attack</a:t>
            </a:r>
            <a:endParaRPr sz="1900"/>
          </a:p>
          <a:p>
            <a:pPr indent="-336550" lvl="0" marL="457200" rtl="0" algn="l">
              <a:spcBef>
                <a:spcPts val="1200"/>
              </a:spcBef>
              <a:spcAft>
                <a:spcPts val="0"/>
              </a:spcAft>
              <a:buSzPts val="1700"/>
              <a:buAutoNum type="arabicPeriod"/>
            </a:pPr>
            <a:r>
              <a:rPr lang="en" sz="1700"/>
              <a:t>Start with graviton-examples (have both “gateway” and gRPC maven submodules)</a:t>
            </a:r>
            <a:endParaRPr sz="1700"/>
          </a:p>
          <a:p>
            <a:pPr indent="-336550" lvl="0" marL="457200" rtl="0" algn="l">
              <a:spcBef>
                <a:spcPts val="0"/>
              </a:spcBef>
              <a:spcAft>
                <a:spcPts val="0"/>
              </a:spcAft>
              <a:buSzPts val="1700"/>
              <a:buAutoNum type="arabicPeriod"/>
            </a:pPr>
            <a:r>
              <a:rPr lang="en" sz="1700"/>
              <a:t>Use maven “profiles” to build with JDK11 in separate component jobs and learn what diffs are needed</a:t>
            </a:r>
            <a:endParaRPr sz="1700"/>
          </a:p>
          <a:p>
            <a:pPr indent="-336550" lvl="0" marL="457200" rtl="0" algn="l">
              <a:spcBef>
                <a:spcPts val="0"/>
              </a:spcBef>
              <a:spcAft>
                <a:spcPts val="0"/>
              </a:spcAft>
              <a:buSzPts val="1700"/>
              <a:buAutoNum type="arabicPeriod"/>
            </a:pPr>
            <a:r>
              <a:rPr lang="en" sz="1700"/>
              <a:t>Migrate changes from profile to main and non-example jobs/repos (JDK8)</a:t>
            </a:r>
            <a:endParaRPr sz="1700"/>
          </a:p>
          <a:p>
            <a:pPr indent="-336550" lvl="0" marL="457200" rtl="0" algn="l">
              <a:spcBef>
                <a:spcPts val="0"/>
              </a:spcBef>
              <a:spcAft>
                <a:spcPts val="0"/>
              </a:spcAft>
              <a:buSzPts val="1700"/>
              <a:buAutoNum type="arabicPeriod"/>
            </a:pPr>
            <a:r>
              <a:rPr lang="en" sz="1700"/>
              <a:t>Deploy both Java 8 and Java 11 and run perf (yoyo) and functional (acceptance) tests.</a:t>
            </a:r>
            <a:endParaRPr sz="1700"/>
          </a:p>
          <a:p>
            <a:pPr indent="-336550" lvl="0" marL="457200" rtl="0" algn="l">
              <a:spcBef>
                <a:spcPts val="0"/>
              </a:spcBef>
              <a:spcAft>
                <a:spcPts val="0"/>
              </a:spcAft>
              <a:buSzPts val="1700"/>
              <a:buAutoNum type="arabicPeriod"/>
            </a:pPr>
            <a:r>
              <a:rPr lang="en" sz="1700"/>
              <a:t>Spin new versions of runtime and build base images with Java 11</a:t>
            </a:r>
            <a:endParaRPr sz="1700"/>
          </a:p>
          <a:p>
            <a:pPr indent="-336550" lvl="0" marL="457200" rtl="0" algn="l">
              <a:spcBef>
                <a:spcPts val="0"/>
              </a:spcBef>
              <a:spcAft>
                <a:spcPts val="0"/>
              </a:spcAft>
              <a:buSzPts val="1700"/>
              <a:buAutoNum type="arabicPeriod"/>
            </a:pPr>
            <a:r>
              <a:rPr lang="en" sz="1700"/>
              <a:t>Cutover and commit to Java 11 for runtime</a:t>
            </a:r>
            <a:endParaRPr sz="1700"/>
          </a:p>
        </p:txBody>
      </p:sp>
      <p:pic>
        <p:nvPicPr>
          <p:cNvPr id="321" name="Google Shape;321;p45"/>
          <p:cNvPicPr preferRelativeResize="0"/>
          <p:nvPr/>
        </p:nvPicPr>
        <p:blipFill>
          <a:blip r:embed="rId3">
            <a:alphaModFix/>
          </a:blip>
          <a:stretch>
            <a:fillRect/>
          </a:stretch>
        </p:blipFill>
        <p:spPr>
          <a:xfrm rot="233548">
            <a:off x="7743325" y="25425"/>
            <a:ext cx="1130249" cy="1130249"/>
          </a:xfrm>
          <a:prstGeom prst="rect">
            <a:avLst/>
          </a:prstGeom>
          <a:noFill/>
          <a:ln>
            <a:noFill/>
          </a:ln>
        </p:spPr>
      </p:pic>
      <p:pic>
        <p:nvPicPr>
          <p:cNvPr id="322" name="Google Shape;322;p45"/>
          <p:cNvPicPr preferRelativeResize="0"/>
          <p:nvPr/>
        </p:nvPicPr>
        <p:blipFill>
          <a:blip r:embed="rId4">
            <a:alphaModFix/>
          </a:blip>
          <a:stretch>
            <a:fillRect/>
          </a:stretch>
        </p:blipFill>
        <p:spPr>
          <a:xfrm rot="-2450260">
            <a:off x="17744" y="2925590"/>
            <a:ext cx="408800" cy="4088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Concept and use-case for </a:t>
            </a:r>
            <a:r>
              <a:rPr lang="en"/>
              <a:t>NCP/Graviton Java 11 upgrade</a:t>
            </a:r>
            <a:endParaRPr/>
          </a:p>
        </p:txBody>
      </p:sp>
      <p:sp>
        <p:nvSpPr>
          <p:cNvPr id="328" name="Google Shape;328;p46"/>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77500"/>
          </a:bodyPr>
          <a:lstStyle/>
          <a:p>
            <a:pPr indent="-317182" lvl="0" marL="457200" rtl="0" algn="l">
              <a:spcBef>
                <a:spcPts val="0"/>
              </a:spcBef>
              <a:spcAft>
                <a:spcPts val="0"/>
              </a:spcAft>
              <a:buSzPct val="100000"/>
              <a:buChar char="●"/>
            </a:pPr>
            <a:r>
              <a:rPr lang="en" sz="1800"/>
              <a:t>Concept: Safe Changes allows same Ω pipeline to have different component builds and tracks</a:t>
            </a:r>
            <a:endParaRPr sz="1800"/>
          </a:p>
          <a:p>
            <a:pPr indent="-317182" lvl="1" marL="914400" rtl="0" algn="l">
              <a:spcBef>
                <a:spcPts val="0"/>
              </a:spcBef>
              <a:spcAft>
                <a:spcPts val="0"/>
              </a:spcAft>
              <a:buSzPct val="100000"/>
              <a:buChar char="○"/>
            </a:pPr>
            <a:r>
              <a:rPr lang="en" sz="1800"/>
              <a:t>Shares a common omega.yaml and scripts/app_configure, app_start, which can read $APP_VARIANT</a:t>
            </a:r>
            <a:endParaRPr sz="1800"/>
          </a:p>
          <a:p>
            <a:pPr indent="-317182" lvl="0" marL="457200" rtl="0" algn="l">
              <a:spcBef>
                <a:spcPts val="0"/>
              </a:spcBef>
              <a:spcAft>
                <a:spcPts val="0"/>
              </a:spcAft>
              <a:buSzPct val="100000"/>
              <a:buChar char="●"/>
            </a:pPr>
            <a:r>
              <a:rPr lang="en" sz="1800"/>
              <a:t>Use-case: Have multiple deployments of same application for testing</a:t>
            </a:r>
            <a:endParaRPr sz="1800"/>
          </a:p>
          <a:p>
            <a:pPr indent="-317182" lvl="1" marL="914400" rtl="0" algn="l">
              <a:spcBef>
                <a:spcPts val="0"/>
              </a:spcBef>
              <a:spcAft>
                <a:spcPts val="0"/>
              </a:spcAft>
              <a:buSzPct val="100000"/>
              <a:buChar char="○"/>
            </a:pPr>
            <a:r>
              <a:rPr lang="en" sz="1800"/>
              <a:t>NCP/Graviton build for Java 8 and Java 11, deploy to staging, and run yoyo on both</a:t>
            </a:r>
            <a:endParaRPr sz="1800"/>
          </a:p>
          <a:p>
            <a:pPr indent="-317182" lvl="1" marL="914400" rtl="0" algn="l">
              <a:spcBef>
                <a:spcPts val="0"/>
              </a:spcBef>
              <a:spcAft>
                <a:spcPts val="0"/>
              </a:spcAft>
              <a:buSzPct val="100000"/>
              <a:buChar char="○"/>
            </a:pPr>
            <a:r>
              <a:rPr lang="en" sz="1800"/>
              <a:t>Will run various acceptance</a:t>
            </a:r>
            <a:r>
              <a:rPr lang="en" sz="1800"/>
              <a:t> tests against the two deployments</a:t>
            </a:r>
            <a:endParaRPr sz="1800"/>
          </a:p>
          <a:p>
            <a:pPr indent="-317182" lvl="0" marL="457200" rtl="0" algn="l">
              <a:spcBef>
                <a:spcPts val="0"/>
              </a:spcBef>
              <a:spcAft>
                <a:spcPts val="0"/>
              </a:spcAft>
              <a:buSzPct val="100000"/>
              <a:buChar char="●"/>
            </a:pPr>
            <a:r>
              <a:rPr lang="en" sz="1800"/>
              <a:t>Unused, but possible use-case: traffic splitting based on cookie or %</a:t>
            </a:r>
            <a:endParaRPr sz="1800"/>
          </a:p>
          <a:p>
            <a:pPr indent="-317182" lvl="1" marL="914400" rtl="0" algn="l">
              <a:spcBef>
                <a:spcPts val="0"/>
              </a:spcBef>
              <a:spcAft>
                <a:spcPts val="0"/>
              </a:spcAft>
              <a:buSzPct val="100000"/>
              <a:buChar char="○"/>
            </a:pPr>
            <a:r>
              <a:rPr lang="en" sz="1800"/>
              <a:t>If you desire a more cautious rollout, you can route some percentage of traffic by cookie or %</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47"/>
          <p:cNvSpPr txBox="1"/>
          <p:nvPr>
            <p:ph idx="12" type="sldNum"/>
          </p:nvPr>
        </p:nvSpPr>
        <p:spPr>
          <a:xfrm>
            <a:off x="8458200" y="4700016"/>
            <a:ext cx="228600" cy="228600"/>
          </a:xfrm>
          <a:prstGeom prst="rect">
            <a:avLst/>
          </a:prstGeom>
        </p:spPr>
        <p:txBody>
          <a:bodyPr anchorCtr="0" anchor="b"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34" name="Google Shape;334;p47"/>
          <p:cNvSpPr txBox="1"/>
          <p:nvPr>
            <p:ph type="title"/>
          </p:nvPr>
        </p:nvSpPr>
        <p:spPr>
          <a:xfrm>
            <a:off x="457200" y="594360"/>
            <a:ext cx="7086600" cy="6858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Variant parallel pipelines</a:t>
            </a:r>
            <a:endParaRPr/>
          </a:p>
        </p:txBody>
      </p:sp>
      <p:sp>
        <p:nvSpPr>
          <p:cNvPr id="335" name="Google Shape;335;p47"/>
          <p:cNvSpPr txBox="1"/>
          <p:nvPr>
            <p:ph idx="1" type="body"/>
          </p:nvPr>
        </p:nvSpPr>
        <p:spPr>
          <a:xfrm>
            <a:off x="457200" y="1140975"/>
            <a:ext cx="7086600" cy="663300"/>
          </a:xfrm>
          <a:prstGeom prst="rect">
            <a:avLst/>
          </a:prstGeom>
        </p:spPr>
        <p:txBody>
          <a:bodyPr anchorCtr="0" anchor="t" bIns="0" lIns="0" spcFirstLastPara="1" rIns="0" wrap="square" tIns="0">
            <a:normAutofit/>
          </a:bodyPr>
          <a:lstStyle/>
          <a:p>
            <a:pPr indent="0" lvl="0" marL="0" rtl="0" algn="l">
              <a:spcBef>
                <a:spcPts val="900"/>
              </a:spcBef>
              <a:spcAft>
                <a:spcPts val="1200"/>
              </a:spcAft>
              <a:buNone/>
            </a:pPr>
            <a:r>
              <a:rPr lang="en"/>
              <a:t>Single branch and SD project with 'variant' jobs</a:t>
            </a:r>
            <a:endParaRPr/>
          </a:p>
        </p:txBody>
      </p:sp>
      <p:pic>
        <p:nvPicPr>
          <p:cNvPr id="336" name="Google Shape;336;p47"/>
          <p:cNvPicPr preferRelativeResize="0"/>
          <p:nvPr/>
        </p:nvPicPr>
        <p:blipFill>
          <a:blip r:embed="rId3">
            <a:alphaModFix/>
          </a:blip>
          <a:stretch>
            <a:fillRect/>
          </a:stretch>
        </p:blipFill>
        <p:spPr>
          <a:xfrm>
            <a:off x="710400" y="1968675"/>
            <a:ext cx="7196675" cy="2066050"/>
          </a:xfrm>
          <a:prstGeom prst="rect">
            <a:avLst/>
          </a:prstGeom>
          <a:noFill/>
          <a:ln>
            <a:noFill/>
          </a:ln>
        </p:spPr>
      </p:pic>
      <p:sp>
        <p:nvSpPr>
          <p:cNvPr id="337" name="Google Shape;337;p47"/>
          <p:cNvSpPr txBox="1"/>
          <p:nvPr/>
        </p:nvSpPr>
        <p:spPr>
          <a:xfrm>
            <a:off x="397450" y="1615100"/>
            <a:ext cx="4482300" cy="400200"/>
          </a:xfrm>
          <a:prstGeom prst="rect">
            <a:avLst/>
          </a:prstGeom>
          <a:noFill/>
          <a:ln>
            <a:noFill/>
          </a:ln>
        </p:spPr>
        <p:txBody>
          <a:bodyPr anchorCtr="0" anchor="t" bIns="91425" lIns="91425" spcFirstLastPara="1" rIns="91425" wrap="square" tIns="91425">
            <a:spAutoFit/>
          </a:bodyPr>
          <a:lstStyle/>
          <a:p>
            <a:pPr indent="0" lvl="0" marL="0" rtl="0" algn="l">
              <a:spcBef>
                <a:spcPts val="900"/>
              </a:spcBef>
              <a:spcAft>
                <a:spcPts val="0"/>
              </a:spcAft>
              <a:buNone/>
            </a:pPr>
            <a:r>
              <a:rPr lang="en"/>
              <a:t>From </a:t>
            </a:r>
            <a:r>
              <a:rPr b="1" lang="en" sz="1200" u="sng">
                <a:solidFill>
                  <a:schemeClr val="dk1"/>
                </a:solidFill>
                <a:latin typeface="Verizon NHG TX"/>
                <a:ea typeface="Verizon NHG TX"/>
                <a:cs typeface="Verizon NHG TX"/>
                <a:sym typeface="Verizon NHG TX"/>
                <a:hlinkClick r:id="rId4">
                  <a:extLst>
                    <a:ext uri="{A12FA001-AC4F-418D-AE19-62706E023703}">
                      <ahyp:hlinkClr val="tx"/>
                    </a:ext>
                  </a:extLst>
                </a:hlinkClick>
              </a:rPr>
              <a:t>yo/omega-variants-deck</a:t>
            </a:r>
            <a:endParaRPr>
              <a:latin typeface="Verizon NHG TX"/>
              <a:ea typeface="Verizon NHG TX"/>
              <a:cs typeface="Verizon NHG TX"/>
              <a:sym typeface="Verizon NHG TX"/>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8"/>
          <p:cNvSpPr txBox="1"/>
          <p:nvPr>
            <p:ph type="title"/>
          </p:nvPr>
        </p:nvSpPr>
        <p:spPr>
          <a:xfrm>
            <a:off x="457200" y="594360"/>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Simplified workflow (graviton-examples)</a:t>
            </a:r>
            <a:endParaRPr/>
          </a:p>
        </p:txBody>
      </p:sp>
      <p:pic>
        <p:nvPicPr>
          <p:cNvPr id="343" name="Google Shape;343;p48"/>
          <p:cNvPicPr preferRelativeResize="0"/>
          <p:nvPr/>
        </p:nvPicPr>
        <p:blipFill>
          <a:blip r:embed="rId3">
            <a:alphaModFix/>
          </a:blip>
          <a:stretch>
            <a:fillRect/>
          </a:stretch>
        </p:blipFill>
        <p:spPr>
          <a:xfrm>
            <a:off x="867850" y="1306547"/>
            <a:ext cx="6673250" cy="2736525"/>
          </a:xfrm>
          <a:prstGeom prst="rect">
            <a:avLst/>
          </a:prstGeom>
          <a:noFill/>
          <a:ln>
            <a:noFill/>
          </a:ln>
        </p:spPr>
      </p:pic>
      <p:sp>
        <p:nvSpPr>
          <p:cNvPr id="344" name="Google Shape;344;p48"/>
          <p:cNvSpPr txBox="1"/>
          <p:nvPr/>
        </p:nvSpPr>
        <p:spPr>
          <a:xfrm>
            <a:off x="4843135" y="2452916"/>
            <a:ext cx="103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Verizon NHG TX"/>
                <a:ea typeface="Verizon NHG TX"/>
                <a:cs typeface="Verizon NHG TX"/>
                <a:sym typeface="Verizon NHG TX"/>
              </a:rPr>
              <a:t>jdk11</a:t>
            </a:r>
            <a:endParaRPr sz="1000">
              <a:solidFill>
                <a:srgbClr val="434343"/>
              </a:solidFill>
              <a:latin typeface="Verizon NHG TX"/>
              <a:ea typeface="Verizon NHG TX"/>
              <a:cs typeface="Verizon NHG TX"/>
              <a:sym typeface="Verizon NHG TX"/>
            </a:endParaRPr>
          </a:p>
        </p:txBody>
      </p:sp>
      <p:sp>
        <p:nvSpPr>
          <p:cNvPr id="345" name="Google Shape;345;p48"/>
          <p:cNvSpPr txBox="1"/>
          <p:nvPr/>
        </p:nvSpPr>
        <p:spPr>
          <a:xfrm>
            <a:off x="3166735" y="2452916"/>
            <a:ext cx="103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Verizon NHG TX"/>
                <a:ea typeface="Verizon NHG TX"/>
                <a:cs typeface="Verizon NHG TX"/>
                <a:sym typeface="Verizon NHG TX"/>
              </a:rPr>
              <a:t>jdk11</a:t>
            </a:r>
            <a:endParaRPr sz="1000">
              <a:solidFill>
                <a:srgbClr val="434343"/>
              </a:solidFill>
              <a:latin typeface="Verizon NHG TX"/>
              <a:ea typeface="Verizon NHG TX"/>
              <a:cs typeface="Verizon NHG TX"/>
              <a:sym typeface="Verizon NHG TX"/>
            </a:endParaRPr>
          </a:p>
        </p:txBody>
      </p:sp>
      <p:sp>
        <p:nvSpPr>
          <p:cNvPr id="346" name="Google Shape;346;p48"/>
          <p:cNvSpPr txBox="1"/>
          <p:nvPr/>
        </p:nvSpPr>
        <p:spPr>
          <a:xfrm>
            <a:off x="6519535" y="2452916"/>
            <a:ext cx="1037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434343"/>
                </a:solidFill>
                <a:latin typeface="Verizon NHG TX"/>
                <a:ea typeface="Verizon NHG TX"/>
                <a:cs typeface="Verizon NHG TX"/>
                <a:sym typeface="Verizon NHG TX"/>
              </a:rPr>
              <a:t>jdk11</a:t>
            </a:r>
            <a:endParaRPr sz="1000">
              <a:solidFill>
                <a:srgbClr val="434343"/>
              </a:solidFill>
              <a:latin typeface="Verizon NHG TX"/>
              <a:ea typeface="Verizon NHG TX"/>
              <a:cs typeface="Verizon NHG TX"/>
              <a:sym typeface="Verizon NHG TX"/>
            </a:endParaRPr>
          </a:p>
        </p:txBody>
      </p:sp>
      <p:sp>
        <p:nvSpPr>
          <p:cNvPr id="347" name="Google Shape;347;p48"/>
          <p:cNvSpPr txBox="1"/>
          <p:nvPr/>
        </p:nvSpPr>
        <p:spPr>
          <a:xfrm>
            <a:off x="2188070" y="3390785"/>
            <a:ext cx="19836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rgbClr val="434343"/>
                </a:solidFill>
                <a:latin typeface="Verizon NHG TX"/>
                <a:ea typeface="Verizon NHG TX"/>
                <a:cs typeface="Verizon NHG TX"/>
                <a:sym typeface="Verizon NHG TX"/>
              </a:rPr>
              <a:t>y</a:t>
            </a:r>
            <a:r>
              <a:rPr lang="en" sz="900">
                <a:solidFill>
                  <a:srgbClr val="434343"/>
                </a:solidFill>
                <a:latin typeface="Verizon NHG TX"/>
                <a:ea typeface="Verizon NHG TX"/>
                <a:cs typeface="Verizon NHG TX"/>
                <a:sym typeface="Verizon NHG TX"/>
              </a:rPr>
              <a:t>oyo attacker ⇒ </a:t>
            </a:r>
            <a:endParaRPr sz="900">
              <a:solidFill>
                <a:srgbClr val="434343"/>
              </a:solidFill>
              <a:latin typeface="Verizon NHG TX"/>
              <a:ea typeface="Verizon NHG TX"/>
              <a:cs typeface="Verizon NHG TX"/>
              <a:sym typeface="Verizon NHG TX"/>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Omega.yaml to support  </a:t>
            </a:r>
            <a:r>
              <a:rPr lang="en"/>
              <a:t>jdk11</a:t>
            </a:r>
            <a:r>
              <a:rPr lang="en"/>
              <a:t> variant</a:t>
            </a:r>
            <a:endParaRPr/>
          </a:p>
        </p:txBody>
      </p:sp>
      <p:sp>
        <p:nvSpPr>
          <p:cNvPr id="353" name="Google Shape;353;p49"/>
          <p:cNvSpPr txBox="1"/>
          <p:nvPr>
            <p:ph idx="1" type="body"/>
          </p:nvPr>
        </p:nvSpPr>
        <p:spPr>
          <a:xfrm>
            <a:off x="311700" y="1076275"/>
            <a:ext cx="39999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a:t> Original JDK8 omega.yaml</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Original screwdriver.yaml</a:t>
            </a:r>
            <a:endParaRPr/>
          </a:p>
        </p:txBody>
      </p:sp>
      <p:sp>
        <p:nvSpPr>
          <p:cNvPr id="354" name="Google Shape;354;p49"/>
          <p:cNvSpPr txBox="1"/>
          <p:nvPr>
            <p:ph idx="2" type="body"/>
          </p:nvPr>
        </p:nvSpPr>
        <p:spPr>
          <a:xfrm>
            <a:off x="4832400" y="1076275"/>
            <a:ext cx="3999900" cy="34164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
              <a:t> </a:t>
            </a:r>
            <a:r>
              <a:rPr lang="en"/>
              <a:t>JDK11 omega.</a:t>
            </a:r>
            <a:r>
              <a:rPr lang="en"/>
              <a:t>yaml</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JDK11 screwdriver.yaml</a:t>
            </a:r>
            <a:endParaRPr/>
          </a:p>
        </p:txBody>
      </p:sp>
      <p:sp>
        <p:nvSpPr>
          <p:cNvPr id="355" name="Google Shape;355;p49"/>
          <p:cNvSpPr txBox="1"/>
          <p:nvPr/>
        </p:nvSpPr>
        <p:spPr>
          <a:xfrm>
            <a:off x="811650" y="1642235"/>
            <a:ext cx="3000000" cy="8004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comment-grpc-component</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environment</a:t>
            </a:r>
            <a:r>
              <a:rPr lang="en" sz="1000">
                <a:solidFill>
                  <a:srgbClr val="A9B7C6"/>
                </a:solidFill>
                <a:highlight>
                  <a:srgbClr val="2B2B2B"/>
                </a:highlight>
                <a:latin typeface="Courier New"/>
                <a:ea typeface="Courier New"/>
                <a:cs typeface="Courier New"/>
                <a:sym typeface="Courier New"/>
              </a:rPr>
              <a:t>: development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colo</a:t>
            </a:r>
            <a:r>
              <a:rPr lang="en" sz="1000">
                <a:solidFill>
                  <a:srgbClr val="A9B7C6"/>
                </a:solidFill>
                <a:highlight>
                  <a:srgbClr val="2B2B2B"/>
                </a:highlight>
                <a:latin typeface="Courier New"/>
                <a:ea typeface="Courier New"/>
                <a:cs typeface="Courier New"/>
                <a:sym typeface="Courier New"/>
              </a:rPr>
              <a:t>: gq1</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cleanup</a:t>
            </a:r>
            <a:r>
              <a:rPr lang="en" sz="1000">
                <a:solidFill>
                  <a:srgbClr val="A9B7C6"/>
                </a:solidFill>
                <a:highlight>
                  <a:srgbClr val="2B2B2B"/>
                </a:highlight>
                <a:latin typeface="Courier New"/>
                <a:ea typeface="Courier New"/>
                <a:cs typeface="Courier New"/>
                <a:sym typeface="Courier New"/>
              </a:rPr>
              <a:t>: false</a:t>
            </a:r>
            <a:endParaRPr sz="1000">
              <a:solidFill>
                <a:srgbClr val="A9B7C6"/>
              </a:solidFill>
              <a:highlight>
                <a:srgbClr val="2B2B2B"/>
              </a:highlight>
              <a:latin typeface="Courier New"/>
              <a:ea typeface="Courier New"/>
              <a:cs typeface="Courier New"/>
              <a:sym typeface="Courier New"/>
            </a:endParaRPr>
          </a:p>
        </p:txBody>
      </p:sp>
      <p:sp>
        <p:nvSpPr>
          <p:cNvPr id="356" name="Google Shape;356;p49"/>
          <p:cNvSpPr txBox="1"/>
          <p:nvPr/>
        </p:nvSpPr>
        <p:spPr>
          <a:xfrm>
            <a:off x="5332350" y="1987225"/>
            <a:ext cx="3000000" cy="11082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comment-grpc-jdk11-component</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environment</a:t>
            </a:r>
            <a:r>
              <a:rPr lang="en" sz="1000">
                <a:solidFill>
                  <a:srgbClr val="A9B7C6"/>
                </a:solidFill>
                <a:highlight>
                  <a:srgbClr val="2B2B2B"/>
                </a:highlight>
                <a:latin typeface="Courier New"/>
                <a:ea typeface="Courier New"/>
                <a:cs typeface="Courier New"/>
                <a:sym typeface="Courier New"/>
              </a:rPr>
              <a:t>: development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subdomain</a:t>
            </a:r>
            <a:r>
              <a:rPr lang="en" sz="1000">
                <a:solidFill>
                  <a:srgbClr val="A9B7C6"/>
                </a:solidFill>
                <a:highlight>
                  <a:srgbClr val="2B2B2B"/>
                </a:highlight>
                <a:latin typeface="Courier New"/>
                <a:ea typeface="Courier New"/>
                <a:cs typeface="Courier New"/>
                <a:sym typeface="Courier New"/>
              </a:rPr>
              <a:t>: jdk11</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variant</a:t>
            </a:r>
            <a:r>
              <a:rPr lang="en" sz="1000">
                <a:solidFill>
                  <a:srgbClr val="A9B7C6"/>
                </a:solidFill>
                <a:highlight>
                  <a:srgbClr val="2B2B2B"/>
                </a:highlight>
                <a:latin typeface="Courier New"/>
                <a:ea typeface="Courier New"/>
                <a:cs typeface="Courier New"/>
                <a:sym typeface="Courier New"/>
              </a:rPr>
              <a:t>: jdk11</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colo</a:t>
            </a:r>
            <a:r>
              <a:rPr lang="en" sz="1000">
                <a:solidFill>
                  <a:srgbClr val="A9B7C6"/>
                </a:solidFill>
                <a:highlight>
                  <a:srgbClr val="2B2B2B"/>
                </a:highlight>
                <a:latin typeface="Courier New"/>
                <a:ea typeface="Courier New"/>
                <a:cs typeface="Courier New"/>
                <a:sym typeface="Courier New"/>
              </a:rPr>
              <a:t>: gq1</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cleanup</a:t>
            </a:r>
            <a:r>
              <a:rPr lang="en" sz="1000">
                <a:solidFill>
                  <a:srgbClr val="A9B7C6"/>
                </a:solidFill>
                <a:highlight>
                  <a:srgbClr val="2B2B2B"/>
                </a:highlight>
                <a:latin typeface="Courier New"/>
                <a:ea typeface="Courier New"/>
                <a:cs typeface="Courier New"/>
                <a:sym typeface="Courier New"/>
              </a:rPr>
              <a:t>: false</a:t>
            </a:r>
            <a:endParaRPr sz="1000">
              <a:solidFill>
                <a:srgbClr val="A9B7C6"/>
              </a:solidFill>
              <a:highlight>
                <a:srgbClr val="2B2B2B"/>
              </a:highlight>
              <a:latin typeface="Courier New"/>
              <a:ea typeface="Courier New"/>
              <a:cs typeface="Courier New"/>
              <a:sym typeface="Courier New"/>
            </a:endParaRPr>
          </a:p>
        </p:txBody>
      </p:sp>
      <p:sp>
        <p:nvSpPr>
          <p:cNvPr id="357" name="Google Shape;357;p49"/>
          <p:cNvSpPr txBox="1"/>
          <p:nvPr/>
        </p:nvSpPr>
        <p:spPr>
          <a:xfrm>
            <a:off x="811650" y="3099925"/>
            <a:ext cx="3000000" cy="12621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comment-grpc-component</a:t>
            </a:r>
            <a:r>
              <a:rPr lang="en" sz="1000">
                <a:solidFill>
                  <a:srgbClr val="A9B7C6"/>
                </a:solidFill>
                <a:highlight>
                  <a:srgbClr val="2B2B2B"/>
                </a:highlight>
                <a:latin typeface="Courier New"/>
                <a:ea typeface="Courier New"/>
                <a:cs typeface="Courier New"/>
                <a:sym typeface="Courier New"/>
              </a:rPr>
              <a:t>: &amp;</a:t>
            </a:r>
            <a:r>
              <a:rPr lang="en" sz="1000">
                <a:solidFill>
                  <a:srgbClr val="E8BF6A"/>
                </a:solidFill>
                <a:highlight>
                  <a:srgbClr val="2B2B2B"/>
                </a:highlight>
                <a:latin typeface="Courier New"/>
                <a:ea typeface="Courier New"/>
                <a:cs typeface="Courier New"/>
                <a:sym typeface="Courier New"/>
              </a:rPr>
              <a:t>comment-grpc-component</a:t>
            </a:r>
            <a:endParaRPr sz="1000">
              <a:solidFill>
                <a:srgbClr val="E8BF6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E8BF6A"/>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requires</a:t>
            </a:r>
            <a:r>
              <a:rPr lang="en" sz="1000">
                <a:solidFill>
                  <a:srgbClr val="A9B7C6"/>
                </a:solidFill>
                <a:highlight>
                  <a:srgbClr val="2B2B2B"/>
                </a:highlight>
                <a:latin typeface="Courier New"/>
                <a:ea typeface="Courier New"/>
                <a:cs typeface="Courier New"/>
                <a:sym typeface="Courier New"/>
              </a:rPr>
              <a:t>: [ ~commit, ~pr ]</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template</a:t>
            </a:r>
            <a:r>
              <a:rPr lang="en" sz="1000">
                <a:solidFill>
                  <a:srgbClr val="A9B7C6"/>
                </a:solidFill>
                <a:highlight>
                  <a:srgbClr val="2B2B2B"/>
                </a:highlight>
                <a:latin typeface="Courier New"/>
                <a:ea typeface="Courier New"/>
                <a:cs typeface="Courier New"/>
                <a:sym typeface="Courier New"/>
              </a:rPr>
              <a:t>: omega/k8s-generic@stable</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image</a:t>
            </a:r>
            <a:r>
              <a:rPr lang="en" sz="1000">
                <a:solidFill>
                  <a:srgbClr val="A9B7C6"/>
                </a:solidFill>
                <a:highlight>
                  <a:srgbClr val="2B2B2B"/>
                </a:highlight>
                <a:latin typeface="Courier New"/>
                <a:ea typeface="Courier New"/>
                <a:cs typeface="Courier New"/>
                <a:sym typeface="Courier New"/>
              </a:rPr>
              <a:t>: docker.ouroath.com:4443/sieve/ylinux7-sieve-adoptjdk8-builder</a:t>
            </a:r>
            <a:endParaRPr sz="1000">
              <a:solidFill>
                <a:srgbClr val="A9B7C6"/>
              </a:solidFill>
              <a:highlight>
                <a:srgbClr val="2B2B2B"/>
              </a:highlight>
              <a:latin typeface="Courier New"/>
              <a:ea typeface="Courier New"/>
              <a:cs typeface="Courier New"/>
              <a:sym typeface="Courier New"/>
            </a:endParaRPr>
          </a:p>
        </p:txBody>
      </p:sp>
      <p:sp>
        <p:nvSpPr>
          <p:cNvPr id="358" name="Google Shape;358;p49"/>
          <p:cNvSpPr txBox="1"/>
          <p:nvPr/>
        </p:nvSpPr>
        <p:spPr>
          <a:xfrm>
            <a:off x="5332350" y="3444875"/>
            <a:ext cx="3000000" cy="9543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comment-grpc-jdk11-component</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&lt;&lt;</a:t>
            </a:r>
            <a:r>
              <a:rPr lang="en" sz="1000">
                <a:solidFill>
                  <a:srgbClr val="A9B7C6"/>
                </a:solidFill>
                <a:highlight>
                  <a:srgbClr val="2B2B2B"/>
                </a:highlight>
                <a:latin typeface="Courier New"/>
                <a:ea typeface="Courier New"/>
                <a:cs typeface="Courier New"/>
                <a:sym typeface="Courier New"/>
              </a:rPr>
              <a:t>: *</a:t>
            </a:r>
            <a:r>
              <a:rPr lang="en" sz="1000">
                <a:solidFill>
                  <a:srgbClr val="E8BF6A"/>
                </a:solidFill>
                <a:highlight>
                  <a:srgbClr val="2B2B2B"/>
                </a:highlight>
                <a:latin typeface="Courier New"/>
                <a:ea typeface="Courier New"/>
                <a:cs typeface="Courier New"/>
                <a:sym typeface="Courier New"/>
              </a:rPr>
              <a:t>comment-grpc-component</a:t>
            </a:r>
            <a:endParaRPr sz="1000">
              <a:solidFill>
                <a:srgbClr val="E8BF6A"/>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E8BF6A"/>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image</a:t>
            </a:r>
            <a:r>
              <a:rPr lang="en" sz="1000">
                <a:solidFill>
                  <a:srgbClr val="A9B7C6"/>
                </a:solidFill>
                <a:highlight>
                  <a:srgbClr val="2B2B2B"/>
                </a:highlight>
                <a:latin typeface="Courier New"/>
                <a:ea typeface="Courier New"/>
                <a:cs typeface="Courier New"/>
                <a:sym typeface="Courier New"/>
              </a:rPr>
              <a:t>: docker.ouroath.com:4443/sieve/ylinux7-sieve-jdk11-builder</a:t>
            </a:r>
            <a:endParaRPr sz="1000">
              <a:solidFill>
                <a:srgbClr val="A9B7C6"/>
              </a:solidFill>
              <a:highlight>
                <a:srgbClr val="2B2B2B"/>
              </a:highlight>
              <a:latin typeface="Courier New"/>
              <a:ea typeface="Courier New"/>
              <a:cs typeface="Courier New"/>
              <a:sym typeface="Courier New"/>
            </a:endParaRPr>
          </a:p>
        </p:txBody>
      </p:sp>
      <p:sp>
        <p:nvSpPr>
          <p:cNvPr id="359" name="Google Shape;359;p49"/>
          <p:cNvSpPr txBox="1"/>
          <p:nvPr/>
        </p:nvSpPr>
        <p:spPr>
          <a:xfrm>
            <a:off x="5332350" y="1418425"/>
            <a:ext cx="3000000" cy="4926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variants</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 </a:t>
            </a:r>
            <a:r>
              <a:rPr lang="en" sz="1000">
                <a:solidFill>
                  <a:srgbClr val="CC7832"/>
                </a:solidFill>
                <a:highlight>
                  <a:srgbClr val="2B2B2B"/>
                </a:highlight>
                <a:latin typeface="Courier New"/>
                <a:ea typeface="Courier New"/>
                <a:cs typeface="Courier New"/>
                <a:sym typeface="Courier New"/>
              </a:rPr>
              <a:t>name</a:t>
            </a:r>
            <a:r>
              <a:rPr lang="en" sz="1000">
                <a:solidFill>
                  <a:srgbClr val="A9B7C6"/>
                </a:solidFill>
                <a:highlight>
                  <a:srgbClr val="2B2B2B"/>
                </a:highlight>
                <a:latin typeface="Courier New"/>
                <a:ea typeface="Courier New"/>
                <a:cs typeface="Courier New"/>
                <a:sym typeface="Courier New"/>
              </a:rPr>
              <a:t>: jdk11</a:t>
            </a:r>
            <a:endParaRPr sz="1000">
              <a:solidFill>
                <a:srgbClr val="A9B7C6"/>
              </a:solidFill>
              <a:highlight>
                <a:srgbClr val="2B2B2B"/>
              </a:highlight>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a:t>
            </a:r>
            <a:r>
              <a:rPr lang="en"/>
              <a:t>pp_configure: differentiating on JDK11 variant</a:t>
            </a:r>
            <a:endParaRPr/>
          </a:p>
        </p:txBody>
      </p:sp>
      <p:sp>
        <p:nvSpPr>
          <p:cNvPr id="365" name="Google Shape;365;p50"/>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scripts/app_configure</a:t>
            </a:r>
            <a:endParaRPr/>
          </a:p>
        </p:txBody>
      </p:sp>
      <p:sp>
        <p:nvSpPr>
          <p:cNvPr id="366" name="Google Shape;366;p50"/>
          <p:cNvSpPr txBox="1"/>
          <p:nvPr/>
        </p:nvSpPr>
        <p:spPr>
          <a:xfrm>
            <a:off x="1600200" y="1600200"/>
            <a:ext cx="6083700" cy="2647500"/>
          </a:xfrm>
          <a:prstGeom prst="rect">
            <a:avLst/>
          </a:prstGeom>
          <a:solidFill>
            <a:srgbClr val="2B2B2B"/>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808080"/>
                </a:solidFill>
                <a:highlight>
                  <a:srgbClr val="2B2B2B"/>
                </a:highlight>
                <a:latin typeface="Courier New"/>
                <a:ea typeface="Courier New"/>
                <a:cs typeface="Courier New"/>
                <a:sym typeface="Courier New"/>
              </a:rPr>
              <a:t># </a:t>
            </a:r>
            <a:r>
              <a:rPr i="1" lang="en" sz="1000">
                <a:solidFill>
                  <a:srgbClr val="A8C023"/>
                </a:solidFill>
                <a:highlight>
                  <a:srgbClr val="2B2B2B"/>
                </a:highlight>
                <a:latin typeface="Courier New"/>
                <a:ea typeface="Courier New"/>
                <a:cs typeface="Courier New"/>
                <a:sym typeface="Courier New"/>
              </a:rPr>
              <a:t>TODO(scr): Remove when base image exists and is set in variants</a:t>
            </a:r>
            <a:endParaRPr i="1" sz="1000">
              <a:solidFill>
                <a:srgbClr val="A8C023"/>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808080"/>
                </a:solidFill>
                <a:highlight>
                  <a:srgbClr val="2B2B2B"/>
                </a:highlight>
                <a:latin typeface="Courier New"/>
                <a:ea typeface="Courier New"/>
                <a:cs typeface="Courier New"/>
                <a:sym typeface="Courier New"/>
              </a:rPr>
              <a:t># Upgrade java</a:t>
            </a:r>
            <a:endParaRPr sz="1000">
              <a:solidFill>
                <a:srgbClr val="808080"/>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if [[ </a:t>
            </a:r>
            <a:r>
              <a:rPr lang="en" sz="1000">
                <a:solidFill>
                  <a:srgbClr val="A9B7C6"/>
                </a:solidFill>
                <a:highlight>
                  <a:srgbClr val="2B2B2B"/>
                </a:highlight>
                <a:latin typeface="Courier New"/>
                <a:ea typeface="Courier New"/>
                <a:cs typeface="Courier New"/>
                <a:sym typeface="Courier New"/>
              </a:rPr>
              <a:t>$APP_VARIANT </a:t>
            </a:r>
            <a:r>
              <a:rPr lang="en" sz="1000">
                <a:solidFill>
                  <a:srgbClr val="CC7832"/>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jdk11 </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 </a:t>
            </a:r>
            <a:r>
              <a:rPr lang="en" sz="1000">
                <a:solidFill>
                  <a:srgbClr val="CC7832"/>
                </a:solidFill>
                <a:highlight>
                  <a:srgbClr val="2B2B2B"/>
                </a:highlight>
                <a:latin typeface="Courier New"/>
                <a:ea typeface="Courier New"/>
                <a:cs typeface="Courier New"/>
                <a:sym typeface="Courier New"/>
              </a:rPr>
              <a:t>then</a:t>
            </a:r>
            <a:endParaRPr sz="1000">
              <a:solidFill>
                <a:srgbClr val="CC7832"/>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   </a:t>
            </a:r>
            <a:r>
              <a:rPr lang="en" sz="1000">
                <a:solidFill>
                  <a:srgbClr val="C57633"/>
                </a:solidFill>
                <a:highlight>
                  <a:srgbClr val="2B2B2B"/>
                </a:highlight>
                <a:latin typeface="Courier New"/>
                <a:ea typeface="Courier New"/>
                <a:cs typeface="Courier New"/>
                <a:sym typeface="Courier New"/>
              </a:rPr>
              <a:t>yinst </a:t>
            </a:r>
            <a:r>
              <a:rPr lang="en" sz="1000">
                <a:solidFill>
                  <a:srgbClr val="A9B7C6"/>
                </a:solidFill>
                <a:highlight>
                  <a:srgbClr val="2B2B2B"/>
                </a:highlight>
                <a:latin typeface="Courier New"/>
                <a:ea typeface="Courier New"/>
                <a:cs typeface="Courier New"/>
                <a:sym typeface="Courier New"/>
              </a:rPr>
              <a:t>i yjava_jdk -tag yjava_jdk_adoptopenjdk11_latest -nostart -noautosave</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ROOT=</a:t>
            </a:r>
            <a:r>
              <a:rPr lang="en" sz="1000">
                <a:solidFill>
                  <a:srgbClr val="6A8759"/>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{ROOT:-/home/y}</a:t>
            </a:r>
            <a:r>
              <a:rPr lang="en" sz="1000">
                <a:solidFill>
                  <a:srgbClr val="6A8759"/>
                </a:solidFill>
                <a:highlight>
                  <a:srgbClr val="2B2B2B"/>
                </a:highlight>
                <a:latin typeface="Courier New"/>
                <a:ea typeface="Courier New"/>
                <a:cs typeface="Courier New"/>
                <a:sym typeface="Courier New"/>
              </a:rPr>
              <a:t>"</a:t>
            </a:r>
            <a:endParaRPr sz="10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6A8759"/>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jvm_args_arr=(</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-XX:+DisableExplicitGC</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-XX:+UseG1GC</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-XX:+ParallelRefProcEnabled</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6A8759"/>
                </a:solidFill>
                <a:highlight>
                  <a:srgbClr val="2B2B2B"/>
                </a:highlight>
                <a:latin typeface="Courier New"/>
                <a:ea typeface="Courier New"/>
                <a:cs typeface="Courier New"/>
                <a:sym typeface="Courier New"/>
              </a:rPr>
              <a:t>"-Xlog:gc:file=</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{ROOT}</a:t>
            </a:r>
            <a:r>
              <a:rPr lang="en" sz="1000">
                <a:solidFill>
                  <a:srgbClr val="6A8759"/>
                </a:solidFill>
                <a:highlight>
                  <a:srgbClr val="2B2B2B"/>
                </a:highlight>
                <a:latin typeface="Courier New"/>
                <a:ea typeface="Courier New"/>
                <a:cs typeface="Courier New"/>
                <a:sym typeface="Courier New"/>
              </a:rPr>
              <a:t>/logs/grpc/gc.log:time,level,tags:filecount=10,filesize=4M"</a:t>
            </a:r>
            <a:endParaRPr sz="10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6A8759"/>
                </a:solidFill>
                <a:highlight>
                  <a:srgbClr val="2B2B2B"/>
                </a:highlight>
                <a:latin typeface="Courier New"/>
                <a:ea typeface="Courier New"/>
                <a:cs typeface="Courier New"/>
                <a:sym typeface="Courier New"/>
              </a:rPr>
              <a:t>   </a:t>
            </a:r>
            <a:r>
              <a:rPr lang="en" sz="1000">
                <a:solidFill>
                  <a:srgbClr val="A9B7C6"/>
                </a:solidFill>
                <a:highlight>
                  <a:srgbClr val="2B2B2B"/>
                </a:highlight>
                <a:latin typeface="Courier New"/>
                <a:ea typeface="Courier New"/>
                <a:cs typeface="Courier New"/>
                <a:sym typeface="Courier New"/>
              </a:rPr>
              <a:t>)</a:t>
            </a:r>
            <a:endParaRPr sz="1000">
              <a:solidFill>
                <a:srgbClr val="A9B7C6"/>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A9B7C6"/>
                </a:solidFill>
                <a:highlight>
                  <a:srgbClr val="2B2B2B"/>
                </a:highlight>
                <a:latin typeface="Courier New"/>
                <a:ea typeface="Courier New"/>
                <a:cs typeface="Courier New"/>
                <a:sym typeface="Courier New"/>
              </a:rPr>
              <a:t>   </a:t>
            </a:r>
            <a:r>
              <a:rPr lang="en" sz="1000">
                <a:solidFill>
                  <a:srgbClr val="C57633"/>
                </a:solidFill>
                <a:highlight>
                  <a:srgbClr val="2B2B2B"/>
                </a:highlight>
                <a:latin typeface="Courier New"/>
                <a:ea typeface="Courier New"/>
                <a:cs typeface="Courier New"/>
                <a:sym typeface="Courier New"/>
              </a:rPr>
              <a:t>yinst </a:t>
            </a:r>
            <a:r>
              <a:rPr lang="en" sz="1000">
                <a:solidFill>
                  <a:srgbClr val="A9B7C6"/>
                </a:solidFill>
                <a:highlight>
                  <a:srgbClr val="2B2B2B"/>
                </a:highlight>
                <a:latin typeface="Courier New"/>
                <a:ea typeface="Courier New"/>
                <a:cs typeface="Courier New"/>
                <a:sym typeface="Courier New"/>
              </a:rPr>
              <a:t>set comment_grpc_service.jvm_args=</a:t>
            </a:r>
            <a:r>
              <a:rPr lang="en" sz="1000">
                <a:solidFill>
                  <a:srgbClr val="6A8759"/>
                </a:solidFill>
                <a:highlight>
                  <a:srgbClr val="2B2B2B"/>
                </a:highlight>
                <a:latin typeface="Courier New"/>
                <a:ea typeface="Courier New"/>
                <a:cs typeface="Courier New"/>
                <a:sym typeface="Courier New"/>
              </a:rPr>
              <a:t>"</a:t>
            </a:r>
            <a:r>
              <a:rPr lang="en" sz="1000">
                <a:solidFill>
                  <a:srgbClr val="CC7832"/>
                </a:solidFill>
                <a:highlight>
                  <a:srgbClr val="2B2B2B"/>
                </a:highlight>
                <a:latin typeface="Courier New"/>
                <a:ea typeface="Courier New"/>
                <a:cs typeface="Courier New"/>
                <a:sym typeface="Courier New"/>
              </a:rPr>
              <a:t>$</a:t>
            </a:r>
            <a:r>
              <a:rPr lang="en" sz="1000">
                <a:solidFill>
                  <a:srgbClr val="A9B7C6"/>
                </a:solidFill>
                <a:highlight>
                  <a:srgbClr val="2B2B2B"/>
                </a:highlight>
                <a:latin typeface="Courier New"/>
                <a:ea typeface="Courier New"/>
                <a:cs typeface="Courier New"/>
                <a:sym typeface="Courier New"/>
              </a:rPr>
              <a:t>{jvm_args_arr[*]}</a:t>
            </a:r>
            <a:r>
              <a:rPr lang="en" sz="1000">
                <a:solidFill>
                  <a:srgbClr val="6A8759"/>
                </a:solidFill>
                <a:highlight>
                  <a:srgbClr val="2B2B2B"/>
                </a:highlight>
                <a:latin typeface="Courier New"/>
                <a:ea typeface="Courier New"/>
                <a:cs typeface="Courier New"/>
                <a:sym typeface="Courier New"/>
              </a:rPr>
              <a:t>"</a:t>
            </a:r>
            <a:endParaRPr sz="1000">
              <a:solidFill>
                <a:srgbClr val="6A8759"/>
              </a:solidFill>
              <a:highlight>
                <a:srgbClr val="2B2B2B"/>
              </a:highlight>
              <a:latin typeface="Courier New"/>
              <a:ea typeface="Courier New"/>
              <a:cs typeface="Courier New"/>
              <a:sym typeface="Courier New"/>
            </a:endParaRPr>
          </a:p>
          <a:p>
            <a:pPr indent="0" lvl="0" marL="0" rtl="0" algn="l">
              <a:spcBef>
                <a:spcPts val="0"/>
              </a:spcBef>
              <a:spcAft>
                <a:spcPts val="0"/>
              </a:spcAft>
              <a:buNone/>
            </a:pPr>
            <a:r>
              <a:rPr lang="en" sz="1000">
                <a:solidFill>
                  <a:srgbClr val="CC7832"/>
                </a:solidFill>
                <a:highlight>
                  <a:srgbClr val="2B2B2B"/>
                </a:highlight>
                <a:latin typeface="Courier New"/>
                <a:ea typeface="Courier New"/>
                <a:cs typeface="Courier New"/>
                <a:sym typeface="Courier New"/>
              </a:rPr>
              <a:t>fi</a:t>
            </a:r>
            <a:endParaRPr sz="1000">
              <a:solidFill>
                <a:srgbClr val="CC7832"/>
              </a:solidFill>
              <a:highlight>
                <a:srgbClr val="2B2B2B"/>
              </a:highlight>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457200" y="594360"/>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Custom traffic routing with routing.yaml</a:t>
            </a:r>
            <a:endParaRPr/>
          </a:p>
        </p:txBody>
      </p:sp>
      <p:sp>
        <p:nvSpPr>
          <p:cNvPr id="372" name="Google Shape;372;p51"/>
          <p:cNvSpPr txBox="1"/>
          <p:nvPr>
            <p:ph idx="1" type="body"/>
          </p:nvPr>
        </p:nvSpPr>
        <p:spPr>
          <a:xfrm>
            <a:off x="457200" y="1230975"/>
            <a:ext cx="7654500" cy="538200"/>
          </a:xfrm>
          <a:prstGeom prst="rect">
            <a:avLst/>
          </a:prstGeom>
        </p:spPr>
        <p:txBody>
          <a:bodyPr anchorCtr="0" anchor="t" bIns="0" lIns="0" spcFirstLastPara="1" rIns="0" wrap="square" tIns="0">
            <a:normAutofit fontScale="62500" lnSpcReduction="20000"/>
          </a:bodyPr>
          <a:lstStyle/>
          <a:p>
            <a:pPr indent="0" lvl="0" marL="0" rtl="0" algn="l">
              <a:spcBef>
                <a:spcPts val="900"/>
              </a:spcBef>
              <a:spcAft>
                <a:spcPts val="0"/>
              </a:spcAft>
              <a:buNone/>
            </a:pPr>
            <a:r>
              <a:rPr lang="en"/>
              <a:t>If header matches a regex, divert request to a different environment. </a:t>
            </a:r>
            <a:br>
              <a:rPr lang="en"/>
            </a:br>
            <a:r>
              <a:rPr lang="en"/>
              <a:t>(if you use </a:t>
            </a:r>
            <a:r>
              <a:rPr lang="en" u="sng">
                <a:solidFill>
                  <a:schemeClr val="hlink"/>
                </a:solidFill>
                <a:hlinkClick r:id="rId3"/>
              </a:rPr>
              <a:t>yo/evaluate</a:t>
            </a:r>
            <a:r>
              <a:rPr lang="en"/>
              <a:t> experimentation platform, e.g.)</a:t>
            </a:r>
            <a:endParaRPr/>
          </a:p>
          <a:p>
            <a:pPr indent="0" lvl="0" marL="0" rtl="0" algn="l">
              <a:spcBef>
                <a:spcPts val="1200"/>
              </a:spcBef>
              <a:spcAft>
                <a:spcPts val="1200"/>
              </a:spcAft>
              <a:buNone/>
            </a:pPr>
            <a:r>
              <a:t/>
            </a:r>
            <a:endParaRPr/>
          </a:p>
        </p:txBody>
      </p:sp>
      <p:sp>
        <p:nvSpPr>
          <p:cNvPr id="373" name="Google Shape;373;p51"/>
          <p:cNvSpPr txBox="1"/>
          <p:nvPr>
            <p:ph idx="12" type="sldNum"/>
          </p:nvPr>
        </p:nvSpPr>
        <p:spPr>
          <a:xfrm>
            <a:off x="8458200" y="4700016"/>
            <a:ext cx="228600" cy="228600"/>
          </a:xfrm>
          <a:prstGeom prst="rect">
            <a:avLst/>
          </a:prstGeom>
        </p:spPr>
        <p:txBody>
          <a:bodyPr anchorCtr="0" anchor="b"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74" name="Google Shape;374;p51"/>
          <p:cNvSpPr txBox="1"/>
          <p:nvPr/>
        </p:nvSpPr>
        <p:spPr>
          <a:xfrm>
            <a:off x="716725" y="2107550"/>
            <a:ext cx="7445700" cy="1927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prod-gq1</a:t>
            </a:r>
            <a:r>
              <a:rPr lang="en" sz="1000">
                <a:solidFill>
                  <a:schemeClr val="dk1"/>
                </a:solidFill>
                <a:latin typeface="Courier New"/>
                <a:ea typeface="Courier New"/>
                <a:cs typeface="Courier New"/>
                <a:sym typeface="Courier New"/>
              </a:rPr>
              <a:t>:</a:t>
            </a:r>
            <a:endParaRPr sz="1000" strike="sngStrike">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latin typeface="Courier New"/>
                <a:ea typeface="Courier New"/>
                <a:cs typeface="Courier New"/>
                <a:sym typeface="Courier New"/>
              </a:rPr>
              <a:t>  additionalHttpRoutes:</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 match: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 headers: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bucket: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regex: "</a:t>
            </a:r>
            <a:r>
              <a:rPr b="1" lang="en" sz="1000">
                <a:solidFill>
                  <a:schemeClr val="dk1"/>
                </a:solidFill>
                <a:latin typeface="Courier New"/>
                <a:ea typeface="Courier New"/>
                <a:cs typeface="Courier New"/>
                <a:sym typeface="Courier New"/>
              </a:rPr>
              <a:t>.*bucket-jdk11.*</a:t>
            </a:r>
            <a:r>
              <a:rPr lang="en" sz="1000">
                <a:solidFill>
                  <a:schemeClr val="dk1"/>
                </a:solidFill>
                <a:latin typeface="Courier New"/>
                <a:ea typeface="Courier New"/>
                <a:cs typeface="Courier New"/>
                <a:sym typeface="Courier New"/>
              </a:rPr>
              <a:t>"</a:t>
            </a:r>
            <a:endParaRPr sz="8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route: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 destination: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host: "{{ $job := index .job "</a:t>
            </a:r>
            <a:r>
              <a:rPr b="1" lang="en" sz="1000">
                <a:solidFill>
                  <a:schemeClr val="dk1"/>
                </a:solidFill>
                <a:latin typeface="Courier New"/>
                <a:ea typeface="Courier New"/>
                <a:cs typeface="Courier New"/>
                <a:sym typeface="Courier New"/>
              </a:rPr>
              <a:t>prod-gq1-jdk11</a:t>
            </a:r>
            <a:r>
              <a:rPr lang="en" sz="1000">
                <a:solidFill>
                  <a:schemeClr val="dk1"/>
                </a:solidFill>
                <a:latin typeface="Courier New"/>
                <a:ea typeface="Courier New"/>
                <a:cs typeface="Courier New"/>
                <a:sym typeface="Courier New"/>
              </a:rPr>
              <a:t>" }}{{ $job.httpRoute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port: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number: {{ $job.derivedServicePort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sz="1000">
              <a:solidFill>
                <a:schemeClr val="dk1"/>
              </a:solidFill>
              <a:latin typeface="Courier New"/>
              <a:ea typeface="Courier New"/>
              <a:cs typeface="Courier New"/>
              <a:sym typeface="Courier New"/>
            </a:endParaRPr>
          </a:p>
        </p:txBody>
      </p:sp>
      <p:sp>
        <p:nvSpPr>
          <p:cNvPr id="375" name="Google Shape;375;p51"/>
          <p:cNvSpPr txBox="1"/>
          <p:nvPr/>
        </p:nvSpPr>
        <p:spPr>
          <a:xfrm>
            <a:off x="686950" y="1788950"/>
            <a:ext cx="14190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Verizon NHG TX"/>
                <a:ea typeface="Verizon NHG TX"/>
                <a:cs typeface="Verizon NHG TX"/>
                <a:sym typeface="Verizon NHG TX"/>
              </a:rPr>
              <a:t>routing.yaml</a:t>
            </a:r>
            <a:endParaRPr sz="800">
              <a:latin typeface="Verizon NHG TX"/>
              <a:ea typeface="Verizon NHG TX"/>
              <a:cs typeface="Verizon NHG TX"/>
              <a:sym typeface="Verizon NHG TX"/>
            </a:endParaRPr>
          </a:p>
        </p:txBody>
      </p:sp>
      <p:sp>
        <p:nvSpPr>
          <p:cNvPr id="376" name="Google Shape;376;p51"/>
          <p:cNvSpPr txBox="1"/>
          <p:nvPr/>
        </p:nvSpPr>
        <p:spPr>
          <a:xfrm>
            <a:off x="2707475" y="419032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900"/>
              </a:spcBef>
              <a:spcAft>
                <a:spcPts val="0"/>
              </a:spcAft>
              <a:buNone/>
            </a:pPr>
            <a:r>
              <a:rPr lang="en">
                <a:solidFill>
                  <a:schemeClr val="dk1"/>
                </a:solidFill>
              </a:rPr>
              <a:t>From </a:t>
            </a:r>
            <a:r>
              <a:rPr b="1" lang="en" sz="1200" u="sng">
                <a:solidFill>
                  <a:schemeClr val="dk1"/>
                </a:solidFill>
                <a:latin typeface="Verizon NHG TX"/>
                <a:ea typeface="Verizon NHG TX"/>
                <a:cs typeface="Verizon NHG TX"/>
                <a:sym typeface="Verizon NHG TX"/>
                <a:hlinkClick r:id="rId4">
                  <a:extLst>
                    <a:ext uri="{A12FA001-AC4F-418D-AE19-62706E023703}">
                      <ahyp:hlinkClr val="tx"/>
                    </a:ext>
                  </a:extLst>
                </a:hlinkClick>
              </a:rPr>
              <a:t>yo/omega-variants-deck</a:t>
            </a:r>
            <a:endParaRPr>
              <a:solidFill>
                <a:schemeClr val="dk1"/>
              </a:solidFill>
              <a:latin typeface="Verizon NHG TX"/>
              <a:ea typeface="Verizon NHG TX"/>
              <a:cs typeface="Verizon NHG TX"/>
              <a:sym typeface="Verizon NHG TX"/>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2"/>
          <p:cNvSpPr txBox="1"/>
          <p:nvPr>
            <p:ph type="title"/>
          </p:nvPr>
        </p:nvSpPr>
        <p:spPr>
          <a:xfrm>
            <a:off x="457200" y="594360"/>
            <a:ext cx="7086600" cy="6858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
              <a:t>Custom traffic routing with routing.yaml</a:t>
            </a:r>
            <a:endParaRPr/>
          </a:p>
        </p:txBody>
      </p:sp>
      <p:sp>
        <p:nvSpPr>
          <p:cNvPr id="382" name="Google Shape;382;p52"/>
          <p:cNvSpPr txBox="1"/>
          <p:nvPr>
            <p:ph idx="1" type="body"/>
          </p:nvPr>
        </p:nvSpPr>
        <p:spPr>
          <a:xfrm>
            <a:off x="457200" y="1230977"/>
            <a:ext cx="7086600" cy="513300"/>
          </a:xfrm>
          <a:prstGeom prst="rect">
            <a:avLst/>
          </a:prstGeom>
        </p:spPr>
        <p:txBody>
          <a:bodyPr anchorCtr="0" anchor="t" bIns="0" lIns="0" spcFirstLastPara="1" rIns="0" wrap="square" tIns="0">
            <a:normAutofit/>
          </a:bodyPr>
          <a:lstStyle/>
          <a:p>
            <a:pPr indent="0" lvl="0" marL="0" rtl="0" algn="l">
              <a:spcBef>
                <a:spcPts val="900"/>
              </a:spcBef>
              <a:spcAft>
                <a:spcPts val="1200"/>
              </a:spcAft>
              <a:buNone/>
            </a:pPr>
            <a:r>
              <a:rPr lang="en"/>
              <a:t>Divert requests to another environment by percentage</a:t>
            </a:r>
            <a:endParaRPr/>
          </a:p>
        </p:txBody>
      </p:sp>
      <p:sp>
        <p:nvSpPr>
          <p:cNvPr id="383" name="Google Shape;383;p52"/>
          <p:cNvSpPr txBox="1"/>
          <p:nvPr>
            <p:ph idx="12" type="sldNum"/>
          </p:nvPr>
        </p:nvSpPr>
        <p:spPr>
          <a:xfrm>
            <a:off x="8458200" y="4700016"/>
            <a:ext cx="228600" cy="228600"/>
          </a:xfrm>
          <a:prstGeom prst="rect">
            <a:avLst/>
          </a:prstGeom>
        </p:spPr>
        <p:txBody>
          <a:bodyPr anchorCtr="0" anchor="b" bIns="0" lIns="0" spcFirstLastPara="1" rIns="0" wrap="square" tIns="0">
            <a:normAutofit/>
          </a:bodyPr>
          <a:lstStyle/>
          <a:p>
            <a:pPr indent="0" lvl="0" marL="0" rtl="0" algn="r">
              <a:spcBef>
                <a:spcPts val="0"/>
              </a:spcBef>
              <a:spcAft>
                <a:spcPts val="0"/>
              </a:spcAft>
              <a:buClr>
                <a:srgbClr val="000000"/>
              </a:buClr>
              <a:buFont typeface="Arial"/>
              <a:buNone/>
            </a:pPr>
            <a:fld id="{00000000-1234-1234-1234-123412341234}" type="slidenum">
              <a:rPr lang="en"/>
              <a:t>‹#›</a:t>
            </a:fld>
            <a:endParaRPr/>
          </a:p>
        </p:txBody>
      </p:sp>
      <p:sp>
        <p:nvSpPr>
          <p:cNvPr id="384" name="Google Shape;384;p52"/>
          <p:cNvSpPr txBox="1"/>
          <p:nvPr/>
        </p:nvSpPr>
        <p:spPr>
          <a:xfrm>
            <a:off x="716725" y="2216250"/>
            <a:ext cx="7458300" cy="22224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chemeClr val="dk1"/>
                </a:solidFill>
                <a:latin typeface="Courier New"/>
                <a:ea typeface="Courier New"/>
                <a:cs typeface="Courier New"/>
                <a:sym typeface="Courier New"/>
              </a:rPr>
              <a:t>prod-gq1</a:t>
            </a:r>
            <a:r>
              <a:rPr lang="en" sz="1000">
                <a:solidFill>
                  <a:schemeClr val="dk1"/>
                </a:solidFill>
                <a:latin typeface="Courier New"/>
                <a:ea typeface="Courier New"/>
                <a:cs typeface="Courier New"/>
                <a:sym typeface="Courier New"/>
              </a:rPr>
              <a: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overrideDefaultHttpRoute: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 route: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 destination:</a:t>
            </a:r>
            <a:endParaRPr sz="1000">
              <a:latin typeface="Courier New"/>
              <a:ea typeface="Courier New"/>
              <a:cs typeface="Courier New"/>
              <a:sym typeface="Courier New"/>
            </a:endParaRPr>
          </a:p>
          <a:p>
            <a:pPr indent="457200" lvl="0" marL="0" rtl="0" algn="l">
              <a:spcBef>
                <a:spcPts val="0"/>
              </a:spcBef>
              <a:spcAft>
                <a:spcPts val="0"/>
              </a:spcAft>
              <a:buNone/>
            </a:pPr>
            <a:r>
              <a:rPr lang="en" sz="1000">
                <a:latin typeface="Courier New"/>
                <a:ea typeface="Courier New"/>
                <a:cs typeface="Courier New"/>
                <a:sym typeface="Courier New"/>
              </a:rPr>
              <a:t>    host: </a:t>
            </a:r>
            <a:r>
              <a:rPr lang="en" sz="1000">
                <a:solidFill>
                  <a:schemeClr val="dk1"/>
                </a:solidFill>
                <a:latin typeface="Courier New"/>
                <a:ea typeface="Courier New"/>
                <a:cs typeface="Courier New"/>
                <a:sym typeface="Courier New"/>
              </a:rPr>
              <a:t>"{{ $job := index .job "</a:t>
            </a:r>
            <a:r>
              <a:rPr b="1" lang="en" sz="1000">
                <a:solidFill>
                  <a:schemeClr val="dk1"/>
                </a:solidFill>
                <a:latin typeface="Courier New"/>
                <a:ea typeface="Courier New"/>
                <a:cs typeface="Courier New"/>
                <a:sym typeface="Courier New"/>
              </a:rPr>
              <a:t>prod-gq1</a:t>
            </a:r>
            <a:r>
              <a:rPr lang="en" sz="1000">
                <a:solidFill>
                  <a:schemeClr val="dk1"/>
                </a:solidFill>
                <a:latin typeface="Courier New"/>
                <a:ea typeface="Courier New"/>
                <a:cs typeface="Courier New"/>
                <a:sym typeface="Courier New"/>
              </a:rPr>
              <a:t>" }}{{ $job.httpRoute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port: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number: {{ $job.derivedServicePort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weight: </a:t>
            </a:r>
            <a:r>
              <a:rPr b="1" lang="en" sz="1000">
                <a:solidFill>
                  <a:schemeClr val="dk1"/>
                </a:solidFill>
                <a:latin typeface="Courier New"/>
                <a:ea typeface="Courier New"/>
                <a:cs typeface="Courier New"/>
                <a:sym typeface="Courier New"/>
              </a:rPr>
              <a:t>95</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 destination:</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host: "{{ $job := index .job "</a:t>
            </a:r>
            <a:r>
              <a:rPr b="1" lang="en" sz="1000">
                <a:solidFill>
                  <a:schemeClr val="dk1"/>
                </a:solidFill>
                <a:latin typeface="Courier New"/>
                <a:ea typeface="Courier New"/>
                <a:cs typeface="Courier New"/>
                <a:sym typeface="Courier New"/>
              </a:rPr>
              <a:t>prod-gq1-jdk11</a:t>
            </a:r>
            <a:r>
              <a:rPr lang="en" sz="1000">
                <a:solidFill>
                  <a:schemeClr val="dk1"/>
                </a:solidFill>
                <a:latin typeface="Courier New"/>
                <a:ea typeface="Courier New"/>
                <a:cs typeface="Courier New"/>
                <a:sym typeface="Courier New"/>
              </a:rPr>
              <a:t>" }}{{ $job.httpRoute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000">
                <a:solidFill>
                  <a:schemeClr val="dk1"/>
                </a:solidFill>
                <a:latin typeface="Courier New"/>
                <a:ea typeface="Courier New"/>
                <a:cs typeface="Courier New"/>
                <a:sym typeface="Courier New"/>
              </a:rPr>
              <a:t>          port:</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number: {{ $job.derivedServicePort }}</a:t>
            </a:r>
            <a:endParaRPr sz="10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000">
                <a:solidFill>
                  <a:schemeClr val="dk1"/>
                </a:solidFill>
                <a:latin typeface="Courier New"/>
                <a:ea typeface="Courier New"/>
                <a:cs typeface="Courier New"/>
                <a:sym typeface="Courier New"/>
              </a:rPr>
              <a:t>        weight: </a:t>
            </a:r>
            <a:r>
              <a:rPr b="1" lang="en" sz="1000">
                <a:solidFill>
                  <a:schemeClr val="dk1"/>
                </a:solidFill>
                <a:latin typeface="Courier New"/>
                <a:ea typeface="Courier New"/>
                <a:cs typeface="Courier New"/>
                <a:sym typeface="Courier New"/>
              </a:rPr>
              <a:t>5</a:t>
            </a:r>
            <a:endParaRPr b="1" sz="10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solidFill>
                <a:schemeClr val="dk1"/>
              </a:solidFill>
              <a:latin typeface="Courier New"/>
              <a:ea typeface="Courier New"/>
              <a:cs typeface="Courier New"/>
              <a:sym typeface="Courier New"/>
            </a:endParaRPr>
          </a:p>
        </p:txBody>
      </p:sp>
      <p:sp>
        <p:nvSpPr>
          <p:cNvPr id="385" name="Google Shape;385;p52"/>
          <p:cNvSpPr txBox="1"/>
          <p:nvPr/>
        </p:nvSpPr>
        <p:spPr>
          <a:xfrm>
            <a:off x="679975" y="1795950"/>
            <a:ext cx="4728600" cy="2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latin typeface="Verizon NHG TX"/>
                <a:ea typeface="Verizon NHG TX"/>
                <a:cs typeface="Verizon NHG TX"/>
                <a:sym typeface="Verizon NHG TX"/>
              </a:rPr>
              <a:t>routing.yaml</a:t>
            </a:r>
            <a:endParaRPr sz="800">
              <a:latin typeface="Verizon NHG TX"/>
              <a:ea typeface="Verizon NHG TX"/>
              <a:cs typeface="Verizon NHG TX"/>
              <a:sym typeface="Verizon NHG TX"/>
            </a:endParaRPr>
          </a:p>
        </p:txBody>
      </p:sp>
      <p:sp>
        <p:nvSpPr>
          <p:cNvPr id="386" name="Google Shape;386;p52"/>
          <p:cNvSpPr txBox="1"/>
          <p:nvPr/>
        </p:nvSpPr>
        <p:spPr>
          <a:xfrm>
            <a:off x="2663900" y="44386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900"/>
              </a:spcBef>
              <a:spcAft>
                <a:spcPts val="0"/>
              </a:spcAft>
              <a:buNone/>
            </a:pPr>
            <a:r>
              <a:rPr lang="en">
                <a:solidFill>
                  <a:schemeClr val="dk1"/>
                </a:solidFill>
              </a:rPr>
              <a:t>From </a:t>
            </a:r>
            <a:r>
              <a:rPr b="1" lang="en" sz="1200" u="sng">
                <a:solidFill>
                  <a:schemeClr val="dk1"/>
                </a:solidFill>
                <a:latin typeface="Verizon NHG TX"/>
                <a:ea typeface="Verizon NHG TX"/>
                <a:cs typeface="Verizon NHG TX"/>
                <a:sym typeface="Verizon NHG TX"/>
                <a:hlinkClick r:id="rId3">
                  <a:extLst>
                    <a:ext uri="{A12FA001-AC4F-418D-AE19-62706E023703}">
                      <ahyp:hlinkClr val="tx"/>
                    </a:ext>
                  </a:extLst>
                </a:hlinkClick>
              </a:rPr>
              <a:t>yo/omega-variants-deck</a:t>
            </a:r>
            <a:endParaRPr>
              <a:solidFill>
                <a:schemeClr val="dk1"/>
              </a:solidFill>
              <a:latin typeface="Verizon NHG TX"/>
              <a:ea typeface="Verizon NHG TX"/>
              <a:cs typeface="Verizon NHG TX"/>
              <a:sym typeface="Verizon NHG TX"/>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3"/>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Ω “Safe Changes” for dual builds: NCP/Graviton</a:t>
            </a:r>
            <a:endParaRPr/>
          </a:p>
        </p:txBody>
      </p:sp>
      <p:sp>
        <p:nvSpPr>
          <p:cNvPr id="392" name="Google Shape;392;p53"/>
          <p:cNvSpPr txBox="1"/>
          <p:nvPr>
            <p:ph idx="1" type="body"/>
          </p:nvPr>
        </p:nvSpPr>
        <p:spPr>
          <a:xfrm>
            <a:off x="311700" y="1076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Challenges met so far:</a:t>
            </a:r>
            <a:endParaRPr sz="1800"/>
          </a:p>
          <a:p>
            <a:pPr indent="-342900" lvl="0" marL="457200" rtl="0" algn="l">
              <a:spcBef>
                <a:spcPts val="1200"/>
              </a:spcBef>
              <a:spcAft>
                <a:spcPts val="0"/>
              </a:spcAft>
              <a:buSzPts val="1800"/>
              <a:buAutoNum type="arabicPeriod"/>
            </a:pPr>
            <a:r>
              <a:rPr lang="en" sz="1800"/>
              <a:t>Guice + Guice-multibindings upgrade 4.2.3 (not sure minimal version, but went to latest).</a:t>
            </a:r>
            <a:endParaRPr sz="1800"/>
          </a:p>
          <a:p>
            <a:pPr indent="-342900" lvl="0" marL="457200" rtl="0" algn="l">
              <a:spcBef>
                <a:spcPts val="0"/>
              </a:spcBef>
              <a:spcAft>
                <a:spcPts val="0"/>
              </a:spcAft>
              <a:buSzPts val="1800"/>
              <a:buAutoNum type="arabicPeriod"/>
            </a:pPr>
            <a:r>
              <a:rPr lang="en" sz="1800"/>
              <a:t>TestNG 7.0 - toString called </a:t>
            </a:r>
            <a:r>
              <a:rPr i="1" lang="en" sz="1800"/>
              <a:t>BEFORE</a:t>
            </a:r>
            <a:r>
              <a:rPr lang="en" sz="1800"/>
              <a:t> the test is run - some fields filled in by test (NPE - just check in toString)</a:t>
            </a:r>
            <a:endParaRPr sz="1800"/>
          </a:p>
          <a:p>
            <a:pPr indent="-342900" lvl="0" marL="457200" rtl="0" algn="l">
              <a:spcBef>
                <a:spcPts val="0"/>
              </a:spcBef>
              <a:spcAft>
                <a:spcPts val="0"/>
              </a:spcAft>
              <a:buSzPts val="1800"/>
              <a:buAutoNum type="arabicPeriod"/>
            </a:pPr>
            <a:r>
              <a:rPr lang="en" sz="1800"/>
              <a:t>Application names are already over the 63-char limit just for -prXXX (after 100 PRs, no PRs can deploy)</a:t>
            </a:r>
            <a:endParaRPr sz="1800"/>
          </a:p>
          <a:p>
            <a:pPr indent="-342900" lvl="0" marL="457200" rtl="0" algn="l">
              <a:spcBef>
                <a:spcPts val="0"/>
              </a:spcBef>
              <a:spcAft>
                <a:spcPts val="0"/>
              </a:spcAft>
              <a:buSzPts val="1800"/>
              <a:buAutoNum type="arabicPeriod"/>
            </a:pPr>
            <a:r>
              <a:rPr lang="en" sz="1800"/>
              <a:t>Garbage collection and logging settings to yjava_jetty - easy but had to figure them out</a:t>
            </a:r>
            <a:endParaRPr sz="1800"/>
          </a:p>
        </p:txBody>
      </p:sp>
      <p:pic>
        <p:nvPicPr>
          <p:cNvPr id="393" name="Google Shape;393;p53"/>
          <p:cNvPicPr preferRelativeResize="0"/>
          <p:nvPr/>
        </p:nvPicPr>
        <p:blipFill>
          <a:blip r:embed="rId3">
            <a:alphaModFix/>
          </a:blip>
          <a:stretch>
            <a:fillRect/>
          </a:stretch>
        </p:blipFill>
        <p:spPr>
          <a:xfrm rot="233548">
            <a:off x="7743325" y="25425"/>
            <a:ext cx="1130249" cy="11302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
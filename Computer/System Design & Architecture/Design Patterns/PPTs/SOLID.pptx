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1"/>
  </p:notesMasterIdLst>
  <p:sldIdLst>
    <p:sldId id="258" r:id="rId2"/>
    <p:sldId id="261" r:id="rId3"/>
    <p:sldId id="262" r:id="rId4"/>
    <p:sldId id="267" r:id="rId5"/>
    <p:sldId id="263" r:id="rId6"/>
    <p:sldId id="268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67162"/>
  </p:normalViewPr>
  <p:slideViewPr>
    <p:cSldViewPr snapToGrid="0" snapToObjects="1">
      <p:cViewPr>
        <p:scale>
          <a:sx n="75" d="100"/>
          <a:sy n="75" d="100"/>
        </p:scale>
        <p:origin x="760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AFEADB-F02F-4140-BEB8-81CA41EE146F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70AA6F5-D152-418B-81E8-0DB75BB48A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Single-responsiblity principle</a:t>
          </a:r>
        </a:p>
      </dgm:t>
    </dgm:pt>
    <dgm:pt modelId="{17A8A8C1-7DDE-45C2-B068-2DA51ED0AA7F}" type="parTrans" cxnId="{9E4CFDC2-C04E-4EF0-8107-0129DF3E7905}">
      <dgm:prSet/>
      <dgm:spPr/>
      <dgm:t>
        <a:bodyPr/>
        <a:lstStyle/>
        <a:p>
          <a:endParaRPr lang="en-US" sz="3200"/>
        </a:p>
      </dgm:t>
    </dgm:pt>
    <dgm:pt modelId="{82670B38-348D-4DAC-B70B-5C1D7BD75A8A}" type="sibTrans" cxnId="{9E4CFDC2-C04E-4EF0-8107-0129DF3E7905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CEB50335-E771-427F-A8CB-10E946C4FDA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Open-closed principle</a:t>
          </a:r>
        </a:p>
      </dgm:t>
    </dgm:pt>
    <dgm:pt modelId="{D7DFEB16-6B29-4115-84BF-4B1218CCF224}" type="parTrans" cxnId="{5B810605-941C-4501-B4A2-098464EF8887}">
      <dgm:prSet/>
      <dgm:spPr/>
      <dgm:t>
        <a:bodyPr/>
        <a:lstStyle/>
        <a:p>
          <a:endParaRPr lang="en-US" sz="3200"/>
        </a:p>
      </dgm:t>
    </dgm:pt>
    <dgm:pt modelId="{ACA44B13-3D38-477A-AAC3-2AD29618F294}" type="sibTrans" cxnId="{5B810605-941C-4501-B4A2-098464EF8887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52E4D165-A9D1-4E99-B982-1EB209A5AD0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Liskov substitution principle</a:t>
          </a:r>
        </a:p>
      </dgm:t>
    </dgm:pt>
    <dgm:pt modelId="{4215C8CA-C032-47BE-B0C9-B08F0D20A9FE}" type="parTrans" cxnId="{0F595EED-5157-4810-99CF-AC00F84D2ABB}">
      <dgm:prSet/>
      <dgm:spPr/>
      <dgm:t>
        <a:bodyPr/>
        <a:lstStyle/>
        <a:p>
          <a:endParaRPr lang="en-US" sz="3200"/>
        </a:p>
      </dgm:t>
    </dgm:pt>
    <dgm:pt modelId="{3D0F40C0-19E0-4AEB-BA83-14E955FC08B8}" type="sibTrans" cxnId="{0F595EED-5157-4810-99CF-AC00F84D2ABB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9345DA41-CB95-4174-B455-FF653C7EAD1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Interface segregation principle</a:t>
          </a:r>
        </a:p>
      </dgm:t>
    </dgm:pt>
    <dgm:pt modelId="{78DBAC57-9DB9-4DC7-8499-36A52605B245}" type="parTrans" cxnId="{1629A29F-0118-4238-8BED-28D0592B527A}">
      <dgm:prSet/>
      <dgm:spPr/>
      <dgm:t>
        <a:bodyPr/>
        <a:lstStyle/>
        <a:p>
          <a:endParaRPr lang="en-US" sz="3200"/>
        </a:p>
      </dgm:t>
    </dgm:pt>
    <dgm:pt modelId="{969EDF41-3408-4662-95BF-B8DE9864A125}" type="sibTrans" cxnId="{1629A29F-0118-4238-8BED-28D0592B527A}">
      <dgm:prSet/>
      <dgm:spPr/>
      <dgm:t>
        <a:bodyPr/>
        <a:lstStyle/>
        <a:p>
          <a:pPr>
            <a:lnSpc>
              <a:spcPct val="100000"/>
            </a:lnSpc>
          </a:pPr>
          <a:endParaRPr lang="en-US" sz="3200"/>
        </a:p>
      </dgm:t>
    </dgm:pt>
    <dgm:pt modelId="{87FC9AB7-FAF0-47F5-A445-67D42DA18E0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3200"/>
            <a:t>Dependency Inversion Principle</a:t>
          </a:r>
        </a:p>
      </dgm:t>
    </dgm:pt>
    <dgm:pt modelId="{68A9B875-C3F8-4463-9CC1-247F423E4F9A}" type="parTrans" cxnId="{E5F3071D-A281-4502-AB54-C7910198B022}">
      <dgm:prSet/>
      <dgm:spPr/>
      <dgm:t>
        <a:bodyPr/>
        <a:lstStyle/>
        <a:p>
          <a:endParaRPr lang="en-US" sz="3200"/>
        </a:p>
      </dgm:t>
    </dgm:pt>
    <dgm:pt modelId="{A6F0A953-D787-43DB-9E96-620A9EA062A7}" type="sibTrans" cxnId="{E5F3071D-A281-4502-AB54-C7910198B022}">
      <dgm:prSet/>
      <dgm:spPr/>
      <dgm:t>
        <a:bodyPr/>
        <a:lstStyle/>
        <a:p>
          <a:endParaRPr lang="en-US" sz="3200"/>
        </a:p>
      </dgm:t>
    </dgm:pt>
    <dgm:pt modelId="{8EE464AB-D5E5-480A-B72F-59E3ADF9638D}" type="pres">
      <dgm:prSet presAssocID="{86AFEADB-F02F-4140-BEB8-81CA41EE146F}" presName="root" presStyleCnt="0">
        <dgm:presLayoutVars>
          <dgm:dir/>
          <dgm:resizeHandles val="exact"/>
        </dgm:presLayoutVars>
      </dgm:prSet>
      <dgm:spPr/>
    </dgm:pt>
    <dgm:pt modelId="{947C839A-0C16-4DCF-8A65-74A8A75F12BF}" type="pres">
      <dgm:prSet presAssocID="{86AFEADB-F02F-4140-BEB8-81CA41EE146F}" presName="container" presStyleCnt="0">
        <dgm:presLayoutVars>
          <dgm:dir/>
          <dgm:resizeHandles val="exact"/>
        </dgm:presLayoutVars>
      </dgm:prSet>
      <dgm:spPr/>
    </dgm:pt>
    <dgm:pt modelId="{F4D9189C-0162-4666-8A58-B17049DA1F73}" type="pres">
      <dgm:prSet presAssocID="{C70AA6F5-D152-418B-81E8-0DB75BB48AC8}" presName="compNode" presStyleCnt="0"/>
      <dgm:spPr/>
    </dgm:pt>
    <dgm:pt modelId="{A5DDD32C-5AE0-4146-B01C-D992BF7DA960}" type="pres">
      <dgm:prSet presAssocID="{C70AA6F5-D152-418B-81E8-0DB75BB48AC8}" presName="iconBgRect" presStyleLbl="bgShp" presStyleIdx="0" presStyleCnt="5"/>
      <dgm:spPr/>
    </dgm:pt>
    <dgm:pt modelId="{778F54F3-7724-455A-B37A-3AC94BCEBB6A}" type="pres">
      <dgm:prSet presAssocID="{C70AA6F5-D152-418B-81E8-0DB75BB48AC8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3D3E4EA-E1EB-46D8-99F1-7F9831113591}" type="pres">
      <dgm:prSet presAssocID="{C70AA6F5-D152-418B-81E8-0DB75BB48AC8}" presName="spaceRect" presStyleCnt="0"/>
      <dgm:spPr/>
    </dgm:pt>
    <dgm:pt modelId="{25897639-2B8D-496B-BC76-4527C8147D6B}" type="pres">
      <dgm:prSet presAssocID="{C70AA6F5-D152-418B-81E8-0DB75BB48AC8}" presName="textRect" presStyleLbl="revTx" presStyleIdx="0" presStyleCnt="5">
        <dgm:presLayoutVars>
          <dgm:chMax val="1"/>
          <dgm:chPref val="1"/>
        </dgm:presLayoutVars>
      </dgm:prSet>
      <dgm:spPr/>
    </dgm:pt>
    <dgm:pt modelId="{48EFB5F0-CC46-46AA-9E46-D8F54DDD0AA0}" type="pres">
      <dgm:prSet presAssocID="{82670B38-348D-4DAC-B70B-5C1D7BD75A8A}" presName="sibTrans" presStyleLbl="sibTrans2D1" presStyleIdx="0" presStyleCnt="0"/>
      <dgm:spPr/>
    </dgm:pt>
    <dgm:pt modelId="{B6B0FBC2-293D-4F29-9073-29060998131B}" type="pres">
      <dgm:prSet presAssocID="{CEB50335-E771-427F-A8CB-10E946C4FDAF}" presName="compNode" presStyleCnt="0"/>
      <dgm:spPr/>
    </dgm:pt>
    <dgm:pt modelId="{85CFB10B-474B-4AE7-B948-BB8243D584FF}" type="pres">
      <dgm:prSet presAssocID="{CEB50335-E771-427F-A8CB-10E946C4FDAF}" presName="iconBgRect" presStyleLbl="bgShp" presStyleIdx="1" presStyleCnt="5"/>
      <dgm:spPr/>
    </dgm:pt>
    <dgm:pt modelId="{1D03D9BB-A046-4CD8-A8B1-39B5D87A079F}" type="pres">
      <dgm:prSet presAssocID="{CEB50335-E771-427F-A8CB-10E946C4FDA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4357F5D-19A3-4F07-B850-F2B392CAD2A1}" type="pres">
      <dgm:prSet presAssocID="{CEB50335-E771-427F-A8CB-10E946C4FDAF}" presName="spaceRect" presStyleCnt="0"/>
      <dgm:spPr/>
    </dgm:pt>
    <dgm:pt modelId="{AB028327-A48B-422A-B827-E5CF434D6441}" type="pres">
      <dgm:prSet presAssocID="{CEB50335-E771-427F-A8CB-10E946C4FDAF}" presName="textRect" presStyleLbl="revTx" presStyleIdx="1" presStyleCnt="5">
        <dgm:presLayoutVars>
          <dgm:chMax val="1"/>
          <dgm:chPref val="1"/>
        </dgm:presLayoutVars>
      </dgm:prSet>
      <dgm:spPr/>
    </dgm:pt>
    <dgm:pt modelId="{67439CEB-46F2-4FF3-83CD-11D2D3CCE3A5}" type="pres">
      <dgm:prSet presAssocID="{ACA44B13-3D38-477A-AAC3-2AD29618F294}" presName="sibTrans" presStyleLbl="sibTrans2D1" presStyleIdx="0" presStyleCnt="0"/>
      <dgm:spPr/>
    </dgm:pt>
    <dgm:pt modelId="{9214EB73-6390-47FB-A62E-C8AD69F0CF7A}" type="pres">
      <dgm:prSet presAssocID="{52E4D165-A9D1-4E99-B982-1EB209A5AD07}" presName="compNode" presStyleCnt="0"/>
      <dgm:spPr/>
    </dgm:pt>
    <dgm:pt modelId="{DE80DE08-DFF4-43C7-860D-17A3DF5B7D60}" type="pres">
      <dgm:prSet presAssocID="{52E4D165-A9D1-4E99-B982-1EB209A5AD07}" presName="iconBgRect" presStyleLbl="bgShp" presStyleIdx="2" presStyleCnt="5"/>
      <dgm:spPr/>
    </dgm:pt>
    <dgm:pt modelId="{2E520C06-ACE1-4BFF-9951-10E484F52D16}" type="pres">
      <dgm:prSet presAssocID="{52E4D165-A9D1-4E99-B982-1EB209A5AD07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"/>
        </a:ext>
      </dgm:extLst>
    </dgm:pt>
    <dgm:pt modelId="{B7A4803D-9D5D-461D-B7A2-950E911C167A}" type="pres">
      <dgm:prSet presAssocID="{52E4D165-A9D1-4E99-B982-1EB209A5AD07}" presName="spaceRect" presStyleCnt="0"/>
      <dgm:spPr/>
    </dgm:pt>
    <dgm:pt modelId="{3412B746-DA75-4851-BBF0-50BA0A30951D}" type="pres">
      <dgm:prSet presAssocID="{52E4D165-A9D1-4E99-B982-1EB209A5AD07}" presName="textRect" presStyleLbl="revTx" presStyleIdx="2" presStyleCnt="5">
        <dgm:presLayoutVars>
          <dgm:chMax val="1"/>
          <dgm:chPref val="1"/>
        </dgm:presLayoutVars>
      </dgm:prSet>
      <dgm:spPr/>
    </dgm:pt>
    <dgm:pt modelId="{FE9B1162-A92F-4832-BAFB-68C71FB8DCB9}" type="pres">
      <dgm:prSet presAssocID="{3D0F40C0-19E0-4AEB-BA83-14E955FC08B8}" presName="sibTrans" presStyleLbl="sibTrans2D1" presStyleIdx="0" presStyleCnt="0"/>
      <dgm:spPr/>
    </dgm:pt>
    <dgm:pt modelId="{A1D9E53F-9DDC-4661-B427-BAE2709C4907}" type="pres">
      <dgm:prSet presAssocID="{9345DA41-CB95-4174-B455-FF653C7EAD10}" presName="compNode" presStyleCnt="0"/>
      <dgm:spPr/>
    </dgm:pt>
    <dgm:pt modelId="{51C96C13-4036-4E05-8903-62F235561CF1}" type="pres">
      <dgm:prSet presAssocID="{9345DA41-CB95-4174-B455-FF653C7EAD10}" presName="iconBgRect" presStyleLbl="bgShp" presStyleIdx="3" presStyleCnt="5"/>
      <dgm:spPr/>
    </dgm:pt>
    <dgm:pt modelId="{6D2DDB02-14A9-4F10-B2FC-E2F0F36A32A1}" type="pres">
      <dgm:prSet presAssocID="{9345DA41-CB95-4174-B455-FF653C7EAD10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4DB0E0D-C2EA-4E48-9F93-16B9B1CEBB39}" type="pres">
      <dgm:prSet presAssocID="{9345DA41-CB95-4174-B455-FF653C7EAD10}" presName="spaceRect" presStyleCnt="0"/>
      <dgm:spPr/>
    </dgm:pt>
    <dgm:pt modelId="{C4FF0930-E477-4CBC-828F-07AB8FB66550}" type="pres">
      <dgm:prSet presAssocID="{9345DA41-CB95-4174-B455-FF653C7EAD10}" presName="textRect" presStyleLbl="revTx" presStyleIdx="3" presStyleCnt="5">
        <dgm:presLayoutVars>
          <dgm:chMax val="1"/>
          <dgm:chPref val="1"/>
        </dgm:presLayoutVars>
      </dgm:prSet>
      <dgm:spPr/>
    </dgm:pt>
    <dgm:pt modelId="{2D889D57-B4CD-4014-80A7-1585E328198F}" type="pres">
      <dgm:prSet presAssocID="{969EDF41-3408-4662-95BF-B8DE9864A125}" presName="sibTrans" presStyleLbl="sibTrans2D1" presStyleIdx="0" presStyleCnt="0"/>
      <dgm:spPr/>
    </dgm:pt>
    <dgm:pt modelId="{8D7746E2-0096-4E30-8321-316C97336CC4}" type="pres">
      <dgm:prSet presAssocID="{87FC9AB7-FAF0-47F5-A445-67D42DA18E0E}" presName="compNode" presStyleCnt="0"/>
      <dgm:spPr/>
    </dgm:pt>
    <dgm:pt modelId="{E0D21F78-E88B-4990-9CD0-37A4435542AA}" type="pres">
      <dgm:prSet presAssocID="{87FC9AB7-FAF0-47F5-A445-67D42DA18E0E}" presName="iconBgRect" presStyleLbl="bgShp" presStyleIdx="4" presStyleCnt="5"/>
      <dgm:spPr/>
    </dgm:pt>
    <dgm:pt modelId="{2C731223-30E0-426B-89F8-5241DD146261}" type="pres">
      <dgm:prSet presAssocID="{87FC9AB7-FAF0-47F5-A445-67D42DA18E0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BE885F4-4E43-4451-86F4-E792A2CB5854}" type="pres">
      <dgm:prSet presAssocID="{87FC9AB7-FAF0-47F5-A445-67D42DA18E0E}" presName="spaceRect" presStyleCnt="0"/>
      <dgm:spPr/>
    </dgm:pt>
    <dgm:pt modelId="{401A89AE-2CFE-4355-A835-F8D7CF9558B4}" type="pres">
      <dgm:prSet presAssocID="{87FC9AB7-FAF0-47F5-A445-67D42DA18E0E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5B810605-941C-4501-B4A2-098464EF8887}" srcId="{86AFEADB-F02F-4140-BEB8-81CA41EE146F}" destId="{CEB50335-E771-427F-A8CB-10E946C4FDAF}" srcOrd="1" destOrd="0" parTransId="{D7DFEB16-6B29-4115-84BF-4B1218CCF224}" sibTransId="{ACA44B13-3D38-477A-AAC3-2AD29618F294}"/>
    <dgm:cxn modelId="{E5F3071D-A281-4502-AB54-C7910198B022}" srcId="{86AFEADB-F02F-4140-BEB8-81CA41EE146F}" destId="{87FC9AB7-FAF0-47F5-A445-67D42DA18E0E}" srcOrd="4" destOrd="0" parTransId="{68A9B875-C3F8-4463-9CC1-247F423E4F9A}" sibTransId="{A6F0A953-D787-43DB-9E96-620A9EA062A7}"/>
    <dgm:cxn modelId="{4EDCDA2E-80B9-5542-BA85-095503528D1F}" type="presOf" srcId="{82670B38-348D-4DAC-B70B-5C1D7BD75A8A}" destId="{48EFB5F0-CC46-46AA-9E46-D8F54DDD0AA0}" srcOrd="0" destOrd="0" presId="urn:microsoft.com/office/officeart/2018/2/layout/IconCircleList"/>
    <dgm:cxn modelId="{7666CB62-502A-4640-8E8F-8B62F9B31ED9}" type="presOf" srcId="{9345DA41-CB95-4174-B455-FF653C7EAD10}" destId="{C4FF0930-E477-4CBC-828F-07AB8FB66550}" srcOrd="0" destOrd="0" presId="urn:microsoft.com/office/officeart/2018/2/layout/IconCircleList"/>
    <dgm:cxn modelId="{B248E169-926A-8545-AB29-F1E208BF82BE}" type="presOf" srcId="{969EDF41-3408-4662-95BF-B8DE9864A125}" destId="{2D889D57-B4CD-4014-80A7-1585E328198F}" srcOrd="0" destOrd="0" presId="urn:microsoft.com/office/officeart/2018/2/layout/IconCircleList"/>
    <dgm:cxn modelId="{04163E8F-F68C-254A-9F34-82128810A4E2}" type="presOf" srcId="{CEB50335-E771-427F-A8CB-10E946C4FDAF}" destId="{AB028327-A48B-422A-B827-E5CF434D6441}" srcOrd="0" destOrd="0" presId="urn:microsoft.com/office/officeart/2018/2/layout/IconCircleList"/>
    <dgm:cxn modelId="{77C90396-224E-D14E-B9A6-7FDEC71EB29C}" type="presOf" srcId="{86AFEADB-F02F-4140-BEB8-81CA41EE146F}" destId="{8EE464AB-D5E5-480A-B72F-59E3ADF9638D}" srcOrd="0" destOrd="0" presId="urn:microsoft.com/office/officeart/2018/2/layout/IconCircleList"/>
    <dgm:cxn modelId="{1629A29F-0118-4238-8BED-28D0592B527A}" srcId="{86AFEADB-F02F-4140-BEB8-81CA41EE146F}" destId="{9345DA41-CB95-4174-B455-FF653C7EAD10}" srcOrd="3" destOrd="0" parTransId="{78DBAC57-9DB9-4DC7-8499-36A52605B245}" sibTransId="{969EDF41-3408-4662-95BF-B8DE9864A125}"/>
    <dgm:cxn modelId="{E4AB68AC-829B-F043-B2A9-A8D4EF56F08E}" type="presOf" srcId="{52E4D165-A9D1-4E99-B982-1EB209A5AD07}" destId="{3412B746-DA75-4851-BBF0-50BA0A30951D}" srcOrd="0" destOrd="0" presId="urn:microsoft.com/office/officeart/2018/2/layout/IconCircleList"/>
    <dgm:cxn modelId="{9319EAB0-8D4D-C64E-B111-0D799B848B53}" type="presOf" srcId="{ACA44B13-3D38-477A-AAC3-2AD29618F294}" destId="{67439CEB-46F2-4FF3-83CD-11D2D3CCE3A5}" srcOrd="0" destOrd="0" presId="urn:microsoft.com/office/officeart/2018/2/layout/IconCircleList"/>
    <dgm:cxn modelId="{9E4CFDC2-C04E-4EF0-8107-0129DF3E7905}" srcId="{86AFEADB-F02F-4140-BEB8-81CA41EE146F}" destId="{C70AA6F5-D152-418B-81E8-0DB75BB48AC8}" srcOrd="0" destOrd="0" parTransId="{17A8A8C1-7DDE-45C2-B068-2DA51ED0AA7F}" sibTransId="{82670B38-348D-4DAC-B70B-5C1D7BD75A8A}"/>
    <dgm:cxn modelId="{FC5678C8-972C-C145-AF6C-CD3288D9BBB9}" type="presOf" srcId="{C70AA6F5-D152-418B-81E8-0DB75BB48AC8}" destId="{25897639-2B8D-496B-BC76-4527C8147D6B}" srcOrd="0" destOrd="0" presId="urn:microsoft.com/office/officeart/2018/2/layout/IconCircleList"/>
    <dgm:cxn modelId="{F1DBB4DF-7247-3F42-89B7-18AD8F793A14}" type="presOf" srcId="{3D0F40C0-19E0-4AEB-BA83-14E955FC08B8}" destId="{FE9B1162-A92F-4832-BAFB-68C71FB8DCB9}" srcOrd="0" destOrd="0" presId="urn:microsoft.com/office/officeart/2018/2/layout/IconCircleList"/>
    <dgm:cxn modelId="{0A35C3DF-0372-5F43-8498-8034C756CA9B}" type="presOf" srcId="{87FC9AB7-FAF0-47F5-A445-67D42DA18E0E}" destId="{401A89AE-2CFE-4355-A835-F8D7CF9558B4}" srcOrd="0" destOrd="0" presId="urn:microsoft.com/office/officeart/2018/2/layout/IconCircleList"/>
    <dgm:cxn modelId="{0F595EED-5157-4810-99CF-AC00F84D2ABB}" srcId="{86AFEADB-F02F-4140-BEB8-81CA41EE146F}" destId="{52E4D165-A9D1-4E99-B982-1EB209A5AD07}" srcOrd="2" destOrd="0" parTransId="{4215C8CA-C032-47BE-B0C9-B08F0D20A9FE}" sibTransId="{3D0F40C0-19E0-4AEB-BA83-14E955FC08B8}"/>
    <dgm:cxn modelId="{445214E6-87A5-B644-B75E-9C04C905FF11}" type="presParOf" srcId="{8EE464AB-D5E5-480A-B72F-59E3ADF9638D}" destId="{947C839A-0C16-4DCF-8A65-74A8A75F12BF}" srcOrd="0" destOrd="0" presId="urn:microsoft.com/office/officeart/2018/2/layout/IconCircleList"/>
    <dgm:cxn modelId="{D6C1C76A-B46D-8141-9557-841257720427}" type="presParOf" srcId="{947C839A-0C16-4DCF-8A65-74A8A75F12BF}" destId="{F4D9189C-0162-4666-8A58-B17049DA1F73}" srcOrd="0" destOrd="0" presId="urn:microsoft.com/office/officeart/2018/2/layout/IconCircleList"/>
    <dgm:cxn modelId="{AB0DA900-2036-F944-8D6A-CE304AF18982}" type="presParOf" srcId="{F4D9189C-0162-4666-8A58-B17049DA1F73}" destId="{A5DDD32C-5AE0-4146-B01C-D992BF7DA960}" srcOrd="0" destOrd="0" presId="urn:microsoft.com/office/officeart/2018/2/layout/IconCircleList"/>
    <dgm:cxn modelId="{DD4947B6-AB7E-F14C-AAD5-43C3AB6BA510}" type="presParOf" srcId="{F4D9189C-0162-4666-8A58-B17049DA1F73}" destId="{778F54F3-7724-455A-B37A-3AC94BCEBB6A}" srcOrd="1" destOrd="0" presId="urn:microsoft.com/office/officeart/2018/2/layout/IconCircleList"/>
    <dgm:cxn modelId="{DF14D6AE-E76B-7D44-B609-EF9F68289751}" type="presParOf" srcId="{F4D9189C-0162-4666-8A58-B17049DA1F73}" destId="{53D3E4EA-E1EB-46D8-99F1-7F9831113591}" srcOrd="2" destOrd="0" presId="urn:microsoft.com/office/officeart/2018/2/layout/IconCircleList"/>
    <dgm:cxn modelId="{213A572B-730E-0A4A-B49D-2F41DBA3DEF4}" type="presParOf" srcId="{F4D9189C-0162-4666-8A58-B17049DA1F73}" destId="{25897639-2B8D-496B-BC76-4527C8147D6B}" srcOrd="3" destOrd="0" presId="urn:microsoft.com/office/officeart/2018/2/layout/IconCircleList"/>
    <dgm:cxn modelId="{D85361CE-AC95-EB49-8A13-3EC7683F3CDB}" type="presParOf" srcId="{947C839A-0C16-4DCF-8A65-74A8A75F12BF}" destId="{48EFB5F0-CC46-46AA-9E46-D8F54DDD0AA0}" srcOrd="1" destOrd="0" presId="urn:microsoft.com/office/officeart/2018/2/layout/IconCircleList"/>
    <dgm:cxn modelId="{C41FE5FF-714A-3C44-AE04-599738D918CA}" type="presParOf" srcId="{947C839A-0C16-4DCF-8A65-74A8A75F12BF}" destId="{B6B0FBC2-293D-4F29-9073-29060998131B}" srcOrd="2" destOrd="0" presId="urn:microsoft.com/office/officeart/2018/2/layout/IconCircleList"/>
    <dgm:cxn modelId="{81A79933-964D-F54A-9AA1-26F2D7BF70CE}" type="presParOf" srcId="{B6B0FBC2-293D-4F29-9073-29060998131B}" destId="{85CFB10B-474B-4AE7-B948-BB8243D584FF}" srcOrd="0" destOrd="0" presId="urn:microsoft.com/office/officeart/2018/2/layout/IconCircleList"/>
    <dgm:cxn modelId="{4609DDFE-E357-6C4B-AC97-11EA2E03A81A}" type="presParOf" srcId="{B6B0FBC2-293D-4F29-9073-29060998131B}" destId="{1D03D9BB-A046-4CD8-A8B1-39B5D87A079F}" srcOrd="1" destOrd="0" presId="urn:microsoft.com/office/officeart/2018/2/layout/IconCircleList"/>
    <dgm:cxn modelId="{311E0F37-8276-3C41-96AC-65A0DE380D07}" type="presParOf" srcId="{B6B0FBC2-293D-4F29-9073-29060998131B}" destId="{84357F5D-19A3-4F07-B850-F2B392CAD2A1}" srcOrd="2" destOrd="0" presId="urn:microsoft.com/office/officeart/2018/2/layout/IconCircleList"/>
    <dgm:cxn modelId="{185A07ED-4632-1041-AC19-6FDC68E88153}" type="presParOf" srcId="{B6B0FBC2-293D-4F29-9073-29060998131B}" destId="{AB028327-A48B-422A-B827-E5CF434D6441}" srcOrd="3" destOrd="0" presId="urn:microsoft.com/office/officeart/2018/2/layout/IconCircleList"/>
    <dgm:cxn modelId="{57CB4402-F139-9142-984E-6826EEDC31CA}" type="presParOf" srcId="{947C839A-0C16-4DCF-8A65-74A8A75F12BF}" destId="{67439CEB-46F2-4FF3-83CD-11D2D3CCE3A5}" srcOrd="3" destOrd="0" presId="urn:microsoft.com/office/officeart/2018/2/layout/IconCircleList"/>
    <dgm:cxn modelId="{31E5AE6D-8E60-B34A-93FA-0C56EA413A5A}" type="presParOf" srcId="{947C839A-0C16-4DCF-8A65-74A8A75F12BF}" destId="{9214EB73-6390-47FB-A62E-C8AD69F0CF7A}" srcOrd="4" destOrd="0" presId="urn:microsoft.com/office/officeart/2018/2/layout/IconCircleList"/>
    <dgm:cxn modelId="{5F90064E-1196-4B49-97E9-A8F2EC090C51}" type="presParOf" srcId="{9214EB73-6390-47FB-A62E-C8AD69F0CF7A}" destId="{DE80DE08-DFF4-43C7-860D-17A3DF5B7D60}" srcOrd="0" destOrd="0" presId="urn:microsoft.com/office/officeart/2018/2/layout/IconCircleList"/>
    <dgm:cxn modelId="{69025A9A-2072-CC4C-B2AF-B1C39E098FC5}" type="presParOf" srcId="{9214EB73-6390-47FB-A62E-C8AD69F0CF7A}" destId="{2E520C06-ACE1-4BFF-9951-10E484F52D16}" srcOrd="1" destOrd="0" presId="urn:microsoft.com/office/officeart/2018/2/layout/IconCircleList"/>
    <dgm:cxn modelId="{3CC40FB5-3EBA-A445-9B2E-A66889A6D78D}" type="presParOf" srcId="{9214EB73-6390-47FB-A62E-C8AD69F0CF7A}" destId="{B7A4803D-9D5D-461D-B7A2-950E911C167A}" srcOrd="2" destOrd="0" presId="urn:microsoft.com/office/officeart/2018/2/layout/IconCircleList"/>
    <dgm:cxn modelId="{AF8CF0D3-F76C-E948-95D7-064F5CDA88C6}" type="presParOf" srcId="{9214EB73-6390-47FB-A62E-C8AD69F0CF7A}" destId="{3412B746-DA75-4851-BBF0-50BA0A30951D}" srcOrd="3" destOrd="0" presId="urn:microsoft.com/office/officeart/2018/2/layout/IconCircleList"/>
    <dgm:cxn modelId="{AB13DA87-7229-BB49-9B42-5FA3874CD875}" type="presParOf" srcId="{947C839A-0C16-4DCF-8A65-74A8A75F12BF}" destId="{FE9B1162-A92F-4832-BAFB-68C71FB8DCB9}" srcOrd="5" destOrd="0" presId="urn:microsoft.com/office/officeart/2018/2/layout/IconCircleList"/>
    <dgm:cxn modelId="{87C07474-1DC0-424D-B0A1-0B219DE8181A}" type="presParOf" srcId="{947C839A-0C16-4DCF-8A65-74A8A75F12BF}" destId="{A1D9E53F-9DDC-4661-B427-BAE2709C4907}" srcOrd="6" destOrd="0" presId="urn:microsoft.com/office/officeart/2018/2/layout/IconCircleList"/>
    <dgm:cxn modelId="{4027297E-C3BF-194A-BBBF-A68E8E701C05}" type="presParOf" srcId="{A1D9E53F-9DDC-4661-B427-BAE2709C4907}" destId="{51C96C13-4036-4E05-8903-62F235561CF1}" srcOrd="0" destOrd="0" presId="urn:microsoft.com/office/officeart/2018/2/layout/IconCircleList"/>
    <dgm:cxn modelId="{420AADA9-D691-DB41-92C7-65F6F7ADE45B}" type="presParOf" srcId="{A1D9E53F-9DDC-4661-B427-BAE2709C4907}" destId="{6D2DDB02-14A9-4F10-B2FC-E2F0F36A32A1}" srcOrd="1" destOrd="0" presId="urn:microsoft.com/office/officeart/2018/2/layout/IconCircleList"/>
    <dgm:cxn modelId="{5A05C211-E9D4-5E4E-9D0B-E174D6741F32}" type="presParOf" srcId="{A1D9E53F-9DDC-4661-B427-BAE2709C4907}" destId="{84DB0E0D-C2EA-4E48-9F93-16B9B1CEBB39}" srcOrd="2" destOrd="0" presId="urn:microsoft.com/office/officeart/2018/2/layout/IconCircleList"/>
    <dgm:cxn modelId="{553C701C-2899-D14F-8A55-D8AAA564B676}" type="presParOf" srcId="{A1D9E53F-9DDC-4661-B427-BAE2709C4907}" destId="{C4FF0930-E477-4CBC-828F-07AB8FB66550}" srcOrd="3" destOrd="0" presId="urn:microsoft.com/office/officeart/2018/2/layout/IconCircleList"/>
    <dgm:cxn modelId="{0D196875-900D-6647-A98B-330EE58DC8CB}" type="presParOf" srcId="{947C839A-0C16-4DCF-8A65-74A8A75F12BF}" destId="{2D889D57-B4CD-4014-80A7-1585E328198F}" srcOrd="7" destOrd="0" presId="urn:microsoft.com/office/officeart/2018/2/layout/IconCircleList"/>
    <dgm:cxn modelId="{202079BD-57BA-1D4F-977B-3986B08A79FE}" type="presParOf" srcId="{947C839A-0C16-4DCF-8A65-74A8A75F12BF}" destId="{8D7746E2-0096-4E30-8321-316C97336CC4}" srcOrd="8" destOrd="0" presId="urn:microsoft.com/office/officeart/2018/2/layout/IconCircleList"/>
    <dgm:cxn modelId="{E58BE337-8914-144D-8634-2E22B0E89AB8}" type="presParOf" srcId="{8D7746E2-0096-4E30-8321-316C97336CC4}" destId="{E0D21F78-E88B-4990-9CD0-37A4435542AA}" srcOrd="0" destOrd="0" presId="urn:microsoft.com/office/officeart/2018/2/layout/IconCircleList"/>
    <dgm:cxn modelId="{2E7F5F6C-7A75-F340-9458-381558A49639}" type="presParOf" srcId="{8D7746E2-0096-4E30-8321-316C97336CC4}" destId="{2C731223-30E0-426B-89F8-5241DD146261}" srcOrd="1" destOrd="0" presId="urn:microsoft.com/office/officeart/2018/2/layout/IconCircleList"/>
    <dgm:cxn modelId="{3A0F893D-625C-4D42-820F-88C4B4E669CF}" type="presParOf" srcId="{8D7746E2-0096-4E30-8321-316C97336CC4}" destId="{2BE885F4-4E43-4451-86F4-E792A2CB5854}" srcOrd="2" destOrd="0" presId="urn:microsoft.com/office/officeart/2018/2/layout/IconCircleList"/>
    <dgm:cxn modelId="{12D008FD-704A-5849-AD23-260DF436F409}" type="presParOf" srcId="{8D7746E2-0096-4E30-8321-316C97336CC4}" destId="{401A89AE-2CFE-4355-A835-F8D7CF9558B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DDD32C-5AE0-4146-B01C-D992BF7DA960}">
      <dsp:nvSpPr>
        <dsp:cNvPr id="0" name=""/>
        <dsp:cNvSpPr/>
      </dsp:nvSpPr>
      <dsp:spPr>
        <a:xfrm>
          <a:off x="199445" y="897699"/>
          <a:ext cx="910962" cy="9109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F54F3-7724-455A-B37A-3AC94BCEBB6A}">
      <dsp:nvSpPr>
        <dsp:cNvPr id="0" name=""/>
        <dsp:cNvSpPr/>
      </dsp:nvSpPr>
      <dsp:spPr>
        <a:xfrm>
          <a:off x="390747" y="1089001"/>
          <a:ext cx="528358" cy="5283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897639-2B8D-496B-BC76-4527C8147D6B}">
      <dsp:nvSpPr>
        <dsp:cNvPr id="0" name=""/>
        <dsp:cNvSpPr/>
      </dsp:nvSpPr>
      <dsp:spPr>
        <a:xfrm>
          <a:off x="1305613" y="897699"/>
          <a:ext cx="2147267" cy="91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Single-responsiblity principle</a:t>
          </a:r>
        </a:p>
      </dsp:txBody>
      <dsp:txXfrm>
        <a:off x="1305613" y="897699"/>
        <a:ext cx="2147267" cy="910962"/>
      </dsp:txXfrm>
    </dsp:sp>
    <dsp:sp modelId="{85CFB10B-474B-4AE7-B948-BB8243D584FF}">
      <dsp:nvSpPr>
        <dsp:cNvPr id="0" name=""/>
        <dsp:cNvSpPr/>
      </dsp:nvSpPr>
      <dsp:spPr>
        <a:xfrm>
          <a:off x="3827026" y="897699"/>
          <a:ext cx="910962" cy="9109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D03D9BB-A046-4CD8-A8B1-39B5D87A079F}">
      <dsp:nvSpPr>
        <dsp:cNvPr id="0" name=""/>
        <dsp:cNvSpPr/>
      </dsp:nvSpPr>
      <dsp:spPr>
        <a:xfrm>
          <a:off x="4018328" y="1089001"/>
          <a:ext cx="528358" cy="5283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028327-A48B-422A-B827-E5CF434D6441}">
      <dsp:nvSpPr>
        <dsp:cNvPr id="0" name=""/>
        <dsp:cNvSpPr/>
      </dsp:nvSpPr>
      <dsp:spPr>
        <a:xfrm>
          <a:off x="4933195" y="897699"/>
          <a:ext cx="2147267" cy="91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Open-closed principle</a:t>
          </a:r>
        </a:p>
      </dsp:txBody>
      <dsp:txXfrm>
        <a:off x="4933195" y="897699"/>
        <a:ext cx="2147267" cy="910962"/>
      </dsp:txXfrm>
    </dsp:sp>
    <dsp:sp modelId="{DE80DE08-DFF4-43C7-860D-17A3DF5B7D60}">
      <dsp:nvSpPr>
        <dsp:cNvPr id="0" name=""/>
        <dsp:cNvSpPr/>
      </dsp:nvSpPr>
      <dsp:spPr>
        <a:xfrm>
          <a:off x="7454608" y="897699"/>
          <a:ext cx="910962" cy="9109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E520C06-ACE1-4BFF-9951-10E484F52D16}">
      <dsp:nvSpPr>
        <dsp:cNvPr id="0" name=""/>
        <dsp:cNvSpPr/>
      </dsp:nvSpPr>
      <dsp:spPr>
        <a:xfrm>
          <a:off x="7645910" y="1089001"/>
          <a:ext cx="528358" cy="5283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12B746-DA75-4851-BBF0-50BA0A30951D}">
      <dsp:nvSpPr>
        <dsp:cNvPr id="0" name=""/>
        <dsp:cNvSpPr/>
      </dsp:nvSpPr>
      <dsp:spPr>
        <a:xfrm>
          <a:off x="8560776" y="897699"/>
          <a:ext cx="2147267" cy="91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Liskov substitution principle</a:t>
          </a:r>
        </a:p>
      </dsp:txBody>
      <dsp:txXfrm>
        <a:off x="8560776" y="897699"/>
        <a:ext cx="2147267" cy="910962"/>
      </dsp:txXfrm>
    </dsp:sp>
    <dsp:sp modelId="{51C96C13-4036-4E05-8903-62F235561CF1}">
      <dsp:nvSpPr>
        <dsp:cNvPr id="0" name=""/>
        <dsp:cNvSpPr/>
      </dsp:nvSpPr>
      <dsp:spPr>
        <a:xfrm>
          <a:off x="199445" y="2549559"/>
          <a:ext cx="910962" cy="9109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2DDB02-14A9-4F10-B2FC-E2F0F36A32A1}">
      <dsp:nvSpPr>
        <dsp:cNvPr id="0" name=""/>
        <dsp:cNvSpPr/>
      </dsp:nvSpPr>
      <dsp:spPr>
        <a:xfrm>
          <a:off x="390747" y="2740861"/>
          <a:ext cx="528358" cy="52835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FF0930-E477-4CBC-828F-07AB8FB66550}">
      <dsp:nvSpPr>
        <dsp:cNvPr id="0" name=""/>
        <dsp:cNvSpPr/>
      </dsp:nvSpPr>
      <dsp:spPr>
        <a:xfrm>
          <a:off x="1305613" y="2549559"/>
          <a:ext cx="2147267" cy="91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Interface segregation principle</a:t>
          </a:r>
        </a:p>
      </dsp:txBody>
      <dsp:txXfrm>
        <a:off x="1305613" y="2549559"/>
        <a:ext cx="2147267" cy="910962"/>
      </dsp:txXfrm>
    </dsp:sp>
    <dsp:sp modelId="{E0D21F78-E88B-4990-9CD0-37A4435542AA}">
      <dsp:nvSpPr>
        <dsp:cNvPr id="0" name=""/>
        <dsp:cNvSpPr/>
      </dsp:nvSpPr>
      <dsp:spPr>
        <a:xfrm>
          <a:off x="3827026" y="2549559"/>
          <a:ext cx="910962" cy="91096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731223-30E0-426B-89F8-5241DD146261}">
      <dsp:nvSpPr>
        <dsp:cNvPr id="0" name=""/>
        <dsp:cNvSpPr/>
      </dsp:nvSpPr>
      <dsp:spPr>
        <a:xfrm>
          <a:off x="4018328" y="2740861"/>
          <a:ext cx="528358" cy="52835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1A89AE-2CFE-4355-A835-F8D7CF9558B4}">
      <dsp:nvSpPr>
        <dsp:cNvPr id="0" name=""/>
        <dsp:cNvSpPr/>
      </dsp:nvSpPr>
      <dsp:spPr>
        <a:xfrm>
          <a:off x="4933195" y="2549559"/>
          <a:ext cx="2147267" cy="9109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Dependency Inversion Principle</a:t>
          </a:r>
        </a:p>
      </dsp:txBody>
      <dsp:txXfrm>
        <a:off x="4933195" y="2549559"/>
        <a:ext cx="2147267" cy="91096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82BD60-F049-F145-A810-5E951492D6C8}" type="datetimeFigureOut">
              <a:rPr lang="en-US" smtClean="0"/>
              <a:t>5/9/20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F30B25-4879-5745-82D6-780EF1AD9B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605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obert_Cecil_Martin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S.O.L.I.D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an acronym for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first five object-oriented design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OOD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)** principles** by Robert C. Martin, popularly known as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Uncle Bob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 principles, when combined together, make it easy for a programmer to develop software that are easy to maintain and extend. They also make it easy for developers to avoid code smells, easily refactor code, and are also a part of the agile or adaptive software development.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1892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say we have some shapes and we wanted to sum all the areas of the shapes.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and then write up our logic to sum up the areas of all provided shapes.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Problems</a:t>
            </a:r>
            <a:endParaRPr lang="en-US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handles the logic to output the data. Therefore, what if the user wanted to output the data as json or something else?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</a:t>
            </a:r>
          </a:p>
          <a:p>
            <a:pPr lvl="1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should only sum the areas of provided shapes, it should not care whether the user wants json or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190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 example, say we have some shapes and we wanted to sum all the areas of the shapes.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and then write up our logic to sum up the areas of all provided shapes.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Problems</a:t>
            </a:r>
            <a:endParaRPr lang="en-US" dirty="0"/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handles the logic to output the data. Therefore, what if the user wanted to output the data as json or something else?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</a:t>
            </a:r>
          </a:p>
          <a:p>
            <a:pPr lvl="1"/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should only sum the areas of provided shapes, it should not care whether the user wants json or 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2727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simply means that a class should be easily extendable without modifying the class itself.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take a look at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class, especially it's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method.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Problem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wanted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to be able to sum the areas of more shapes, we would have to add more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if/else blocks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that goes against the Open-closed principle.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way we can make 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better is to remove the logic to calculate the area of each shape out of the sum method and attach it to the shape's class.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Problem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another problem arises, how do we know that the object passed into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actually a shape or if the shape has a method named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9844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simply means that a class should be easily extendable without modifying the class itself.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Let's take a look at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class, especially it's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method.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Problem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we wanted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to be able to sum the areas of more shapes, we would have to add more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if/else blocks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that goes against the Open-closed principle.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way we can make this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 better is to remove the logic to calculate the area of each shape out of the sum method and attach it to the shape's class.</a:t>
            </a:r>
          </a:p>
          <a:p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New Problem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another problem arises, how do we know that the object passed into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AreaCalculator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actually a shape or if the shape has a method named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947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Means that every subclass/derived class should be substitutable for their base/parent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38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 another contract to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Shape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interface (add volume method in it).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Problem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Any shape now must implement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method, but we know that squares are flat shapes and that they do not have volumes, so this interface would force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Square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to implement a 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method that it has no use of.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Solution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 another interface called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SolidShape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Interface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that has the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volume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contract and solid shapes like cubes etc. can implement this interface: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636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Later if you were to change the database engine, you would also have to edit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PasswordReminder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class and thus violates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Open-close principle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F30B25-4879-5745-82D6-780EF1AD9B9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33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9E71A-9FF8-A440-B103-E55B01837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3D94B0-91CE-A54D-9C64-789B1B7FF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580232-F3FC-A546-A390-46E7260A1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799D79-0034-1148-A8A3-BF4915BB879E}" type="datetime1">
              <a:rPr lang="en-US" smtClean="0"/>
              <a:t>5/9/20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4A346-ECEF-2446-BA05-3FE300447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4B51A-9E7B-F74A-AA30-D5A18702F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316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644C4-649D-E344-AA3D-AF6960688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63C14-4CC3-454D-8373-0A3687633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8D800-25E6-A04E-B385-A2C5DF77D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4FBED9-4DF8-004A-A1CF-21E9D2E56607}" type="datetime1">
              <a:rPr lang="en-US" smtClean="0"/>
              <a:t>5/9/20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84B5C-BB2D-744F-9D5E-B1CF60DB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9D5E7-7E63-E54B-AAF8-B3FFB7718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188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6BE10-FF55-D54A-9F8F-B203B4AF3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2F2789-7216-C744-8576-5B05D1D6C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1AB18E-D5AF-8341-B6DC-1643DFB2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CD5BD-0BE4-1742-B225-836E841F3749}" type="datetime1">
              <a:rPr lang="en-US" smtClean="0"/>
              <a:t>5/9/20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EC7499-5C24-AD41-BD69-56A6FD7E3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279F8-986B-F345-BD46-FD222C16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758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EC520-9791-EB45-BE77-B7632B9BD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8BA30-03A1-4146-994C-9B5487EDA5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445095-7C71-514F-B461-6214031D6F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C981B1-5E50-7043-B670-2D87D491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81B4B-A970-554C-8812-D4264BDAB0F5}" type="datetime1">
              <a:rPr lang="en-US" smtClean="0"/>
              <a:t>5/9/20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998228-F3D7-9C4D-B8E7-37D29505E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AE4C35-0602-AB4B-9224-C39636EF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454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D5D35-6C3E-B444-9C72-5A7DF773D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99A2E-9D0E-5B46-AD05-37D068699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B5AF2D-37DA-4F4D-B92C-8D3FF9E887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AEE8A3-C70E-774F-9CC6-5CF82AEE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C3E53E-4EC4-754B-BB55-46742B21D8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E44A45-63CA-5A46-B77B-E0E5080BA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98C526-350F-9046-B72E-98EC3846226B}" type="datetime1">
              <a:rPr lang="en-US" smtClean="0"/>
              <a:t>5/9/20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BAC1DE-A297-EA47-8D5F-BEE20205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55EE9E-8506-4B4C-9EBB-FBF3A4F99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871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7F1DD-B912-FA42-8A01-397750672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B16B56-3044-A248-9AF5-55025C4F6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D0980-DB40-3C47-B84E-5EE3B51AAA8B}" type="datetime1">
              <a:rPr lang="en-US" smtClean="0"/>
              <a:t>5/9/20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9CC59-E9D7-904C-B1BB-C2BEEB58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2BE9CB-3167-8B4F-B04B-85A2A41D8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11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505D3-C1D0-C34A-8844-471E5A427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51E4F3-1CA1-4F40-B2A7-6221AAE5F549}" type="datetime1">
              <a:rPr lang="en-US" smtClean="0"/>
              <a:t>5/9/20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8F1615-4456-7C4E-A696-444F3DF3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EFB812-E8AA-CA48-A0A4-8C0067815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981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2868-6E3C-E845-A92D-8894F955F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333114-0111-A34C-923A-00F731A9C2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59AF94-AE65-CA41-88BA-099E28E53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83075-3E23-0C44-AAAB-98406C4DC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B8742-2CB8-1A45-B379-02DF0FE4164E}" type="datetime1">
              <a:rPr lang="en-US" smtClean="0"/>
              <a:t>5/9/20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71E0C4-D2C6-F44B-8FD8-4EF851ED5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D1E161-FFA1-4B43-8AE7-3EF3A2424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799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B244-B4B7-9242-A526-C73FB5205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82C36D-E77D-DC4F-9443-65A98580E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4086FD-1D21-9B48-850A-18999E9DBD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0A68D-680B-104A-B3B7-22CF35C1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FF37C-764B-874D-857A-3FE9DB0FB269}" type="datetime1">
              <a:rPr lang="en-US" smtClean="0"/>
              <a:t>5/9/20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AA5312-9DBB-5F46-847D-002103D83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219FED-A06E-0C46-A732-B38566835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029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82D5E-517C-6640-9F2B-34EE7CBE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B161FA-3FC7-3548-9C5A-8701CC0EEF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E0C1F-6516-3E41-A7FE-D40FC0FC4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4EE41B-92EC-E84C-945D-5FAB61E71CB7}" type="datetime1">
              <a:rPr lang="en-US" smtClean="0"/>
              <a:t>5/9/20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E60D4-D387-2848-A0DA-443AEABF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5FC65C-DF09-4841-AB10-11BD71C91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54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A76F48-D0A0-D147-8D16-FC939C47D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804E6D-5F2B-784F-9F3C-4EF5005A36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A58D9-A05D-764D-B83A-A472BFBCA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39EE2-AC47-B54F-812A-EBFFD36AD093}" type="datetime1">
              <a:rPr lang="en-US" smtClean="0"/>
              <a:t>5/9/20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004E40-8DE2-1C44-9248-429525B63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Rohtash Lakra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8EC6C-045C-E847-BA62-0064EF032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83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6A41D6-CD41-ED4F-BD87-467E1861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DF93E-F1E8-4E44-B97B-BED841A62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A3595-2892-E940-8499-B2F78BB8C7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F8BA9-35EB-8045-BF05-F0D63704A6AF}" type="datetime1">
              <a:rPr lang="en-US" smtClean="0"/>
              <a:t>5/9/20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710B8-BFA2-FF41-8C73-E959AA4C8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Rohtash Lakra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37362-2E6A-E148-ACE7-AE5F8FCD3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CF1876-F82F-4C4B-8B13-415EE3C041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81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Robert_C._Marti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E56AAFE-9BE9-4FA7-A0B3-1748E67F0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11680" y="1097587"/>
            <a:ext cx="1128382" cy="847206"/>
            <a:chOff x="7393391" y="606484"/>
            <a:chExt cx="1128382" cy="847206"/>
          </a:xfrm>
        </p:grpSpPr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858310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606484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71A01B8-8E7E-7A42-AE1E-38FEF536E8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1680" y="1950100"/>
            <a:ext cx="8247888" cy="2407214"/>
          </a:xfrm>
        </p:spPr>
        <p:txBody>
          <a:bodyPr anchor="ctr">
            <a:normAutofit/>
          </a:bodyPr>
          <a:lstStyle/>
          <a:p>
            <a:r>
              <a:rPr lang="en-US" sz="6800" dirty="0"/>
              <a:t>SOLID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E601083-D217-3B4C-914F-6B110F5F59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1680" y="4562856"/>
            <a:ext cx="8229600" cy="1225296"/>
          </a:xfrm>
        </p:spPr>
        <p:txBody>
          <a:bodyPr anchor="t">
            <a:normAutofit/>
          </a:bodyPr>
          <a:lstStyle/>
          <a:p>
            <a:pPr algn="l"/>
            <a:r>
              <a:rPr lang="en-US" b="1" dirty="0"/>
              <a:t>The Principles of Object Oriented Design</a:t>
            </a:r>
          </a:p>
          <a:p>
            <a:pPr algn="l"/>
            <a:r>
              <a:rPr lang="en-US" b="1" dirty="0"/>
              <a:t>(</a:t>
            </a:r>
            <a:r>
              <a:rPr lang="en-US" dirty="0">
                <a:hlinkClick r:id="rId3"/>
              </a:rPr>
              <a:t>https://en.wikipedia.org/wiki/Robert_C._Martin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7BFA5F-B816-2C48-B6B8-9E0A7D69E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984" y="384048"/>
            <a:ext cx="3877056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Rohtash Lakra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4A36FF-6030-1D4A-A9F9-4E2A05CB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768" y="5522976"/>
            <a:ext cx="2185416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35CD0980-DB40-3C47-B84E-5EE3B51AAA8B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4F8F4-FE49-5A45-B31B-C449208C0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1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9750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22F9423-F4B1-45D4-8445-E9991ECCB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0AE191-D2EA-45C9-A44D-830C188F7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72021" y="628863"/>
            <a:ext cx="1128382" cy="847206"/>
            <a:chOff x="8183879" y="1000124"/>
            <a:chExt cx="1562267" cy="1172973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3A0E4C1-B7A6-4637-AC51-4A5AE3841F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83879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F4E8C039-CC58-44F3-8A7B-E0A934C1D0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83979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91AF0-7AB0-1645-AF70-946F125EE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00445" y="6126797"/>
            <a:ext cx="5568991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>
                <a:solidFill>
                  <a:schemeClr val="tx1">
                    <a:alpha val="80000"/>
                  </a:schemeClr>
                </a:solidFill>
              </a:rPr>
              <a:t>Rohtash Lakra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E1B10-EFB7-204A-A850-87F03E553E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6806" y="6126796"/>
            <a:ext cx="1236760" cy="365125"/>
          </a:xfrm>
        </p:spPr>
        <p:txBody>
          <a:bodyPr>
            <a:normAutofit/>
          </a:bodyPr>
          <a:lstStyle/>
          <a:p>
            <a:pPr algn="r">
              <a:spcAft>
                <a:spcPts val="600"/>
              </a:spcAft>
            </a:pPr>
            <a:fld id="{674FBED9-4DF8-004A-A1CF-21E9D2E56607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5FA29-A233-994C-A029-74F592143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2</a:t>
            </a:fld>
            <a:endParaRPr lang="en-US">
              <a:solidFill>
                <a:schemeClr val="bg1"/>
              </a:solidFill>
            </a:endParaRP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8EAB8AE7-D626-4A21-97F1-D3289D5073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1371560"/>
              </p:ext>
            </p:extLst>
          </p:nvPr>
        </p:nvGraphicFramePr>
        <p:xfrm>
          <a:off x="629854" y="1597305"/>
          <a:ext cx="10907490" cy="435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342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9" name="Rectangle 108">
            <a:extLst>
              <a:ext uri="{FF2B5EF4-FFF2-40B4-BE49-F238E27FC236}">
                <a16:creationId xmlns:a16="http://schemas.microsoft.com/office/drawing/2014/main" id="{C4E4288A-DFC8-40A2-90E5-70E851A9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B63C2D82-D4FA-4A37-BB01-1E7B21E4F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5199" y="634058"/>
            <a:ext cx="1128382" cy="847206"/>
            <a:chOff x="5307830" y="325570"/>
            <a:chExt cx="1128382" cy="847206"/>
          </a:xfrm>
        </p:grpSpPr>
        <p:sp>
          <p:nvSpPr>
            <p:cNvPr id="112" name="Freeform 5">
              <a:extLst>
                <a:ext uri="{FF2B5EF4-FFF2-40B4-BE49-F238E27FC236}">
                  <a16:creationId xmlns:a16="http://schemas.microsoft.com/office/drawing/2014/main" id="{C94E7FEF-0CE9-4AC2-94BB-02230C6DC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3" name="Freeform 5">
              <a:extLst>
                <a:ext uri="{FF2B5EF4-FFF2-40B4-BE49-F238E27FC236}">
                  <a16:creationId xmlns:a16="http://schemas.microsoft.com/office/drawing/2014/main" id="{EB546CC0-C1BC-48D2-8DA9-4B6028316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52A4EE9-A410-FE47-BFE4-DBF3D3E2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71190"/>
            <a:ext cx="4787331" cy="1574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dirty="0"/>
              <a:t>Single-responsibility Principle</a:t>
            </a:r>
          </a:p>
        </p:txBody>
      </p:sp>
      <p:sp>
        <p:nvSpPr>
          <p:cNvPr id="115" name="Freeform: Shape 114">
            <a:extLst>
              <a:ext uri="{FF2B5EF4-FFF2-40B4-BE49-F238E27FC236}">
                <a16:creationId xmlns:a16="http://schemas.microsoft.com/office/drawing/2014/main" id="{A9456821-26B9-4181-B181-305FB820D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9641" y="2134209"/>
            <a:ext cx="4840399" cy="4290450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117" name="Freeform: Shape 116">
            <a:extLst>
              <a:ext uri="{FF2B5EF4-FFF2-40B4-BE49-F238E27FC236}">
                <a16:creationId xmlns:a16="http://schemas.microsoft.com/office/drawing/2014/main" id="{0035D6FE-7FA2-4D67-8767-6F7E98AB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0608" y="421767"/>
            <a:ext cx="2847251" cy="2523756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F34B1-B621-6240-9F97-2B4C8D21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2424" y="384048"/>
            <a:ext cx="12367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674FBED9-4DF8-004A-A1CF-21E9D2E56607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35" name="Picture 34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0126E4F-E4DA-B54C-8728-C2CD33081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530" y="274320"/>
            <a:ext cx="5454775" cy="3818338"/>
          </a:xfrm>
          <a:prstGeom prst="rect">
            <a:avLst/>
          </a:prstGeom>
        </p:spPr>
      </p:pic>
      <p:sp useBgFill="1">
        <p:nvSpPr>
          <p:cNvPr id="119" name="Freeform: Shape 118">
            <a:extLst>
              <a:ext uri="{FF2B5EF4-FFF2-40B4-BE49-F238E27FC236}">
                <a16:creationId xmlns:a16="http://schemas.microsoft.com/office/drawing/2014/main" id="{0381C401-8AFE-4396-B195-C21EA1C7F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8854" y="4490695"/>
            <a:ext cx="2071275" cy="1835943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EDDBE-677F-704F-9D40-AD4CC50C6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961" y="3084626"/>
            <a:ext cx="4325874" cy="15733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dirty="0"/>
              <a:t>A class should have one and only one reason to change, meaning that a class should have only one job.</a:t>
            </a:r>
          </a:p>
        </p:txBody>
      </p:sp>
      <p:pic>
        <p:nvPicPr>
          <p:cNvPr id="33" name="Picture 3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EB98C88-9DA0-B543-B55B-0BBF1600A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33" y="3911845"/>
            <a:ext cx="2775918" cy="2304009"/>
          </a:xfrm>
          <a:prstGeom prst="rect">
            <a:avLst/>
          </a:prstGeom>
        </p:spPr>
      </p:pic>
      <p:pic>
        <p:nvPicPr>
          <p:cNvPr id="29" name="Picture 28" descr="A screenshot of a cell phone&#10;&#10;Description automatically generated">
            <a:extLst>
              <a:ext uri="{FF2B5EF4-FFF2-40B4-BE49-F238E27FC236}">
                <a16:creationId xmlns:a16="http://schemas.microsoft.com/office/drawing/2014/main" id="{0CC5FD10-5BCC-764C-BEE8-2AA2D3B0E4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7600" y="4657966"/>
            <a:ext cx="3182529" cy="114571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10201-402E-0644-9E23-B835BB5F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199" y="6126480"/>
            <a:ext cx="395573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Rohtash Lakra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78750-B893-1E45-A03D-01DFDBFB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3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398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8" name="Rectangle 117">
            <a:extLst>
              <a:ext uri="{FF2B5EF4-FFF2-40B4-BE49-F238E27FC236}">
                <a16:creationId xmlns:a16="http://schemas.microsoft.com/office/drawing/2014/main" id="{A29398BB-6F62-472B-88B2-8D942FEBF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646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A3C0D298-47AC-4912-8022-B969E5732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6430" y="626107"/>
            <a:ext cx="1128382" cy="847206"/>
            <a:chOff x="5307830" y="325570"/>
            <a:chExt cx="1128382" cy="847206"/>
          </a:xfrm>
        </p:grpSpPr>
        <p:sp>
          <p:nvSpPr>
            <p:cNvPr id="121" name="Freeform 5">
              <a:extLst>
                <a:ext uri="{FF2B5EF4-FFF2-40B4-BE49-F238E27FC236}">
                  <a16:creationId xmlns:a16="http://schemas.microsoft.com/office/drawing/2014/main" id="{F8ED9F95-2ADE-4C89-BD97-AF7DB8DB3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2" name="Freeform 5">
              <a:extLst>
                <a:ext uri="{FF2B5EF4-FFF2-40B4-BE49-F238E27FC236}">
                  <a16:creationId xmlns:a16="http://schemas.microsoft.com/office/drawing/2014/main" id="{1DD52534-E915-42C0-890A-5B19A15B53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4" name="Freeform 5">
            <a:extLst>
              <a:ext uri="{FF2B5EF4-FFF2-40B4-BE49-F238E27FC236}">
                <a16:creationId xmlns:a16="http://schemas.microsoft.com/office/drawing/2014/main" id="{01F1CEA4-5DA0-41E1-A743-4F227AE62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6958811" y="1645694"/>
            <a:ext cx="4689240" cy="411502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126" name="Freeform: Shape 125">
            <a:extLst>
              <a:ext uri="{FF2B5EF4-FFF2-40B4-BE49-F238E27FC236}">
                <a16:creationId xmlns:a16="http://schemas.microsoft.com/office/drawing/2014/main" id="{07D1A722-B699-4DA0-B7AC-F06CC81AD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39502" y="626107"/>
            <a:ext cx="3154669" cy="2796247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2A4EE9-A410-FE47-BFE4-DBF3D3E23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949" y="4279545"/>
            <a:ext cx="5293191" cy="15664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/>
              <a:t>Single-responsibility Principle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10201-402E-0644-9E23-B835BB5F5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85718" y="384048"/>
            <a:ext cx="510945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Rohtash Lakra</a:t>
            </a:r>
          </a:p>
        </p:txBody>
      </p:sp>
      <p:pic>
        <p:nvPicPr>
          <p:cNvPr id="10" name="Picture 9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FA3735CE-F3A2-7C40-B5B2-49D8AA60C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074" y="777742"/>
            <a:ext cx="3154669" cy="1806048"/>
          </a:xfrm>
          <a:prstGeom prst="rect">
            <a:avLst/>
          </a:prstGeom>
        </p:spPr>
      </p:pic>
      <p:pic>
        <p:nvPicPr>
          <p:cNvPr id="12" name="Picture 11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963201FC-E2B3-2749-A4B7-D7DB02045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1440" y="1946946"/>
            <a:ext cx="4711914" cy="327477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F34B1-B621-6240-9F97-2B4C8D21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768" y="5522976"/>
            <a:ext cx="218541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674FBED9-4DF8-004A-A1CF-21E9D2E56607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78750-B893-1E45-A03D-01DFDBFB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4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8985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A4BCD1-F813-4A68-8727-7A3DE67AC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90440" y="1049670"/>
            <a:ext cx="1128382" cy="847206"/>
            <a:chOff x="7393391" y="1075612"/>
            <a:chExt cx="1128382" cy="847206"/>
          </a:xfrm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A152F29E-C625-4313-96BF-5675B357C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93391" y="1327438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5">
              <a:extLst>
                <a:ext uri="{FF2B5EF4-FFF2-40B4-BE49-F238E27FC236}">
                  <a16:creationId xmlns:a16="http://schemas.microsoft.com/office/drawing/2014/main" id="{C2A5CB78-6497-4151-83B6-568BD27EC5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971281" y="1075612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FA6F8ABB-6C5D-4349-9E1B-198D1ABFA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9641" y="2134209"/>
            <a:ext cx="4840399" cy="4290450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E4B9AB89-BA23-4985-97B3-EB677E4963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0608" y="421767"/>
            <a:ext cx="2847251" cy="2523756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Picture 11" descr="A screenshot of a cell phone&#10;&#10;Description automatically generated">
            <a:extLst>
              <a:ext uri="{FF2B5EF4-FFF2-40B4-BE49-F238E27FC236}">
                <a16:creationId xmlns:a16="http://schemas.microsoft.com/office/drawing/2014/main" id="{AF9349BF-3B32-9144-817E-B9BEDDB29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689" y="1157087"/>
            <a:ext cx="2219513" cy="1087561"/>
          </a:xfrm>
          <a:prstGeom prst="rect">
            <a:avLst/>
          </a:prstGeom>
        </p:spPr>
      </p:pic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36FC9198-E7C0-476E-AEEA-E406CF307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8854" y="4490695"/>
            <a:ext cx="2071275" cy="1835943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4" name="Picture 13" descr="A screenshot of a cell phone&#10;&#10;Description automatically generated">
            <a:extLst>
              <a:ext uri="{FF2B5EF4-FFF2-40B4-BE49-F238E27FC236}">
                <a16:creationId xmlns:a16="http://schemas.microsoft.com/office/drawing/2014/main" id="{2471C424-5E9D-8449-83F0-84F74F554F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954" y="4906605"/>
            <a:ext cx="1275075" cy="1004121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3F036E6-D14F-7643-A2BE-E091F7D8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960" y="2081928"/>
            <a:ext cx="4530160" cy="19610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000" dirty="0"/>
              <a:t>Open-Closed Principle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6DF373C-CA85-974E-8A80-9541AB6A1F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93076" y="4343106"/>
            <a:ext cx="4530160" cy="9058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000" dirty="0"/>
              <a:t>Objects or entities should be open for extension, but closed for modification.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34C17-F7F7-4A42-A833-01F4CDA84C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9784" y="384047"/>
            <a:ext cx="215539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07AB8742-2CB8-1A45-B379-02DF0FE4164E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16" name="Picture 15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DE9BAB6F-AD18-AC43-BAF1-E19AA4B643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1879" y="3568349"/>
            <a:ext cx="3927152" cy="1835943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13007-74DD-7A40-8D2D-9F09200D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90440" y="6126797"/>
            <a:ext cx="3877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Rohtash Lakra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1988B-29BB-3941-B3D4-BB6FE7D4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845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3F036E6-D14F-7643-A2BE-E091F7D89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22" y="1122363"/>
            <a:ext cx="3721598" cy="2387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Open-Closed Principle</a:t>
            </a: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189EC5B5-B46D-B54B-AB08-44C3CF799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464" y="574425"/>
            <a:ext cx="2272972" cy="1034201"/>
          </a:xfrm>
          <a:prstGeom prst="rect">
            <a:avLst/>
          </a:prstGeom>
        </p:spPr>
      </p:pic>
      <p:pic>
        <p:nvPicPr>
          <p:cNvPr id="22" name="Picture 21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A0C2F3AF-7E5B-BF49-A54C-5500E1FC37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360" y="2817752"/>
            <a:ext cx="2189462" cy="1154941"/>
          </a:xfrm>
          <a:prstGeom prst="rect">
            <a:avLst/>
          </a:prstGeom>
        </p:spPr>
      </p:pic>
      <p:pic>
        <p:nvPicPr>
          <p:cNvPr id="19" name="Picture 18" descr="A screenshot of a cell phone&#10;&#10;Description automatically generated">
            <a:extLst>
              <a:ext uri="{FF2B5EF4-FFF2-40B4-BE49-F238E27FC236}">
                <a16:creationId xmlns:a16="http://schemas.microsoft.com/office/drawing/2014/main" id="{95E3EBDA-1938-4743-9531-D1CE437D81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9080" y="812307"/>
            <a:ext cx="3996972" cy="1758666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13007-74DD-7A40-8D2D-9F09200D4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3120" y="6356350"/>
            <a:ext cx="3200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rPr>
              <a:t>Rohtash Lakra</a:t>
            </a:r>
          </a:p>
        </p:txBody>
      </p:sp>
      <p:pic>
        <p:nvPicPr>
          <p:cNvPr id="17" name="Picture 16" descr="A screenshot of a cell phone&#10;&#10;Description automatically generated">
            <a:extLst>
              <a:ext uri="{FF2B5EF4-FFF2-40B4-BE49-F238E27FC236}">
                <a16:creationId xmlns:a16="http://schemas.microsoft.com/office/drawing/2014/main" id="{1A143A74-BA8E-244B-8EF2-E6758764515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2670" y="4987105"/>
            <a:ext cx="2142152" cy="1440597"/>
          </a:xfrm>
          <a:prstGeom prst="rect">
            <a:avLst/>
          </a:prstGeom>
        </p:spPr>
      </p:pic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DC034BB4-8B50-4484-85C4-0CE4699284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0662" y="0"/>
            <a:ext cx="0" cy="6858000"/>
          </a:xfrm>
          <a:prstGeom prst="line">
            <a:avLst/>
          </a:prstGeom>
          <a:ln w="3810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81B200F7-B57A-4824-BB91-B6624450A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2228770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902062F-7F47-41E5-8574-2D1492D58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0661" y="3429000"/>
            <a:ext cx="4663440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FA92245C-961F-47D5-9691-272D28692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627" y="4568202"/>
            <a:ext cx="2877035" cy="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picture containing knife, pan, table&#10;&#10;Description automatically generated">
            <a:extLst>
              <a:ext uri="{FF2B5EF4-FFF2-40B4-BE49-F238E27FC236}">
                <a16:creationId xmlns:a16="http://schemas.microsoft.com/office/drawing/2014/main" id="{117AB379-3430-A044-A1C2-84CCDB7E73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9080" y="4462572"/>
            <a:ext cx="3996972" cy="127821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34C17-F7F7-4A42-A833-01F4CDA84C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79080" y="6356350"/>
            <a:ext cx="163068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7AB8742-2CB8-1A45-B379-02DF0FE4164E}" type="datetime1"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51988B-29BB-3941-B3D4-BB6FE7D4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50880" y="6356350"/>
            <a:ext cx="502920" cy="365125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DFCF1876-F82F-4C4B-8B13-415EE3C0415D}" type="slidenum">
              <a:rPr lang="en-US" sz="1100">
                <a:solidFill>
                  <a:schemeClr val="tx1">
                    <a:lumMod val="75000"/>
                    <a:lumOff val="25000"/>
                  </a:schemeClr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endParaRPr lang="en-US" sz="11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8737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4E4288A-DFC8-40A2-90E5-70E851A9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B63C2D82-D4FA-4A37-BB01-1E7B21E4F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5199" y="634058"/>
            <a:ext cx="1128382" cy="847206"/>
            <a:chOff x="5307830" y="325570"/>
            <a:chExt cx="1128382" cy="847206"/>
          </a:xfrm>
        </p:grpSpPr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C94E7FEF-0CE9-4AC2-94BB-02230C6DC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5">
              <a:extLst>
                <a:ext uri="{FF2B5EF4-FFF2-40B4-BE49-F238E27FC236}">
                  <a16:creationId xmlns:a16="http://schemas.microsoft.com/office/drawing/2014/main" id="{EB546CC0-C1BC-48D2-8DA9-4B6028316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7237E1-944F-654E-BCEE-617AAF004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200" y="1371190"/>
            <a:ext cx="3363170" cy="21830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Liskov substitution principle</a:t>
            </a:r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BD2BFF02-DF78-4F07-B176-52514E1312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7062174" y="1653645"/>
            <a:ext cx="4689240" cy="4115025"/>
          </a:xfrm>
          <a:custGeom>
            <a:avLst/>
            <a:gdLst>
              <a:gd name="T0" fmla="*/ 781 w 1099"/>
              <a:gd name="T1" fmla="*/ 0 h 968"/>
              <a:gd name="T2" fmla="*/ 318 w 1099"/>
              <a:gd name="T3" fmla="*/ 0 h 968"/>
              <a:gd name="T4" fmla="*/ 246 w 1099"/>
              <a:gd name="T5" fmla="*/ 42 h 968"/>
              <a:gd name="T6" fmla="*/ 15 w 1099"/>
              <a:gd name="T7" fmla="*/ 443 h 968"/>
              <a:gd name="T8" fmla="*/ 15 w 1099"/>
              <a:gd name="T9" fmla="*/ 525 h 968"/>
              <a:gd name="T10" fmla="*/ 246 w 1099"/>
              <a:gd name="T11" fmla="*/ 926 h 968"/>
              <a:gd name="T12" fmla="*/ 318 w 1099"/>
              <a:gd name="T13" fmla="*/ 968 h 968"/>
              <a:gd name="T14" fmla="*/ 781 w 1099"/>
              <a:gd name="T15" fmla="*/ 968 h 968"/>
              <a:gd name="T16" fmla="*/ 852 w 1099"/>
              <a:gd name="T17" fmla="*/ 926 h 968"/>
              <a:gd name="T18" fmla="*/ 1084 w 1099"/>
              <a:gd name="T19" fmla="*/ 525 h 968"/>
              <a:gd name="T20" fmla="*/ 1084 w 1099"/>
              <a:gd name="T21" fmla="*/ 443 h 968"/>
              <a:gd name="T22" fmla="*/ 852 w 1099"/>
              <a:gd name="T23" fmla="*/ 42 h 968"/>
              <a:gd name="T24" fmla="*/ 781 w 1099"/>
              <a:gd name="T25" fmla="*/ 0 h 9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99" h="968">
                <a:moveTo>
                  <a:pt x="781" y="0"/>
                </a:moveTo>
                <a:cubicBezTo>
                  <a:pt x="318" y="0"/>
                  <a:pt x="318" y="0"/>
                  <a:pt x="318" y="0"/>
                </a:cubicBezTo>
                <a:cubicBezTo>
                  <a:pt x="288" y="0"/>
                  <a:pt x="261" y="16"/>
                  <a:pt x="246" y="42"/>
                </a:cubicBezTo>
                <a:cubicBezTo>
                  <a:pt x="15" y="443"/>
                  <a:pt x="15" y="443"/>
                  <a:pt x="15" y="443"/>
                </a:cubicBezTo>
                <a:cubicBezTo>
                  <a:pt x="0" y="468"/>
                  <a:pt x="0" y="500"/>
                  <a:pt x="15" y="525"/>
                </a:cubicBezTo>
                <a:cubicBezTo>
                  <a:pt x="246" y="926"/>
                  <a:pt x="246" y="926"/>
                  <a:pt x="246" y="926"/>
                </a:cubicBezTo>
                <a:cubicBezTo>
                  <a:pt x="261" y="952"/>
                  <a:pt x="288" y="968"/>
                  <a:pt x="318" y="968"/>
                </a:cubicBezTo>
                <a:cubicBezTo>
                  <a:pt x="781" y="968"/>
                  <a:pt x="781" y="968"/>
                  <a:pt x="781" y="968"/>
                </a:cubicBezTo>
                <a:cubicBezTo>
                  <a:pt x="810" y="968"/>
                  <a:pt x="838" y="952"/>
                  <a:pt x="852" y="926"/>
                </a:cubicBezTo>
                <a:cubicBezTo>
                  <a:pt x="1084" y="525"/>
                  <a:pt x="1084" y="525"/>
                  <a:pt x="1084" y="525"/>
                </a:cubicBezTo>
                <a:cubicBezTo>
                  <a:pt x="1099" y="500"/>
                  <a:pt x="1099" y="468"/>
                  <a:pt x="1084" y="443"/>
                </a:cubicBezTo>
                <a:cubicBezTo>
                  <a:pt x="852" y="42"/>
                  <a:pt x="852" y="42"/>
                  <a:pt x="852" y="42"/>
                </a:cubicBezTo>
                <a:cubicBezTo>
                  <a:pt x="838" y="16"/>
                  <a:pt x="810" y="0"/>
                  <a:pt x="781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DB06EAB-7D8C-403A-86C5-B5FD79A13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42865" y="634058"/>
            <a:ext cx="3154669" cy="2796247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ap="flat">
            <a:solidFill>
              <a:schemeClr val="tx1"/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7FB14-7973-8147-9BBA-075A11FF6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72984" y="384048"/>
            <a:ext cx="3877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Rohtash Lakra</a:t>
            </a:r>
          </a:p>
        </p:txBody>
      </p:sp>
      <p:pic>
        <p:nvPicPr>
          <p:cNvPr id="11" name="Picture 10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F0541C8-26ED-B447-BA8E-22679B6439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964" y="1492089"/>
            <a:ext cx="1846470" cy="108018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9B6220-AA9A-B942-8A3C-7FF4FD1AEE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5199" y="4039538"/>
            <a:ext cx="5690043" cy="19669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 dirty="0"/>
              <a:t>Let q(x) be a property provable about objects of x of type T. Then q(y) should be provable for objects y of type S where S is a subtype of T.</a:t>
            </a:r>
          </a:p>
        </p:txBody>
      </p:sp>
      <p:pic>
        <p:nvPicPr>
          <p:cNvPr id="9" name="Picture 8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9ADDA31D-A40C-8345-883A-C996FC8B4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038" y="2825874"/>
            <a:ext cx="2713512" cy="1770566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7FF59E-6EB5-3A48-8D1F-15CC52ECC8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2424" y="5522976"/>
            <a:ext cx="12367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07AB8742-2CB8-1A45-B379-02DF0FE4164E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90C7A2-6600-8D4F-B3E3-F4DC2691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7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949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C4E4288A-DFC8-40A2-90E5-70E851A9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63C2D82-D4FA-4A37-BB01-1E7B21E4F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5199" y="634058"/>
            <a:ext cx="1128382" cy="847206"/>
            <a:chOff x="5307830" y="325570"/>
            <a:chExt cx="1128382" cy="84720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C94E7FEF-0CE9-4AC2-94BB-02230C6DC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EB546CC0-C1BC-48D2-8DA9-4B6028316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25797-5543-0A47-A23E-75556A16C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71190"/>
            <a:ext cx="4787331" cy="1574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Interface segregation principle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9456821-26B9-4181-B181-305FB820D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9641" y="2134209"/>
            <a:ext cx="4840399" cy="4290450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0035D6FE-7FA2-4D67-8767-6F7E98AB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0608" y="421767"/>
            <a:ext cx="2847251" cy="2523756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1270A-5758-5C43-B6B0-FEF39E3F2A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2424" y="384048"/>
            <a:ext cx="12367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07AB8742-2CB8-1A45-B379-02DF0FE4164E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13" name="Picture 12" descr="A screenshot of a cell phone&#10;&#10;Description automatically generated">
            <a:extLst>
              <a:ext uri="{FF2B5EF4-FFF2-40B4-BE49-F238E27FC236}">
                <a16:creationId xmlns:a16="http://schemas.microsoft.com/office/drawing/2014/main" id="{5770522E-C6B8-6A49-9261-AA587A51BA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247" y="972237"/>
            <a:ext cx="1703972" cy="1422816"/>
          </a:xfrm>
          <a:prstGeom prst="rect">
            <a:avLst/>
          </a:prstGeom>
        </p:spPr>
      </p:pic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0381C401-8AFE-4396-B195-C21EA1C7F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8854" y="4490695"/>
            <a:ext cx="2071275" cy="1835943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AE74B-C5D0-9E4F-A82E-D707595D66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5199" y="3084625"/>
            <a:ext cx="4193655" cy="292736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A client should never be forced to implement an interface that it doesn't use or clients shouldn't be forced to depend on methods they do not use.</a:t>
            </a:r>
          </a:p>
        </p:txBody>
      </p:sp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D4D91A3F-32DF-CD4B-91A0-8506C3FCF9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954" y="4871541"/>
            <a:ext cx="1275075" cy="1074250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5783CB-CC78-AC4A-A040-945DCDC906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130" y="3654331"/>
            <a:ext cx="2963421" cy="150393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2E1B7B-67BD-ED4C-8A30-2F55FD40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199" y="6126480"/>
            <a:ext cx="395573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Rohtash Lakra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E652D-5212-1A49-86BB-9B3CDAAE2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8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412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4E4288A-DFC8-40A2-90E5-70E851A933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B63C2D82-D4FA-4A37-BB01-1E7B21E4F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5199" y="634058"/>
            <a:ext cx="1128382" cy="847206"/>
            <a:chOff x="5307830" y="325570"/>
            <a:chExt cx="1128382" cy="847206"/>
          </a:xfrm>
        </p:grpSpPr>
        <p:sp>
          <p:nvSpPr>
            <p:cNvPr id="31" name="Freeform 5">
              <a:extLst>
                <a:ext uri="{FF2B5EF4-FFF2-40B4-BE49-F238E27FC236}">
                  <a16:creationId xmlns:a16="http://schemas.microsoft.com/office/drawing/2014/main" id="{C94E7FEF-0CE9-4AC2-94BB-02230C6DC0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5">
              <a:extLst>
                <a:ext uri="{FF2B5EF4-FFF2-40B4-BE49-F238E27FC236}">
                  <a16:creationId xmlns:a16="http://schemas.microsoft.com/office/drawing/2014/main" id="{EB546CC0-C1BC-48D2-8DA9-4B6028316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F3DC131-1627-C44A-82B6-7459C73A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71190"/>
            <a:ext cx="4787331" cy="157433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Dependency Inversion principle</a:t>
            </a:r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A9456821-26B9-4181-B181-305FB820D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09641" y="2134209"/>
            <a:ext cx="4840399" cy="4290450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noFill/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 useBgFill="1">
        <p:nvSpPr>
          <p:cNvPr id="36" name="Freeform: Shape 35">
            <a:extLst>
              <a:ext uri="{FF2B5EF4-FFF2-40B4-BE49-F238E27FC236}">
                <a16:creationId xmlns:a16="http://schemas.microsoft.com/office/drawing/2014/main" id="{0035D6FE-7FA2-4D67-8767-6F7E98AB16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10608" y="421767"/>
            <a:ext cx="2847251" cy="2523756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E541F0-53E4-8F48-B0BF-90596CECB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522424" y="384048"/>
            <a:ext cx="123676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fld id="{07AB8742-2CB8-1A45-B379-02DF0FE4164E}" type="datetime1">
              <a:rPr lang="en-US" sz="1100">
                <a:solidFill>
                  <a:schemeClr val="tx1">
                    <a:alpha val="80000"/>
                  </a:schemeClr>
                </a:solidFill>
              </a:rPr>
              <a:pPr algn="r">
                <a:spcAft>
                  <a:spcPts val="600"/>
                </a:spcAft>
              </a:pPr>
              <a:t>5/9/20</a:t>
            </a:fld>
            <a:endParaRPr lang="en-US" sz="1100">
              <a:solidFill>
                <a:schemeClr val="tx1">
                  <a:alpha val="80000"/>
                </a:schemeClr>
              </a:solidFill>
            </a:endParaRPr>
          </a:p>
        </p:txBody>
      </p:sp>
      <p:pic>
        <p:nvPicPr>
          <p:cNvPr id="23" name="Picture 22" descr="A picture containing knife, table&#10;&#10;Description automatically generated">
            <a:extLst>
              <a:ext uri="{FF2B5EF4-FFF2-40B4-BE49-F238E27FC236}">
                <a16:creationId xmlns:a16="http://schemas.microsoft.com/office/drawing/2014/main" id="{495548BB-E231-1748-A8E0-9DAEE55C81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247" y="1414597"/>
            <a:ext cx="1703972" cy="538096"/>
          </a:xfrm>
          <a:prstGeom prst="rect">
            <a:avLst/>
          </a:prstGeom>
        </p:spPr>
      </p:pic>
      <p:sp useBgFill="1">
        <p:nvSpPr>
          <p:cNvPr id="38" name="Freeform: Shape 37">
            <a:extLst>
              <a:ext uri="{FF2B5EF4-FFF2-40B4-BE49-F238E27FC236}">
                <a16:creationId xmlns:a16="http://schemas.microsoft.com/office/drawing/2014/main" id="{0381C401-8AFE-4396-B195-C21EA1C7FB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58854" y="4490695"/>
            <a:ext cx="2071275" cy="1835943"/>
          </a:xfrm>
          <a:custGeom>
            <a:avLst/>
            <a:gdLst>
              <a:gd name="connsiteX0" fmla="*/ 853538 w 2991693"/>
              <a:gd name="connsiteY0" fmla="*/ 0 h 2651787"/>
              <a:gd name="connsiteX1" fmla="*/ 2141030 w 2991693"/>
              <a:gd name="connsiteY1" fmla="*/ 0 h 2651787"/>
              <a:gd name="connsiteX2" fmla="*/ 2324957 w 2991693"/>
              <a:gd name="connsiteY2" fmla="*/ 103466 h 2651787"/>
              <a:gd name="connsiteX3" fmla="*/ 2968702 w 2991693"/>
              <a:gd name="connsiteY3" fmla="*/ 1218596 h 2651787"/>
              <a:gd name="connsiteX4" fmla="*/ 2968702 w 2991693"/>
              <a:gd name="connsiteY4" fmla="*/ 1433192 h 2651787"/>
              <a:gd name="connsiteX5" fmla="*/ 2324957 w 2991693"/>
              <a:gd name="connsiteY5" fmla="*/ 2548321 h 2651787"/>
              <a:gd name="connsiteX6" fmla="*/ 2141030 w 2991693"/>
              <a:gd name="connsiteY6" fmla="*/ 2651787 h 2651787"/>
              <a:gd name="connsiteX7" fmla="*/ 853538 w 2991693"/>
              <a:gd name="connsiteY7" fmla="*/ 2651787 h 2651787"/>
              <a:gd name="connsiteX8" fmla="*/ 669612 w 2991693"/>
              <a:gd name="connsiteY8" fmla="*/ 2548321 h 2651787"/>
              <a:gd name="connsiteX9" fmla="*/ 25866 w 2991693"/>
              <a:gd name="connsiteY9" fmla="*/ 1433192 h 2651787"/>
              <a:gd name="connsiteX10" fmla="*/ 25866 w 2991693"/>
              <a:gd name="connsiteY10" fmla="*/ 1218596 h 2651787"/>
              <a:gd name="connsiteX11" fmla="*/ 669612 w 2991693"/>
              <a:gd name="connsiteY11" fmla="*/ 103466 h 2651787"/>
              <a:gd name="connsiteX12" fmla="*/ 853538 w 2991693"/>
              <a:gd name="connsiteY12" fmla="*/ 0 h 2651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991693" h="2651787">
                <a:moveTo>
                  <a:pt x="853538" y="0"/>
                </a:moveTo>
                <a:cubicBezTo>
                  <a:pt x="2141030" y="0"/>
                  <a:pt x="2141030" y="0"/>
                  <a:pt x="2141030" y="0"/>
                </a:cubicBezTo>
                <a:cubicBezTo>
                  <a:pt x="2206170" y="0"/>
                  <a:pt x="2290471" y="45985"/>
                  <a:pt x="2324957" y="103466"/>
                </a:cubicBezTo>
                <a:cubicBezTo>
                  <a:pt x="2968702" y="1218596"/>
                  <a:pt x="2968702" y="1218596"/>
                  <a:pt x="2968702" y="1218596"/>
                </a:cubicBezTo>
                <a:cubicBezTo>
                  <a:pt x="2999357" y="1279909"/>
                  <a:pt x="2999357" y="1371878"/>
                  <a:pt x="2968702" y="1433192"/>
                </a:cubicBezTo>
                <a:cubicBezTo>
                  <a:pt x="2324957" y="2548321"/>
                  <a:pt x="2324957" y="2548321"/>
                  <a:pt x="2324957" y="2548321"/>
                </a:cubicBezTo>
                <a:cubicBezTo>
                  <a:pt x="2290471" y="2605803"/>
                  <a:pt x="2206170" y="2651787"/>
                  <a:pt x="2141030" y="2651787"/>
                </a:cubicBezTo>
                <a:lnTo>
                  <a:pt x="853538" y="2651787"/>
                </a:lnTo>
                <a:cubicBezTo>
                  <a:pt x="784566" y="2651787"/>
                  <a:pt x="700266" y="2605803"/>
                  <a:pt x="669612" y="2548321"/>
                </a:cubicBezTo>
                <a:cubicBezTo>
                  <a:pt x="25866" y="1433192"/>
                  <a:pt x="25866" y="1433192"/>
                  <a:pt x="25866" y="1433192"/>
                </a:cubicBezTo>
                <a:cubicBezTo>
                  <a:pt x="-8621" y="1371878"/>
                  <a:pt x="-8621" y="1279909"/>
                  <a:pt x="25866" y="1218596"/>
                </a:cubicBezTo>
                <a:cubicBezTo>
                  <a:pt x="669612" y="103466"/>
                  <a:pt x="669612" y="103466"/>
                  <a:pt x="669612" y="103466"/>
                </a:cubicBezTo>
                <a:cubicBezTo>
                  <a:pt x="700266" y="45985"/>
                  <a:pt x="784566" y="0"/>
                  <a:pt x="853538" y="0"/>
                </a:cubicBezTo>
                <a:close/>
              </a:path>
            </a:pathLst>
          </a:custGeom>
          <a:ln w="50800" cmpd="sng"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B7BFF6-CD00-CE49-B2C8-EFC0D2566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5199" y="3084625"/>
            <a:ext cx="4193655" cy="2927369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400"/>
              <a:t>Entities must depend on abstractions not on concretions. It states that the high level module must not depend on the low level module, but they should depend on abstractions.</a:t>
            </a:r>
          </a:p>
        </p:txBody>
      </p:sp>
      <p:pic>
        <p:nvPicPr>
          <p:cNvPr id="13" name="Picture 12" descr="A screenshot of a social media post&#10;&#10;Description automatically generated">
            <a:extLst>
              <a:ext uri="{FF2B5EF4-FFF2-40B4-BE49-F238E27FC236}">
                <a16:creationId xmlns:a16="http://schemas.microsoft.com/office/drawing/2014/main" id="{7F94E6B1-E24D-2C43-B2B4-62B17809A4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6954" y="4995860"/>
            <a:ext cx="1275075" cy="825611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B987EA7E-7EEC-7745-B1BD-50766AC9FE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130" y="3946969"/>
            <a:ext cx="2963421" cy="91865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FA8DD8-72CA-E546-9AD1-88D4376D1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5199" y="6126480"/>
            <a:ext cx="395573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sz="1100" kern="1200">
                <a:solidFill>
                  <a:schemeClr val="tx1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Rohtash Lakra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4F3CC-16B7-BA4E-B9C9-834AAF3B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6536" y="6035040"/>
            <a:ext cx="548640" cy="548640"/>
          </a:xfrm>
          <a:prstGeom prst="ellipse">
            <a:avLst/>
          </a:prstGeom>
          <a:solidFill>
            <a:schemeClr val="tx1">
              <a:alpha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fld id="{DFCF1876-F82F-4C4B-8B13-415EE3C0415D}" type="slidenum">
              <a:rPr lang="en-US">
                <a:solidFill>
                  <a:schemeClr val="bg1"/>
                </a:solidFill>
              </a:rPr>
              <a:pPr algn="ctr">
                <a:spcAft>
                  <a:spcPts val="600"/>
                </a:spcAft>
              </a:pPr>
              <a:t>9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63072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891</Words>
  <Application>Microsoft Macintosh PowerPoint</Application>
  <PresentationFormat>Widescreen</PresentationFormat>
  <Paragraphs>106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SOLID</vt:lpstr>
      <vt:lpstr>PowerPoint Presentation</vt:lpstr>
      <vt:lpstr>Single-responsibility Principle</vt:lpstr>
      <vt:lpstr>Single-responsibility Principle</vt:lpstr>
      <vt:lpstr>Open-Closed Principle</vt:lpstr>
      <vt:lpstr>Open-Closed Principle</vt:lpstr>
      <vt:lpstr>Liskov substitution principle</vt:lpstr>
      <vt:lpstr>Interface segregation principle</vt:lpstr>
      <vt:lpstr>Dependency Inversion principle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</dc:title>
  <dc:creator>Harsh Lakra</dc:creator>
  <cp:lastModifiedBy>Harsh Lakra</cp:lastModifiedBy>
  <cp:revision>1</cp:revision>
  <dcterms:created xsi:type="dcterms:W3CDTF">2020-05-10T03:16:24Z</dcterms:created>
  <dcterms:modified xsi:type="dcterms:W3CDTF">2020-05-10T03:16:33Z</dcterms:modified>
</cp:coreProperties>
</file>